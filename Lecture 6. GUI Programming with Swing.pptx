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58" r:id="rId4"/>
    <p:sldId id="260" r:id="rId5"/>
    <p:sldId id="261" r:id="rId6"/>
    <p:sldId id="262" r:id="rId7"/>
    <p:sldId id="263" r:id="rId8"/>
    <p:sldId id="259" r:id="rId9"/>
    <p:sldId id="271" r:id="rId10"/>
    <p:sldId id="269" r:id="rId11"/>
    <p:sldId id="270" r:id="rId12"/>
    <p:sldId id="264" r:id="rId13"/>
    <p:sldId id="265" r:id="rId14"/>
    <p:sldId id="266" r:id="rId15"/>
    <p:sldId id="267" r:id="rId16"/>
    <p:sldId id="268" r:id="rId17"/>
    <p:sldId id="272" r:id="rId18"/>
    <p:sldId id="273" r:id="rId19"/>
    <p:sldId id="274" r:id="rId20"/>
    <p:sldId id="275" r:id="rId2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832F8"/>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7994" autoAdjust="0"/>
    <p:restoredTop sz="88741" autoAdjust="0"/>
  </p:normalViewPr>
  <p:slideViewPr>
    <p:cSldViewPr>
      <p:cViewPr>
        <p:scale>
          <a:sx n="75" d="100"/>
          <a:sy n="75" d="100"/>
        </p:scale>
        <p:origin x="-1939" y="-62"/>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F0B2BA9-4FD0-4DC4-B70B-93231BE247F2}" type="datetimeFigureOut">
              <a:rPr lang="en-US" smtClean="0"/>
              <a:pPr/>
              <a:t>3/10/2026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DE36570-A967-4EBE-9949-A932A1A992FB}"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"By the end of this module, you won't just be writing console applications. You will be able to create interactive windows, handle user input, and understand the threading model required to keep GUIs responsive."</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Side-by-side screenshot of an AWT button vs. a Swing button on different OSs.</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"Think of AWT as a wrapper around the operating system's UI. Swing is a custom painting engine. This is why Swing apps look consistent regardless of the OS, unless we tell them otherwise."</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A UML Class Diagram showing Component &lt; Container &lt; </a:t>
            </a:r>
            <a:r>
              <a:rPr lang="en-US" sz="1200" b="0" i="0" kern="1200" dirty="0" err="1" smtClean="0">
                <a:solidFill>
                  <a:schemeClr val="tx1"/>
                </a:solidFill>
                <a:latin typeface="+mn-lt"/>
                <a:ea typeface="+mn-ea"/>
                <a:cs typeface="+mn-cs"/>
              </a:rPr>
              <a:t>JComponent</a:t>
            </a:r>
            <a:r>
              <a:rPr lang="en-US" sz="1200" b="0" i="0" kern="1200" dirty="0" smtClean="0">
                <a:solidFill>
                  <a:schemeClr val="tx1"/>
                </a:solidFill>
                <a:latin typeface="+mn-lt"/>
                <a:ea typeface="+mn-ea"/>
                <a:cs typeface="+mn-cs"/>
              </a:rPr>
              <a:t> &lt; </a:t>
            </a:r>
            <a:r>
              <a:rPr lang="en-US" sz="1200" b="0" i="0" kern="1200" dirty="0" err="1" smtClean="0">
                <a:solidFill>
                  <a:schemeClr val="tx1"/>
                </a:solidFill>
                <a:latin typeface="+mn-lt"/>
                <a:ea typeface="+mn-ea"/>
                <a:cs typeface="+mn-cs"/>
              </a:rPr>
              <a:t>JButton</a:t>
            </a:r>
            <a:r>
              <a:rPr lang="en-US" sz="1200" b="0" i="0" kern="1200" dirty="0" smtClean="0">
                <a:solidFill>
                  <a:schemeClr val="tx1"/>
                </a:solidFill>
                <a:latin typeface="+mn-lt"/>
                <a:ea typeface="+mn-ea"/>
                <a:cs typeface="+mn-cs"/>
              </a:rPr>
              <a:t>/</a:t>
            </a:r>
            <a:r>
              <a:rPr lang="en-US" sz="1200" b="0" i="0" kern="1200" dirty="0" err="1" smtClean="0">
                <a:solidFill>
                  <a:schemeClr val="tx1"/>
                </a:solidFill>
                <a:latin typeface="+mn-lt"/>
                <a:ea typeface="+mn-ea"/>
                <a:cs typeface="+mn-cs"/>
              </a:rPr>
              <a:t>JLabel</a:t>
            </a:r>
            <a:r>
              <a:rPr lang="en-US" sz="1200" b="0" i="0" kern="1200" dirty="0" smtClean="0">
                <a:solidFill>
                  <a:schemeClr val="tx1"/>
                </a:solidFill>
                <a:latin typeface="+mn-lt"/>
                <a:ea typeface="+mn-ea"/>
                <a:cs typeface="+mn-cs"/>
              </a:rPr>
              <a:t>.</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"Everything in Swing is a Component. But not everything can hold other things. Only Containers can hold components. </a:t>
            </a:r>
            <a:r>
              <a:rPr lang="en-US" sz="1200" b="0" i="0" kern="1200" dirty="0" err="1" smtClean="0">
                <a:solidFill>
                  <a:schemeClr val="tx1"/>
                </a:solidFill>
                <a:latin typeface="+mn-lt"/>
                <a:ea typeface="+mn-ea"/>
                <a:cs typeface="+mn-cs"/>
              </a:rPr>
              <a:t>JFrame</a:t>
            </a:r>
            <a:r>
              <a:rPr lang="en-US" sz="1200" b="0" i="0" kern="1200" dirty="0" smtClean="0">
                <a:solidFill>
                  <a:schemeClr val="tx1"/>
                </a:solidFill>
                <a:latin typeface="+mn-lt"/>
                <a:ea typeface="+mn-ea"/>
                <a:cs typeface="+mn-cs"/>
              </a:rPr>
              <a:t> is the main window, but you usually add content to a </a:t>
            </a:r>
            <a:r>
              <a:rPr lang="en-US" sz="1200" b="0" i="0" kern="1200" dirty="0" err="1" smtClean="0">
                <a:solidFill>
                  <a:schemeClr val="tx1"/>
                </a:solidFill>
                <a:latin typeface="+mn-lt"/>
                <a:ea typeface="+mn-ea"/>
                <a:cs typeface="+mn-cs"/>
              </a:rPr>
              <a:t>JPanel</a:t>
            </a:r>
            <a:r>
              <a:rPr lang="en-US" sz="1200" b="0" i="0" kern="1200" dirty="0" smtClean="0">
                <a:solidFill>
                  <a:schemeClr val="tx1"/>
                </a:solidFill>
                <a:latin typeface="+mn-lt"/>
                <a:ea typeface="+mn-ea"/>
                <a:cs typeface="+mn-cs"/>
              </a:rPr>
              <a:t> inside the Frame."</a:t>
            </a:r>
          </a:p>
        </p:txBody>
      </p:sp>
      <p:sp>
        <p:nvSpPr>
          <p:cNvPr id="4" name="Slide Number Placeholder 3"/>
          <p:cNvSpPr>
            <a:spLocks noGrp="1"/>
          </p:cNvSpPr>
          <p:nvPr>
            <p:ph type="sldNum" sz="quarter" idx="10"/>
          </p:nvPr>
        </p:nvSpPr>
        <p:spPr/>
        <p:txBody>
          <a:bodyPr/>
          <a:lstStyle/>
          <a:p>
            <a:fld id="{5DE36570-A967-4EBE-9949-A932A1A992FB}"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"A common mistake is forgetting </a:t>
            </a:r>
            <a:r>
              <a:rPr lang="en-US" sz="1200" b="0" i="0" kern="1200" dirty="0" err="1" smtClean="0">
                <a:solidFill>
                  <a:schemeClr val="tx1"/>
                </a:solidFill>
                <a:latin typeface="+mn-lt"/>
                <a:ea typeface="+mn-ea"/>
                <a:cs typeface="+mn-cs"/>
              </a:rPr>
              <a:t>setVisible</a:t>
            </a:r>
            <a:r>
              <a:rPr lang="en-US" sz="1200" b="0" i="0" kern="1200" dirty="0" smtClean="0">
                <a:solidFill>
                  <a:schemeClr val="tx1"/>
                </a:solidFill>
                <a:latin typeface="+mn-lt"/>
                <a:ea typeface="+mn-ea"/>
                <a:cs typeface="+mn-cs"/>
              </a:rPr>
              <a:t>(true). Another is forgetting the close operation, which leaves the program running in the background even after you click 'X'."</a:t>
            </a:r>
          </a:p>
          <a:p>
            <a:r>
              <a:rPr lang="en-US" dirty="0" smtClean="0"/>
              <a:t/>
            </a:r>
            <a:br>
              <a:rPr lang="en-US" dirty="0" smtClean="0"/>
            </a:br>
            <a:r>
              <a:rPr lang="en-US" b="1" dirty="0" smtClean="0"/>
              <a:t>The Event Dispatch Thread (EDT)</a:t>
            </a:r>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Screenshot of a simple login form showing swing components.</a:t>
            </a:r>
          </a:p>
          <a:p>
            <a:endParaRPr lang="en-US" dirty="0" smtClean="0"/>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1" dirty="0" smtClean="0"/>
              <a:t>Speaker Notes:</a:t>
            </a:r>
            <a:r>
              <a:rPr lang="en-US" dirty="0" smtClean="0"/>
              <a:t> "Never use absolute positioning unless you have a very specific reason. Layout managers ensure your app looks good when the user resizes the window."</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Sequence diagram: User -&gt; Button -&gt; Event Object -&gt; Listener Method.</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12</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"Lambdas make Swing code much cleaner. The variable e represents the </a:t>
            </a:r>
            <a:r>
              <a:rPr lang="en-US" sz="1200" b="0" i="0" kern="1200" dirty="0" err="1" smtClean="0">
                <a:solidFill>
                  <a:schemeClr val="tx1"/>
                </a:solidFill>
                <a:latin typeface="+mn-lt"/>
                <a:ea typeface="+mn-ea"/>
                <a:cs typeface="+mn-cs"/>
              </a:rPr>
              <a:t>ActionEvent</a:t>
            </a:r>
            <a:r>
              <a:rPr lang="en-US" sz="1200" b="0" i="0" kern="1200" dirty="0" smtClean="0">
                <a:solidFill>
                  <a:schemeClr val="tx1"/>
                </a:solidFill>
                <a:latin typeface="+mn-lt"/>
                <a:ea typeface="+mn-ea"/>
                <a:cs typeface="+mn-cs"/>
              </a:rPr>
              <a:t>. Inside this block is where your business logic lives."</a:t>
            </a:r>
          </a:p>
        </p:txBody>
      </p:sp>
      <p:sp>
        <p:nvSpPr>
          <p:cNvPr id="4" name="Slide Number Placeholder 3"/>
          <p:cNvSpPr>
            <a:spLocks noGrp="1"/>
          </p:cNvSpPr>
          <p:nvPr>
            <p:ph type="sldNum" sz="quarter" idx="10"/>
          </p:nvPr>
        </p:nvSpPr>
        <p:spPr/>
        <p:txBody>
          <a:bodyPr/>
          <a:lstStyle/>
          <a:p>
            <a:fld id="{5DE36570-A967-4EBE-9949-A932A1A992FB}" type="slidenum">
              <a:rPr lang="en-US" smtClean="0"/>
              <a:pPr/>
              <a:t>13</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"This is the most critical concept. If you block the EDT, the window becomes unresponsive ('Not Responding'). Never put </a:t>
            </a:r>
            <a:r>
              <a:rPr lang="en-US" sz="1200" b="0" i="0" kern="1200" dirty="0" err="1" smtClean="0">
                <a:solidFill>
                  <a:schemeClr val="tx1"/>
                </a:solidFill>
                <a:latin typeface="+mn-lt"/>
                <a:ea typeface="+mn-ea"/>
                <a:cs typeface="+mn-cs"/>
              </a:rPr>
              <a:t>Thread.sleep</a:t>
            </a:r>
            <a:r>
              <a:rPr lang="en-US" sz="1200" b="0" i="0" kern="1200" dirty="0" smtClean="0">
                <a:solidFill>
                  <a:schemeClr val="tx1"/>
                </a:solidFill>
                <a:latin typeface="+mn-lt"/>
                <a:ea typeface="+mn-ea"/>
                <a:cs typeface="+mn-cs"/>
              </a:rPr>
              <a:t> or heavy loops directly in an </a:t>
            </a:r>
            <a:r>
              <a:rPr lang="en-US" sz="1200" b="0" i="0" kern="1200" dirty="0" err="1" smtClean="0">
                <a:solidFill>
                  <a:schemeClr val="tx1"/>
                </a:solidFill>
                <a:latin typeface="+mn-lt"/>
                <a:ea typeface="+mn-ea"/>
                <a:cs typeface="+mn-cs"/>
              </a:rPr>
              <a:t>ActionListener</a:t>
            </a:r>
            <a:r>
              <a:rPr lang="en-US" sz="1200" b="0" i="0" kern="1200" dirty="0" smtClean="0">
                <a:solidFill>
                  <a:schemeClr val="tx1"/>
                </a:solidFill>
                <a:latin typeface="+mn-lt"/>
                <a:ea typeface="+mn-ea"/>
                <a:cs typeface="+mn-cs"/>
              </a:rPr>
              <a:t>."</a:t>
            </a:r>
          </a:p>
          <a:p>
            <a:r>
              <a:rPr lang="en-US" dirty="0" smtClean="0"/>
              <a:t/>
            </a:r>
            <a:br>
              <a:rPr lang="en-US" dirty="0" smtClean="0"/>
            </a:br>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“pause here and try to code this. It touches on layout, components, events, and parsing logic."</a:t>
            </a:r>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17</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Speaker Notes:</a:t>
            </a:r>
          </a:p>
          <a:p>
            <a:r>
              <a:rPr lang="en-US" dirty="0" smtClean="0"/>
              <a:t>"Swing is still used in massive enterprise systems (IDEs like </a:t>
            </a:r>
            <a:r>
              <a:rPr lang="en-US" dirty="0" err="1" smtClean="0"/>
              <a:t>IntelliJ</a:t>
            </a:r>
            <a:r>
              <a:rPr lang="en-US" dirty="0" smtClean="0"/>
              <a:t>, banking tools). While new projects might use </a:t>
            </a:r>
            <a:r>
              <a:rPr lang="en-US" dirty="0" err="1" smtClean="0"/>
              <a:t>JavaFX</a:t>
            </a:r>
            <a:r>
              <a:rPr lang="en-US" dirty="0" smtClean="0"/>
              <a:t> or Web, understanding Swing teaches you fundamental event-driven architecture."</a:t>
            </a:r>
          </a:p>
        </p:txBody>
      </p:sp>
      <p:sp>
        <p:nvSpPr>
          <p:cNvPr id="4" name="Slide Number Placeholder 3"/>
          <p:cNvSpPr>
            <a:spLocks noGrp="1"/>
          </p:cNvSpPr>
          <p:nvPr>
            <p:ph type="sldNum" sz="quarter" idx="10"/>
          </p:nvPr>
        </p:nvSpPr>
        <p:spPr/>
        <p:txBody>
          <a:bodyPr/>
          <a:lstStyle/>
          <a:p>
            <a:fld id="{5DE36570-A967-4EBE-9949-A932A1A992FB}" type="slidenum">
              <a:rPr lang="en-US" smtClean="0"/>
              <a:pPr/>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C3931D62-7DF2-4DB4-910C-5841F65C3738}" type="datetimeFigureOut">
              <a:rPr lang="en-US" smtClean="0"/>
              <a:pPr/>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3931D62-7DF2-4DB4-910C-5841F65C3738}" type="datetimeFigureOut">
              <a:rPr lang="en-US" smtClean="0"/>
              <a:pPr/>
              <a:t>3/10/2026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3931D62-7DF2-4DB4-910C-5841F65C3738}" type="datetimeFigureOut">
              <a:rPr lang="en-US" smtClean="0"/>
              <a:pPr/>
              <a:t>3/10/2026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931D62-7DF2-4DB4-910C-5841F65C3738}" type="datetimeFigureOut">
              <a:rPr lang="en-US" smtClean="0"/>
              <a:pPr/>
              <a:t>3/10/2026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3931D62-7DF2-4DB4-910C-5841F65C3738}" type="datetimeFigureOut">
              <a:rPr lang="en-US" smtClean="0"/>
              <a:pPr/>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3931D62-7DF2-4DB4-910C-5841F65C3738}" type="datetimeFigureOut">
              <a:rPr lang="en-US" smtClean="0"/>
              <a:pPr/>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3931D62-7DF2-4DB4-910C-5841F65C3738}" type="datetimeFigureOut">
              <a:rPr lang="en-US" smtClean="0"/>
              <a:pPr/>
              <a:t>3/10/2026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1B081F2-7D72-46A6-BEAC-1147620A3BD3}"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28596" y="1071546"/>
            <a:ext cx="8358246" cy="2171714"/>
          </a:xfrm>
        </p:spPr>
        <p:txBody>
          <a:bodyPr>
            <a:noAutofit/>
          </a:bodyPr>
          <a:lstStyle/>
          <a:p>
            <a:r>
              <a:rPr lang="en-US" sz="4800" b="1" dirty="0" smtClean="0">
                <a:effectLst>
                  <a:outerShdw blurRad="38100" dist="38100" dir="2700000" algn="tl">
                    <a:srgbClr val="000000">
                      <a:alpha val="43137"/>
                    </a:srgbClr>
                  </a:outerShdw>
                </a:effectLst>
              </a:rPr>
              <a:t>GUI Programming with Swing</a:t>
            </a:r>
            <a:endParaRPr lang="en-US" sz="4800" b="1" dirty="0">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3" name="Title 1"/>
          <p:cNvSpPr txBox="1">
            <a:spLocks/>
          </p:cNvSpPr>
          <p:nvPr/>
        </p:nvSpPr>
        <p:spPr>
          <a:xfrm>
            <a:off x="428596" y="2786058"/>
            <a:ext cx="8358246" cy="2171714"/>
          </a:xfrm>
          <a:prstGeom prst="rect">
            <a:avLst/>
          </a:prstGeom>
        </p:spPr>
        <p:txBody>
          <a:bodyPr vert="horz" lIns="91440" tIns="45720" rIns="91440" bIns="45720" rtlCol="0" anchor="ctr">
            <a:noAutofit/>
          </a:bodyPr>
          <a:lstStyle/>
          <a:p>
            <a:pPr lvl="0" algn="ctr">
              <a:spcBef>
                <a:spcPct val="0"/>
              </a:spcBef>
            </a:pPr>
            <a:r>
              <a:rPr lang="en-US" sz="3600" b="1" dirty="0" smtClean="0"/>
              <a:t>Building Desktop Applications in Java</a:t>
            </a:r>
            <a:endParaRPr kumimoji="0" lang="en-US" sz="3600" b="1"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What We Will Learn</a:t>
            </a:r>
          </a:p>
        </p:txBody>
      </p:sp>
      <p:sp>
        <p:nvSpPr>
          <p:cNvPr id="3" name="Content Placeholder 2"/>
          <p:cNvSpPr>
            <a:spLocks noGrp="1"/>
          </p:cNvSpPr>
          <p:nvPr>
            <p:ph idx="1"/>
          </p:nvPr>
        </p:nvSpPr>
        <p:spPr/>
        <p:txBody>
          <a:bodyPr>
            <a:normAutofit fontScale="77500" lnSpcReduction="20000"/>
          </a:bodyPr>
          <a:lstStyle/>
          <a:p>
            <a:pPr>
              <a:lnSpc>
                <a:spcPct val="160000"/>
              </a:lnSpc>
            </a:pPr>
            <a:r>
              <a:rPr lang="en-US" dirty="0" smtClean="0"/>
              <a:t>Understand </a:t>
            </a:r>
            <a:r>
              <a:rPr lang="en-US" dirty="0" smtClean="0"/>
              <a:t>the difference between AWT and Swing.</a:t>
            </a:r>
          </a:p>
          <a:p>
            <a:pPr>
              <a:lnSpc>
                <a:spcPct val="160000"/>
              </a:lnSpc>
            </a:pPr>
            <a:r>
              <a:rPr lang="en-US" dirty="0" smtClean="0"/>
              <a:t>Master the Swing Component Hierarchy.</a:t>
            </a:r>
          </a:p>
          <a:p>
            <a:pPr>
              <a:lnSpc>
                <a:spcPct val="160000"/>
              </a:lnSpc>
            </a:pPr>
            <a:r>
              <a:rPr lang="en-US" dirty="0" smtClean="0"/>
              <a:t>Create windows using </a:t>
            </a:r>
            <a:r>
              <a:rPr lang="en-US" dirty="0" err="1" smtClean="0"/>
              <a:t>JFrame</a:t>
            </a:r>
            <a:r>
              <a:rPr lang="en-US" dirty="0" smtClean="0"/>
              <a:t> and panels using </a:t>
            </a:r>
            <a:r>
              <a:rPr lang="en-US" dirty="0" err="1" smtClean="0"/>
              <a:t>JPanel</a:t>
            </a:r>
            <a:r>
              <a:rPr lang="en-US" dirty="0" smtClean="0"/>
              <a:t>.</a:t>
            </a:r>
          </a:p>
          <a:p>
            <a:pPr>
              <a:lnSpc>
                <a:spcPct val="160000"/>
              </a:lnSpc>
            </a:pPr>
            <a:r>
              <a:rPr lang="en-US" dirty="0" smtClean="0"/>
              <a:t>Utilize Layout Managers to organize components.</a:t>
            </a:r>
          </a:p>
          <a:p>
            <a:pPr>
              <a:lnSpc>
                <a:spcPct val="160000"/>
              </a:lnSpc>
            </a:pPr>
            <a:r>
              <a:rPr lang="en-US" dirty="0" smtClean="0"/>
              <a:t>Implement Event Handling (</a:t>
            </a:r>
            <a:r>
              <a:rPr lang="en-US" dirty="0" err="1" smtClean="0"/>
              <a:t>ActionListeners</a:t>
            </a:r>
            <a:r>
              <a:rPr lang="en-US" dirty="0" smtClean="0"/>
              <a:t>).</a:t>
            </a:r>
          </a:p>
          <a:p>
            <a:pPr>
              <a:lnSpc>
                <a:spcPct val="160000"/>
              </a:lnSpc>
            </a:pPr>
            <a:r>
              <a:rPr lang="en-US" dirty="0" smtClean="0"/>
              <a:t>Understand the Event Dispatch Thread (EDT).</a:t>
            </a:r>
          </a:p>
          <a:p>
            <a:pPr>
              <a:lnSpc>
                <a:spcPct val="160000"/>
              </a:lnSpc>
            </a:pPr>
            <a:r>
              <a:rPr lang="en-US" dirty="0" smtClean="0"/>
              <a:t>Build a functional desktop application.</a:t>
            </a: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History: AWT vs. </a:t>
            </a:r>
            <a:r>
              <a:rPr lang="en-US" b="1" dirty="0" smtClean="0"/>
              <a:t>Swing</a:t>
            </a:r>
            <a:endParaRPr lang="en-US" b="1" dirty="0"/>
          </a:p>
        </p:txBody>
      </p:sp>
      <p:sp>
        <p:nvSpPr>
          <p:cNvPr id="3" name="Content Placeholder 2"/>
          <p:cNvSpPr>
            <a:spLocks noGrp="1"/>
          </p:cNvSpPr>
          <p:nvPr>
            <p:ph idx="1"/>
          </p:nvPr>
        </p:nvSpPr>
        <p:spPr>
          <a:xfrm>
            <a:off x="457200" y="1600200"/>
            <a:ext cx="8229600" cy="4972072"/>
          </a:xfrm>
        </p:spPr>
        <p:txBody>
          <a:bodyPr>
            <a:normAutofit fontScale="85000" lnSpcReduction="10000"/>
          </a:bodyPr>
          <a:lstStyle/>
          <a:p>
            <a:r>
              <a:rPr lang="en-US" b="1" dirty="0" smtClean="0"/>
              <a:t>AWT </a:t>
            </a:r>
            <a:r>
              <a:rPr lang="en-US" b="1" dirty="0" smtClean="0"/>
              <a:t>(Abstract Window Toolkit):</a:t>
            </a:r>
            <a:endParaRPr lang="en-US" dirty="0" smtClean="0"/>
          </a:p>
          <a:p>
            <a:pPr lvl="1"/>
            <a:r>
              <a:rPr lang="en-US" dirty="0" smtClean="0"/>
              <a:t>Java 1.0.</a:t>
            </a:r>
          </a:p>
          <a:p>
            <a:pPr lvl="1"/>
            <a:r>
              <a:rPr lang="en-US" b="1" dirty="0" smtClean="0"/>
              <a:t>Heavyweight:</a:t>
            </a:r>
            <a:r>
              <a:rPr lang="en-US" dirty="0" smtClean="0"/>
              <a:t> Uses native OS components (buttons look like Windows buttons on Windows, Mac buttons on Mac).</a:t>
            </a:r>
          </a:p>
          <a:p>
            <a:pPr lvl="1"/>
            <a:r>
              <a:rPr lang="en-US" dirty="0" smtClean="0"/>
              <a:t>Limited components, prone to bugs across platforms.</a:t>
            </a:r>
          </a:p>
          <a:p>
            <a:r>
              <a:rPr lang="en-US" b="1" dirty="0" smtClean="0"/>
              <a:t>Swing:</a:t>
            </a:r>
            <a:endParaRPr lang="en-US" dirty="0" smtClean="0"/>
          </a:p>
          <a:p>
            <a:pPr lvl="1"/>
            <a:r>
              <a:rPr lang="en-US" dirty="0" smtClean="0"/>
              <a:t>Java 1.2 (part of JFC - Java Foundation Classes).</a:t>
            </a:r>
          </a:p>
          <a:p>
            <a:pPr lvl="1"/>
            <a:r>
              <a:rPr lang="en-US" b="1" dirty="0" smtClean="0"/>
              <a:t>Lightweight:</a:t>
            </a:r>
            <a:r>
              <a:rPr lang="en-US" dirty="0" smtClean="0"/>
              <a:t> Written entirely in Java; draws its own pixels.</a:t>
            </a:r>
          </a:p>
          <a:p>
            <a:pPr lvl="1"/>
            <a:r>
              <a:rPr lang="en-US" b="1" dirty="0" smtClean="0"/>
              <a:t>Pluggable Look &amp; Feel:</a:t>
            </a:r>
            <a:r>
              <a:rPr lang="en-US" dirty="0" smtClean="0"/>
              <a:t> Can mimic native OS or use a custom style.</a:t>
            </a:r>
          </a:p>
          <a:p>
            <a:pPr lvl="1"/>
            <a:r>
              <a:rPr lang="en-US" dirty="0" smtClean="0"/>
              <a:t>Richer set of components (</a:t>
            </a:r>
            <a:r>
              <a:rPr lang="en-US" dirty="0" err="1" smtClean="0"/>
              <a:t>JTable</a:t>
            </a:r>
            <a:r>
              <a:rPr lang="en-US" dirty="0" smtClean="0"/>
              <a:t>, </a:t>
            </a:r>
            <a:r>
              <a:rPr lang="en-US" dirty="0" err="1" smtClean="0"/>
              <a:t>JTree</a:t>
            </a:r>
            <a:r>
              <a:rPr lang="en-US" dirty="0" smtClean="0"/>
              <a:t>, </a:t>
            </a:r>
            <a:r>
              <a:rPr lang="en-US" dirty="0" err="1" smtClean="0"/>
              <a:t>JTabbedPane</a:t>
            </a:r>
            <a:r>
              <a:rPr lang="en-US" dirty="0" smtClean="0"/>
              <a:t>).</a:t>
            </a:r>
          </a:p>
          <a:p>
            <a:endParaRPr 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6908"/>
          </a:xfrm>
        </p:spPr>
        <p:txBody>
          <a:bodyPr>
            <a:normAutofit/>
          </a:bodyPr>
          <a:lstStyle/>
          <a:p>
            <a:r>
              <a:rPr lang="en-US" b="1" dirty="0" smtClean="0"/>
              <a:t>The Swing </a:t>
            </a:r>
            <a:r>
              <a:rPr lang="en-US" b="1" dirty="0" smtClean="0"/>
              <a:t>Architecture</a:t>
            </a:r>
            <a:endParaRPr lang="en-US" b="1" dirty="0"/>
          </a:p>
        </p:txBody>
      </p:sp>
      <p:sp>
        <p:nvSpPr>
          <p:cNvPr id="3" name="Content Placeholder 2"/>
          <p:cNvSpPr>
            <a:spLocks noGrp="1"/>
          </p:cNvSpPr>
          <p:nvPr>
            <p:ph idx="1"/>
          </p:nvPr>
        </p:nvSpPr>
        <p:spPr>
          <a:xfrm>
            <a:off x="500034" y="1357298"/>
            <a:ext cx="8229600" cy="4929222"/>
          </a:xfrm>
        </p:spPr>
        <p:txBody>
          <a:bodyPr>
            <a:noAutofit/>
          </a:bodyPr>
          <a:lstStyle/>
          <a:p>
            <a:pPr>
              <a:spcBef>
                <a:spcPts val="600"/>
              </a:spcBef>
              <a:spcAft>
                <a:spcPts val="600"/>
              </a:spcAft>
            </a:pPr>
            <a:r>
              <a:rPr lang="en-US" sz="2400" b="1" dirty="0" err="1" smtClean="0"/>
              <a:t>java.awt.Component</a:t>
            </a:r>
            <a:r>
              <a:rPr lang="en-US" sz="2400" dirty="0" smtClean="0"/>
              <a:t>: The root abstract class.</a:t>
            </a:r>
          </a:p>
          <a:p>
            <a:pPr>
              <a:spcBef>
                <a:spcPts val="600"/>
              </a:spcBef>
              <a:spcAft>
                <a:spcPts val="600"/>
              </a:spcAft>
            </a:pPr>
            <a:r>
              <a:rPr lang="en-US" sz="2400" b="1" dirty="0" err="1" smtClean="0"/>
              <a:t>java.awt.Container</a:t>
            </a:r>
            <a:r>
              <a:rPr lang="en-US" sz="2400" dirty="0" smtClean="0"/>
              <a:t>: A component that can hold other components.</a:t>
            </a:r>
          </a:p>
          <a:p>
            <a:pPr>
              <a:spcBef>
                <a:spcPts val="600"/>
              </a:spcBef>
              <a:spcAft>
                <a:spcPts val="600"/>
              </a:spcAft>
            </a:pPr>
            <a:r>
              <a:rPr lang="en-US" sz="2400" b="1" dirty="0" err="1" smtClean="0"/>
              <a:t>javax.swing.JComponent</a:t>
            </a:r>
            <a:r>
              <a:rPr lang="en-US" sz="2400" dirty="0" smtClean="0"/>
              <a:t>: The base class for all Swing components.</a:t>
            </a:r>
          </a:p>
          <a:p>
            <a:pPr lvl="1">
              <a:spcBef>
                <a:spcPts val="600"/>
              </a:spcBef>
              <a:spcAft>
                <a:spcPts val="600"/>
              </a:spcAft>
            </a:pPr>
            <a:r>
              <a:rPr lang="en-US" sz="2400" dirty="0" smtClean="0"/>
              <a:t>Adds double buffering and keyboard handling.</a:t>
            </a:r>
          </a:p>
          <a:p>
            <a:pPr>
              <a:spcBef>
                <a:spcPts val="600"/>
              </a:spcBef>
              <a:spcAft>
                <a:spcPts val="600"/>
              </a:spcAft>
            </a:pPr>
            <a:r>
              <a:rPr lang="en-US" sz="2400" b="1" dirty="0" smtClean="0"/>
              <a:t>Top-Level Containers:</a:t>
            </a:r>
            <a:endParaRPr lang="en-US" sz="2400" dirty="0" smtClean="0"/>
          </a:p>
          <a:p>
            <a:pPr lvl="1">
              <a:spcBef>
                <a:spcPts val="600"/>
              </a:spcBef>
              <a:spcAft>
                <a:spcPts val="600"/>
              </a:spcAft>
            </a:pPr>
            <a:r>
              <a:rPr lang="en-US" sz="2400" dirty="0" err="1" smtClean="0"/>
              <a:t>JFrame</a:t>
            </a:r>
            <a:r>
              <a:rPr lang="en-US" sz="2400" dirty="0" smtClean="0"/>
              <a:t> (Window with borders/title).</a:t>
            </a:r>
          </a:p>
          <a:p>
            <a:pPr lvl="1">
              <a:spcBef>
                <a:spcPts val="600"/>
              </a:spcBef>
              <a:spcAft>
                <a:spcPts val="600"/>
              </a:spcAft>
            </a:pPr>
            <a:r>
              <a:rPr lang="en-US" sz="2400" dirty="0" err="1" smtClean="0"/>
              <a:t>JDialog</a:t>
            </a:r>
            <a:r>
              <a:rPr lang="en-US" sz="2400" dirty="0" smtClean="0"/>
              <a:t> (Popup window).</a:t>
            </a:r>
          </a:p>
          <a:p>
            <a:pPr lvl="1">
              <a:spcBef>
                <a:spcPts val="600"/>
              </a:spcBef>
              <a:spcAft>
                <a:spcPts val="600"/>
              </a:spcAft>
            </a:pPr>
            <a:r>
              <a:rPr lang="en-US" sz="2400" dirty="0" err="1" smtClean="0"/>
              <a:t>JApplet</a:t>
            </a:r>
            <a:r>
              <a:rPr lang="en-US" sz="2400" dirty="0" smtClean="0"/>
              <a:t> (Deprecated, web-based</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928670"/>
          </a:xfrm>
        </p:spPr>
        <p:txBody>
          <a:bodyPr>
            <a:normAutofit/>
          </a:bodyPr>
          <a:lstStyle/>
          <a:p>
            <a:r>
              <a:rPr lang="en-US" b="1" dirty="0" smtClean="0"/>
              <a:t>Creating a Window (</a:t>
            </a:r>
            <a:r>
              <a:rPr lang="en-US" b="1" dirty="0" err="1" smtClean="0"/>
              <a:t>JFrame</a:t>
            </a:r>
            <a:r>
              <a:rPr lang="en-US" b="1" dirty="0" smtClean="0"/>
              <a:t>)</a:t>
            </a:r>
            <a:endParaRPr lang="en-US" b="1" dirty="0"/>
          </a:p>
        </p:txBody>
      </p:sp>
      <p:sp>
        <p:nvSpPr>
          <p:cNvPr id="3" name="Content Placeholder 2"/>
          <p:cNvSpPr>
            <a:spLocks noGrp="1"/>
          </p:cNvSpPr>
          <p:nvPr>
            <p:ph idx="1"/>
          </p:nvPr>
        </p:nvSpPr>
        <p:spPr>
          <a:xfrm>
            <a:off x="500034" y="1142984"/>
            <a:ext cx="8229600" cy="3829064"/>
          </a:xfrm>
        </p:spPr>
        <p:txBody>
          <a:bodyPr>
            <a:normAutofit/>
          </a:bodyPr>
          <a:lstStyle/>
          <a:p>
            <a:pPr>
              <a:spcBef>
                <a:spcPts val="600"/>
              </a:spcBef>
              <a:spcAft>
                <a:spcPts val="600"/>
              </a:spcAft>
            </a:pPr>
            <a:r>
              <a:rPr lang="en-US" sz="2400" dirty="0" err="1" smtClean="0"/>
              <a:t>JFrame</a:t>
            </a:r>
            <a:r>
              <a:rPr lang="en-US" sz="2400" dirty="0" smtClean="0"/>
              <a:t> </a:t>
            </a:r>
            <a:r>
              <a:rPr lang="en-US" sz="2400" dirty="0" smtClean="0"/>
              <a:t>represents the main application window.</a:t>
            </a:r>
          </a:p>
          <a:p>
            <a:pPr>
              <a:spcBef>
                <a:spcPts val="600"/>
              </a:spcBef>
              <a:spcAft>
                <a:spcPts val="600"/>
              </a:spcAft>
            </a:pPr>
            <a:r>
              <a:rPr lang="en-US" sz="2400" b="1" dirty="0" smtClean="0"/>
              <a:t>Key Setup Steps:</a:t>
            </a:r>
            <a:endParaRPr lang="en-US" sz="2400" dirty="0" smtClean="0"/>
          </a:p>
          <a:p>
            <a:pPr lvl="1">
              <a:spcBef>
                <a:spcPts val="600"/>
              </a:spcBef>
              <a:spcAft>
                <a:spcPts val="600"/>
              </a:spcAft>
            </a:pPr>
            <a:r>
              <a:rPr lang="en-US" sz="2400" dirty="0" smtClean="0"/>
              <a:t>Instantiate the frame.</a:t>
            </a:r>
          </a:p>
          <a:p>
            <a:pPr lvl="1">
              <a:spcBef>
                <a:spcPts val="600"/>
              </a:spcBef>
              <a:spcAft>
                <a:spcPts val="600"/>
              </a:spcAft>
            </a:pPr>
            <a:r>
              <a:rPr lang="en-US" sz="2400" dirty="0" smtClean="0"/>
              <a:t>Set default close operation.</a:t>
            </a:r>
          </a:p>
          <a:p>
            <a:pPr lvl="1">
              <a:spcBef>
                <a:spcPts val="600"/>
              </a:spcBef>
              <a:spcAft>
                <a:spcPts val="600"/>
              </a:spcAft>
            </a:pPr>
            <a:r>
              <a:rPr lang="en-US" sz="2400" dirty="0" smtClean="0"/>
              <a:t>Set size (or pack()).</a:t>
            </a:r>
          </a:p>
          <a:p>
            <a:pPr lvl="1">
              <a:spcBef>
                <a:spcPts val="600"/>
              </a:spcBef>
              <a:spcAft>
                <a:spcPts val="600"/>
              </a:spcAft>
            </a:pPr>
            <a:r>
              <a:rPr lang="en-US" sz="2400" dirty="0" smtClean="0"/>
              <a:t>Set visibility to true.</a:t>
            </a:r>
          </a:p>
          <a:p>
            <a:pPr lvl="1">
              <a:spcBef>
                <a:spcPts val="600"/>
              </a:spcBef>
              <a:spcAft>
                <a:spcPts val="600"/>
              </a:spcAft>
            </a:pPr>
            <a:r>
              <a:rPr lang="en-US" sz="2400" b="1" dirty="0" smtClean="0"/>
              <a:t>Always start on the EDT.</a:t>
            </a:r>
            <a:endParaRPr lang="en-US" sz="2400" dirty="0"/>
          </a:p>
        </p:txBody>
      </p:sp>
      <p:sp>
        <p:nvSpPr>
          <p:cNvPr id="4" name="Content Placeholder 2"/>
          <p:cNvSpPr txBox="1">
            <a:spLocks/>
          </p:cNvSpPr>
          <p:nvPr/>
        </p:nvSpPr>
        <p:spPr>
          <a:xfrm>
            <a:off x="500034" y="5000636"/>
            <a:ext cx="8229600" cy="1714512"/>
          </a:xfrm>
          <a:prstGeom prst="rect">
            <a:avLst/>
          </a:prstGeom>
          <a:ln>
            <a:solidFill>
              <a:schemeClr val="accent1"/>
            </a:solidFill>
          </a:ln>
          <a:effectLst/>
          <a:scene3d>
            <a:camera prst="orthographicFront">
              <a:rot lat="0" lon="0" rev="0"/>
            </a:camera>
            <a:lightRig rig="contrasting" dir="t">
              <a:rot lat="0" lon="0" rev="7800000"/>
            </a:lightRig>
          </a:scene3d>
          <a:sp3d>
            <a:bevelT w="139700" h="139700"/>
          </a:sp3d>
        </p:spPr>
        <p:txBody>
          <a:bodyPr vert="horz" lIns="91440" tIns="45720" rIns="91440" bIns="45720" rtlCol="0">
            <a:noAutofit/>
          </a:bodyPr>
          <a:lstStyle/>
          <a:p>
            <a:pPr marL="342900" lvl="0" indent="-342900">
              <a:spcAft>
                <a:spcPts val="600"/>
              </a:spcAft>
            </a:pPr>
            <a:r>
              <a:rPr lang="en-US" b="1" dirty="0" err="1" smtClean="0">
                <a:solidFill>
                  <a:srgbClr val="C00000"/>
                </a:solidFill>
                <a:latin typeface="Courier New" pitchFamily="49" charset="0"/>
                <a:cs typeface="Courier New" pitchFamily="49" charset="0"/>
              </a:rPr>
              <a:t>JFrame</a:t>
            </a:r>
            <a:r>
              <a:rPr lang="en-US" b="1" dirty="0" smtClean="0">
                <a:solidFill>
                  <a:srgbClr val="C00000"/>
                </a:solidFill>
                <a:latin typeface="Courier New" pitchFamily="49" charset="0"/>
                <a:cs typeface="Courier New" pitchFamily="49" charset="0"/>
              </a:rPr>
              <a:t> frame </a:t>
            </a:r>
            <a:r>
              <a:rPr lang="en-US" b="1" dirty="0" smtClean="0">
                <a:latin typeface="Courier New" pitchFamily="49" charset="0"/>
                <a:cs typeface="Courier New" pitchFamily="49" charset="0"/>
              </a:rPr>
              <a:t>= new </a:t>
            </a:r>
            <a:r>
              <a:rPr lang="en-US" b="1" dirty="0" err="1" smtClean="0">
                <a:solidFill>
                  <a:srgbClr val="5832F8"/>
                </a:solidFill>
                <a:latin typeface="Courier New" pitchFamily="49" charset="0"/>
                <a:cs typeface="Courier New" pitchFamily="49" charset="0"/>
              </a:rPr>
              <a:t>JFrame</a:t>
            </a:r>
            <a:r>
              <a:rPr lang="en-US" b="1" dirty="0" smtClean="0">
                <a:latin typeface="Courier New" pitchFamily="49" charset="0"/>
                <a:cs typeface="Courier New" pitchFamily="49" charset="0"/>
              </a:rPr>
              <a:t>("</a:t>
            </a:r>
            <a:r>
              <a:rPr lang="en-US" b="1" dirty="0" smtClean="0">
                <a:solidFill>
                  <a:srgbClr val="00B050"/>
                </a:solidFill>
                <a:latin typeface="Courier New" pitchFamily="49" charset="0"/>
                <a:cs typeface="Courier New" pitchFamily="49" charset="0"/>
              </a:rPr>
              <a:t>My App</a:t>
            </a:r>
            <a:r>
              <a:rPr lang="en-US" b="1" dirty="0" smtClean="0">
                <a:latin typeface="Courier New" pitchFamily="49" charset="0"/>
                <a:cs typeface="Courier New" pitchFamily="49" charset="0"/>
              </a:rPr>
              <a:t>");</a:t>
            </a:r>
          </a:p>
          <a:p>
            <a:pPr marL="342900" lvl="0" indent="-342900">
              <a:spcAft>
                <a:spcPts val="600"/>
              </a:spcAft>
            </a:pPr>
            <a:r>
              <a:rPr lang="en-US" b="1" dirty="0" err="1" smtClean="0">
                <a:solidFill>
                  <a:srgbClr val="C00000"/>
                </a:solidFill>
                <a:latin typeface="Courier New" pitchFamily="49" charset="0"/>
                <a:cs typeface="Courier New" pitchFamily="49" charset="0"/>
              </a:rPr>
              <a:t>frame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setDefaultCloseOperation</a:t>
            </a:r>
            <a:r>
              <a:rPr lang="en-US" b="1" dirty="0" smtClean="0">
                <a:latin typeface="Courier New" pitchFamily="49" charset="0"/>
                <a:cs typeface="Courier New" pitchFamily="49" charset="0"/>
              </a:rPr>
              <a:t>(</a:t>
            </a:r>
            <a:r>
              <a:rPr lang="en-US" b="1" dirty="0" err="1" smtClean="0">
                <a:solidFill>
                  <a:srgbClr val="C00000"/>
                </a:solidFill>
                <a:latin typeface="Courier New" pitchFamily="49" charset="0"/>
                <a:cs typeface="Courier New" pitchFamily="49" charset="0"/>
              </a:rPr>
              <a:t>JFrame.EXIT_ON_CLOSE</a:t>
            </a:r>
            <a:r>
              <a:rPr lang="en-US" b="1" dirty="0" smtClean="0">
                <a:latin typeface="Courier New" pitchFamily="49" charset="0"/>
                <a:cs typeface="Courier New" pitchFamily="49" charset="0"/>
              </a:rPr>
              <a:t>);</a:t>
            </a:r>
          </a:p>
          <a:p>
            <a:pPr marL="342900" lvl="0" indent="-342900">
              <a:spcAft>
                <a:spcPts val="600"/>
              </a:spcAft>
            </a:pPr>
            <a:r>
              <a:rPr lang="en-US" b="1" dirty="0" err="1" smtClean="0">
                <a:solidFill>
                  <a:srgbClr val="C00000"/>
                </a:solidFill>
                <a:latin typeface="Courier New" pitchFamily="49" charset="0"/>
                <a:cs typeface="Courier New" pitchFamily="49" charset="0"/>
              </a:rPr>
              <a:t>frame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setSize</a:t>
            </a:r>
            <a:r>
              <a:rPr lang="en-US" b="1" dirty="0" smtClean="0">
                <a:latin typeface="Courier New" pitchFamily="49" charset="0"/>
                <a:cs typeface="Courier New" pitchFamily="49" charset="0"/>
              </a:rPr>
              <a:t>(</a:t>
            </a:r>
            <a:r>
              <a:rPr lang="en-US" b="1" dirty="0" smtClean="0">
                <a:solidFill>
                  <a:srgbClr val="C00000"/>
                </a:solidFill>
                <a:latin typeface="Courier New" pitchFamily="49" charset="0"/>
                <a:cs typeface="Courier New" pitchFamily="49" charset="0"/>
              </a:rPr>
              <a:t>400</a:t>
            </a:r>
            <a:r>
              <a:rPr lang="en-US" b="1" dirty="0" smtClean="0">
                <a:latin typeface="Courier New" pitchFamily="49" charset="0"/>
                <a:cs typeface="Courier New" pitchFamily="49" charset="0"/>
              </a:rPr>
              <a:t>, </a:t>
            </a:r>
            <a:r>
              <a:rPr lang="en-US" b="1" dirty="0" smtClean="0">
                <a:solidFill>
                  <a:srgbClr val="C00000"/>
                </a:solidFill>
                <a:latin typeface="Courier New" pitchFamily="49" charset="0"/>
                <a:cs typeface="Courier New" pitchFamily="49" charset="0"/>
              </a:rPr>
              <a:t>300</a:t>
            </a:r>
            <a:r>
              <a:rPr lang="en-US" b="1" dirty="0" smtClean="0">
                <a:latin typeface="Courier New" pitchFamily="49" charset="0"/>
                <a:cs typeface="Courier New" pitchFamily="49" charset="0"/>
              </a:rPr>
              <a:t>);</a:t>
            </a:r>
          </a:p>
          <a:p>
            <a:pPr marL="342900" lvl="0" indent="-342900"/>
            <a:r>
              <a:rPr lang="en-US" b="1" dirty="0" err="1" smtClean="0">
                <a:solidFill>
                  <a:srgbClr val="C00000"/>
                </a:solidFill>
                <a:latin typeface="Courier New" pitchFamily="49" charset="0"/>
                <a:cs typeface="Courier New" pitchFamily="49" charset="0"/>
              </a:rPr>
              <a:t>frame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setVisible</a:t>
            </a:r>
            <a:r>
              <a:rPr lang="en-US" b="1" dirty="0" smtClean="0">
                <a:latin typeface="Courier New" pitchFamily="49" charset="0"/>
                <a:cs typeface="Courier New" pitchFamily="49" charset="0"/>
              </a:rPr>
              <a:t>(</a:t>
            </a:r>
            <a:r>
              <a:rPr lang="en-US" b="1" dirty="0" smtClean="0">
                <a:solidFill>
                  <a:srgbClr val="C00000"/>
                </a:solidFill>
                <a:latin typeface="Courier New" pitchFamily="49" charset="0"/>
                <a:cs typeface="Courier New" pitchFamily="49" charset="0"/>
              </a:rPr>
              <a:t>true</a:t>
            </a:r>
            <a:r>
              <a:rPr lang="en-US" b="1" dirty="0" smtClean="0">
                <a:latin typeface="Courier New" pitchFamily="49" charset="0"/>
                <a:cs typeface="Courier New" pitchFamily="49" charset="0"/>
              </a:rPr>
              <a:t>);</a:t>
            </a:r>
            <a:endParaRPr kumimoji="0" lang="en-US" b="1" i="0" u="none" strike="noStrike" kern="1200" cap="none" spc="0" normalizeH="0" baseline="0" noProof="0" dirty="0" smtClean="0">
              <a:ln>
                <a:noFill/>
              </a:ln>
              <a:solidFill>
                <a:schemeClr val="tx1"/>
              </a:solidFill>
              <a:effectLst/>
              <a:uLnTx/>
              <a:uFillTx/>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28694"/>
          </a:xfrm>
        </p:spPr>
        <p:txBody>
          <a:bodyPr>
            <a:normAutofit/>
          </a:bodyPr>
          <a:lstStyle/>
          <a:p>
            <a:r>
              <a:rPr lang="en-US" b="1" dirty="0" smtClean="0"/>
              <a:t>Common Swing </a:t>
            </a:r>
            <a:r>
              <a:rPr lang="en-US" b="1" dirty="0" smtClean="0"/>
              <a:t>Components</a:t>
            </a:r>
            <a:endParaRPr lang="en-US" b="1" dirty="0"/>
          </a:p>
        </p:txBody>
      </p:sp>
      <p:sp>
        <p:nvSpPr>
          <p:cNvPr id="3" name="Content Placeholder 2"/>
          <p:cNvSpPr>
            <a:spLocks noGrp="1"/>
          </p:cNvSpPr>
          <p:nvPr>
            <p:ph idx="1"/>
          </p:nvPr>
        </p:nvSpPr>
        <p:spPr>
          <a:xfrm>
            <a:off x="428596" y="1214423"/>
            <a:ext cx="8229600" cy="3214710"/>
          </a:xfrm>
        </p:spPr>
        <p:txBody>
          <a:bodyPr>
            <a:normAutofit/>
          </a:bodyPr>
          <a:lstStyle/>
          <a:p>
            <a:pPr>
              <a:spcBef>
                <a:spcPts val="600"/>
              </a:spcBef>
              <a:spcAft>
                <a:spcPts val="600"/>
              </a:spcAft>
            </a:pPr>
            <a:r>
              <a:rPr lang="en-US" sz="2400" dirty="0" smtClean="0"/>
              <a:t>All </a:t>
            </a:r>
            <a:r>
              <a:rPr lang="en-US" sz="2400" dirty="0" smtClean="0"/>
              <a:t>start with </a:t>
            </a:r>
            <a:r>
              <a:rPr lang="en-US" sz="2400" b="1" dirty="0" smtClean="0"/>
              <a:t>'J'</a:t>
            </a:r>
            <a:r>
              <a:rPr lang="en-US" sz="2400" dirty="0" smtClean="0"/>
              <a:t>.</a:t>
            </a:r>
          </a:p>
          <a:p>
            <a:pPr>
              <a:spcBef>
                <a:spcPts val="600"/>
              </a:spcBef>
              <a:spcAft>
                <a:spcPts val="600"/>
              </a:spcAft>
            </a:pPr>
            <a:r>
              <a:rPr lang="en-US" sz="2400" b="1" dirty="0" err="1" smtClean="0"/>
              <a:t>JLabel</a:t>
            </a:r>
            <a:r>
              <a:rPr lang="en-US" sz="2400" dirty="0" smtClean="0"/>
              <a:t>: Display text or images.</a:t>
            </a:r>
          </a:p>
          <a:p>
            <a:pPr>
              <a:spcBef>
                <a:spcPts val="600"/>
              </a:spcBef>
              <a:spcAft>
                <a:spcPts val="600"/>
              </a:spcAft>
            </a:pPr>
            <a:r>
              <a:rPr lang="en-US" sz="2400" b="1" dirty="0" err="1" smtClean="0"/>
              <a:t>JButton</a:t>
            </a:r>
            <a:r>
              <a:rPr lang="en-US" sz="2400" dirty="0" smtClean="0"/>
              <a:t>: Clickable button.</a:t>
            </a:r>
          </a:p>
          <a:p>
            <a:pPr>
              <a:spcBef>
                <a:spcPts val="600"/>
              </a:spcBef>
              <a:spcAft>
                <a:spcPts val="600"/>
              </a:spcAft>
            </a:pPr>
            <a:r>
              <a:rPr lang="en-US" sz="2400" b="1" dirty="0" err="1" smtClean="0"/>
              <a:t>JTextField</a:t>
            </a:r>
            <a:r>
              <a:rPr lang="en-US" sz="2400" dirty="0" smtClean="0"/>
              <a:t>: Single-line text input.</a:t>
            </a:r>
          </a:p>
          <a:p>
            <a:pPr>
              <a:spcBef>
                <a:spcPts val="600"/>
              </a:spcBef>
              <a:spcAft>
                <a:spcPts val="600"/>
              </a:spcAft>
            </a:pPr>
            <a:r>
              <a:rPr lang="en-US" sz="2400" b="1" dirty="0" err="1" smtClean="0"/>
              <a:t>JTextArea</a:t>
            </a:r>
            <a:r>
              <a:rPr lang="en-US" sz="2400" dirty="0" smtClean="0"/>
              <a:t>: Multi-line text input (wrap in </a:t>
            </a:r>
            <a:r>
              <a:rPr lang="en-US" sz="2400" dirty="0" err="1" smtClean="0"/>
              <a:t>JScrollPane</a:t>
            </a:r>
            <a:r>
              <a:rPr lang="en-US" sz="2400" dirty="0" smtClean="0"/>
              <a:t>).</a:t>
            </a:r>
          </a:p>
          <a:p>
            <a:pPr>
              <a:spcBef>
                <a:spcPts val="600"/>
              </a:spcBef>
              <a:spcAft>
                <a:spcPts val="600"/>
              </a:spcAft>
            </a:pPr>
            <a:r>
              <a:rPr lang="en-US" sz="2400" b="1" dirty="0" err="1" smtClean="0"/>
              <a:t>JCheckBox</a:t>
            </a:r>
            <a:r>
              <a:rPr lang="en-US" sz="2400" b="1" dirty="0" smtClean="0"/>
              <a:t> / </a:t>
            </a:r>
            <a:r>
              <a:rPr lang="en-US" sz="2400" b="1" dirty="0" err="1" smtClean="0"/>
              <a:t>JRadioButton</a:t>
            </a:r>
            <a:r>
              <a:rPr lang="en-US" sz="2400" dirty="0" smtClean="0"/>
              <a:t>: Selection controls.</a:t>
            </a:r>
          </a:p>
          <a:p>
            <a:pPr>
              <a:spcBef>
                <a:spcPts val="600"/>
              </a:spcBef>
              <a:spcAft>
                <a:spcPts val="600"/>
              </a:spcAft>
            </a:pPr>
            <a:endParaRPr lang="en-US" sz="2400" dirty="0"/>
          </a:p>
        </p:txBody>
      </p:sp>
      <p:sp>
        <p:nvSpPr>
          <p:cNvPr id="4" name="Rectangle 3"/>
          <p:cNvSpPr/>
          <p:nvPr/>
        </p:nvSpPr>
        <p:spPr>
          <a:xfrm>
            <a:off x="785786" y="4714884"/>
            <a:ext cx="7643866" cy="1200329"/>
          </a:xfrm>
          <a:prstGeom prst="rect">
            <a:avLst/>
          </a:prstGeom>
          <a:ln>
            <a:solidFill>
              <a:schemeClr val="accent1"/>
            </a:solidFill>
          </a:ln>
          <a:effectLst/>
        </p:spPr>
        <p:txBody>
          <a:bodyPr wrap="square">
            <a:spAutoFit/>
          </a:bodyPr>
          <a:lstStyle/>
          <a:p>
            <a:r>
              <a:rPr lang="en-US" sz="2400" b="1" dirty="0" err="1" smtClean="0">
                <a:latin typeface="Courier New" pitchFamily="49" charset="0"/>
                <a:cs typeface="Courier New" pitchFamily="49" charset="0"/>
              </a:rPr>
              <a:t>JLabel</a:t>
            </a:r>
            <a:r>
              <a:rPr lang="en-US" sz="2400" b="1" dirty="0" smtClean="0">
                <a:latin typeface="Courier New" pitchFamily="49" charset="0"/>
                <a:cs typeface="Courier New" pitchFamily="49" charset="0"/>
              </a:rPr>
              <a:t> label = new </a:t>
            </a:r>
            <a:r>
              <a:rPr lang="en-US" sz="2400" b="1" dirty="0" err="1" smtClean="0">
                <a:solidFill>
                  <a:srgbClr val="5832F8"/>
                </a:solidFill>
                <a:latin typeface="Courier New" pitchFamily="49" charset="0"/>
                <a:cs typeface="Courier New" pitchFamily="49" charset="0"/>
              </a:rPr>
              <a:t>JLabel</a:t>
            </a:r>
            <a:r>
              <a:rPr lang="en-US" sz="2400" b="1" dirty="0" smtClean="0">
                <a:latin typeface="Courier New" pitchFamily="49" charset="0"/>
                <a:cs typeface="Courier New" pitchFamily="49" charset="0"/>
              </a:rPr>
              <a:t>("Username:");</a:t>
            </a:r>
          </a:p>
          <a:p>
            <a:r>
              <a:rPr lang="en-US" sz="2400" b="1" dirty="0" err="1" smtClean="0">
                <a:latin typeface="Courier New" pitchFamily="49" charset="0"/>
                <a:cs typeface="Courier New" pitchFamily="49" charset="0"/>
              </a:rPr>
              <a:t>JTextField</a:t>
            </a:r>
            <a:r>
              <a:rPr lang="en-US" sz="2400" b="1" dirty="0" smtClean="0">
                <a:latin typeface="Courier New" pitchFamily="49" charset="0"/>
                <a:cs typeface="Courier New" pitchFamily="49" charset="0"/>
              </a:rPr>
              <a:t> text = new </a:t>
            </a:r>
            <a:r>
              <a:rPr lang="en-US" sz="2400" b="1" dirty="0" err="1" smtClean="0">
                <a:solidFill>
                  <a:srgbClr val="5832F8"/>
                </a:solidFill>
                <a:latin typeface="Courier New" pitchFamily="49" charset="0"/>
                <a:cs typeface="Courier New" pitchFamily="49" charset="0"/>
              </a:rPr>
              <a:t>JTextField</a:t>
            </a:r>
            <a:r>
              <a:rPr lang="en-US" sz="2400" b="1" dirty="0" smtClean="0">
                <a:latin typeface="Courier New" pitchFamily="49" charset="0"/>
                <a:cs typeface="Courier New" pitchFamily="49" charset="0"/>
              </a:rPr>
              <a:t>(20);</a:t>
            </a:r>
          </a:p>
          <a:p>
            <a:r>
              <a:rPr lang="en-US" sz="2400" b="1" dirty="0" err="1" smtClean="0">
                <a:latin typeface="Courier New" pitchFamily="49" charset="0"/>
                <a:cs typeface="Courier New" pitchFamily="49" charset="0"/>
              </a:rPr>
              <a:t>JButton</a:t>
            </a:r>
            <a:r>
              <a:rPr lang="en-US" sz="2400" b="1" dirty="0" smtClean="0">
                <a:latin typeface="Courier New" pitchFamily="49" charset="0"/>
                <a:cs typeface="Courier New" pitchFamily="49" charset="0"/>
              </a:rPr>
              <a:t> </a:t>
            </a:r>
            <a:r>
              <a:rPr lang="en-US" sz="2400" b="1" dirty="0" err="1" smtClean="0">
                <a:latin typeface="Courier New" pitchFamily="49" charset="0"/>
                <a:cs typeface="Courier New" pitchFamily="49" charset="0"/>
              </a:rPr>
              <a:t>btn</a:t>
            </a:r>
            <a:r>
              <a:rPr lang="en-US" sz="2400" b="1" dirty="0" smtClean="0">
                <a:latin typeface="Courier New" pitchFamily="49" charset="0"/>
                <a:cs typeface="Courier New" pitchFamily="49" charset="0"/>
              </a:rPr>
              <a:t> = new </a:t>
            </a:r>
            <a:r>
              <a:rPr lang="en-US" sz="2400" b="1" dirty="0" err="1" smtClean="0">
                <a:solidFill>
                  <a:srgbClr val="5832F8"/>
                </a:solidFill>
                <a:latin typeface="Courier New" pitchFamily="49" charset="0"/>
                <a:cs typeface="Courier New" pitchFamily="49" charset="0"/>
              </a:rPr>
              <a:t>JButton</a:t>
            </a:r>
            <a:r>
              <a:rPr lang="en-US" sz="2400" b="1" dirty="0" smtClean="0">
                <a:latin typeface="Courier New" pitchFamily="49" charset="0"/>
                <a:cs typeface="Courier New" pitchFamily="49" charset="0"/>
              </a:rPr>
              <a:t>("Submit");</a:t>
            </a:r>
            <a:endParaRPr lang="en-US" sz="2400"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1000132"/>
          </a:xfrm>
        </p:spPr>
        <p:txBody>
          <a:bodyPr>
            <a:normAutofit fontScale="90000"/>
          </a:bodyPr>
          <a:lstStyle/>
          <a:p>
            <a:r>
              <a:rPr lang="en-US" b="1" dirty="0" smtClean="0"/>
              <a:t>Swing Login Form component Layout.</a:t>
            </a:r>
            <a:endParaRPr lang="en-US" b="1" dirty="0"/>
          </a:p>
        </p:txBody>
      </p:sp>
      <p:pic>
        <p:nvPicPr>
          <p:cNvPr id="4" name="Content Placeholder 3" descr="javaswing.png"/>
          <p:cNvPicPr>
            <a:picLocks noGrp="1" noChangeAspect="1"/>
          </p:cNvPicPr>
          <p:nvPr>
            <p:ph idx="1"/>
          </p:nvPr>
        </p:nvPicPr>
        <p:blipFill>
          <a:blip r:embed="rId2"/>
          <a:srcRect l="2235" t="13574" r="8520" b="9084"/>
          <a:stretch>
            <a:fillRect/>
          </a:stretch>
        </p:blipFill>
        <p:spPr>
          <a:xfrm>
            <a:off x="357158" y="1000108"/>
            <a:ext cx="8487966" cy="5857892"/>
          </a:xfr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smtClean="0"/>
              <a:t>Screenshot of a simple login form showing swing components</a:t>
            </a:r>
            <a:r>
              <a:rPr lang="en-US" sz="4000" b="1" dirty="0" smtClean="0"/>
              <a:t>.</a:t>
            </a:r>
            <a:endParaRPr lang="en-US" sz="4000" b="1" dirty="0"/>
          </a:p>
        </p:txBody>
      </p:sp>
      <p:pic>
        <p:nvPicPr>
          <p:cNvPr id="1026" name="Picture 2"/>
          <p:cNvPicPr>
            <a:picLocks noGrp="1" noChangeAspect="1" noChangeArrowheads="1"/>
          </p:cNvPicPr>
          <p:nvPr>
            <p:ph idx="1"/>
          </p:nvPr>
        </p:nvPicPr>
        <p:blipFill>
          <a:blip r:embed="rId3"/>
          <a:srcRect l="19787" t="12973" r="19787" b="23297"/>
          <a:stretch>
            <a:fillRect/>
          </a:stretch>
        </p:blipFill>
        <p:spPr bwMode="auto">
          <a:xfrm>
            <a:off x="714348" y="1785926"/>
            <a:ext cx="7940899" cy="4572032"/>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4290"/>
            <a:ext cx="8229600" cy="1143000"/>
          </a:xfrm>
        </p:spPr>
        <p:txBody>
          <a:bodyPr>
            <a:normAutofit/>
          </a:bodyPr>
          <a:lstStyle/>
          <a:p>
            <a:r>
              <a:rPr lang="en-US" b="1" dirty="0" smtClean="0"/>
              <a:t>Managing Component </a:t>
            </a:r>
            <a:r>
              <a:rPr lang="en-US" b="1" dirty="0" smtClean="0"/>
              <a:t>Placement</a:t>
            </a:r>
            <a:endParaRPr lang="en-US" b="1" dirty="0"/>
          </a:p>
        </p:txBody>
      </p:sp>
      <p:sp>
        <p:nvSpPr>
          <p:cNvPr id="3" name="Content Placeholder 2"/>
          <p:cNvSpPr>
            <a:spLocks noGrp="1"/>
          </p:cNvSpPr>
          <p:nvPr>
            <p:ph idx="1"/>
          </p:nvPr>
        </p:nvSpPr>
        <p:spPr/>
        <p:txBody>
          <a:bodyPr>
            <a:normAutofit/>
          </a:bodyPr>
          <a:lstStyle/>
          <a:p>
            <a:pPr>
              <a:spcBef>
                <a:spcPts val="600"/>
              </a:spcBef>
              <a:spcAft>
                <a:spcPts val="600"/>
              </a:spcAft>
            </a:pPr>
            <a:r>
              <a:rPr lang="en-US" sz="2400" b="1" dirty="0" smtClean="0"/>
              <a:t>Why</a:t>
            </a:r>
            <a:r>
              <a:rPr lang="en-US" sz="2400" b="1" dirty="0" smtClean="0"/>
              <a:t>?</a:t>
            </a:r>
            <a:r>
              <a:rPr lang="en-US" sz="2400" dirty="0" smtClean="0"/>
              <a:t> Hard-coding coordinates (</a:t>
            </a:r>
            <a:r>
              <a:rPr lang="en-US" sz="2400" dirty="0" err="1" smtClean="0"/>
              <a:t>setBounds</a:t>
            </a:r>
            <a:r>
              <a:rPr lang="en-US" sz="2400" dirty="0" smtClean="0"/>
              <a:t>) is bad practice (doesn't scale, ignores OS font sizes).</a:t>
            </a:r>
          </a:p>
          <a:p>
            <a:pPr>
              <a:spcBef>
                <a:spcPts val="600"/>
              </a:spcBef>
              <a:spcAft>
                <a:spcPts val="600"/>
              </a:spcAft>
            </a:pPr>
            <a:r>
              <a:rPr lang="en-US" sz="2400" b="1" dirty="0" smtClean="0"/>
              <a:t>Layout Managers</a:t>
            </a:r>
            <a:r>
              <a:rPr lang="en-US" sz="2400" dirty="0" smtClean="0"/>
              <a:t> automatically arrange components.</a:t>
            </a:r>
          </a:p>
          <a:p>
            <a:pPr>
              <a:spcBef>
                <a:spcPts val="600"/>
              </a:spcBef>
              <a:spcAft>
                <a:spcPts val="600"/>
              </a:spcAft>
            </a:pPr>
            <a:r>
              <a:rPr lang="en-US" sz="2400" b="1" dirty="0" smtClean="0"/>
              <a:t>Common Layouts:</a:t>
            </a:r>
            <a:endParaRPr lang="en-US" sz="2400" dirty="0" smtClean="0"/>
          </a:p>
          <a:p>
            <a:pPr lvl="1">
              <a:spcBef>
                <a:spcPts val="600"/>
              </a:spcBef>
              <a:spcAft>
                <a:spcPts val="600"/>
              </a:spcAft>
            </a:pPr>
            <a:r>
              <a:rPr lang="en-US" sz="2400" b="1" dirty="0" err="1" smtClean="0"/>
              <a:t>BorderLayout</a:t>
            </a:r>
            <a:r>
              <a:rPr lang="en-US" sz="2400" dirty="0" smtClean="0"/>
              <a:t>: North, South, East, West, Center (Default for </a:t>
            </a:r>
            <a:r>
              <a:rPr lang="en-US" sz="2400" dirty="0" err="1" smtClean="0"/>
              <a:t>JFrame</a:t>
            </a:r>
            <a:r>
              <a:rPr lang="en-US" sz="2400" dirty="0" smtClean="0"/>
              <a:t>).</a:t>
            </a:r>
          </a:p>
          <a:p>
            <a:pPr lvl="1">
              <a:spcBef>
                <a:spcPts val="600"/>
              </a:spcBef>
              <a:spcAft>
                <a:spcPts val="600"/>
              </a:spcAft>
            </a:pPr>
            <a:r>
              <a:rPr lang="en-US" sz="2400" b="1" dirty="0" err="1" smtClean="0"/>
              <a:t>FlowLayout</a:t>
            </a:r>
            <a:r>
              <a:rPr lang="en-US" sz="2400" dirty="0" smtClean="0"/>
              <a:t>: Left-to-right, wraps lines (Default for </a:t>
            </a:r>
            <a:r>
              <a:rPr lang="en-US" sz="2400" dirty="0" err="1" smtClean="0"/>
              <a:t>JPanel</a:t>
            </a:r>
            <a:r>
              <a:rPr lang="en-US" sz="2400" dirty="0" smtClean="0"/>
              <a:t>).</a:t>
            </a:r>
          </a:p>
          <a:p>
            <a:pPr lvl="1">
              <a:spcBef>
                <a:spcPts val="600"/>
              </a:spcBef>
              <a:spcAft>
                <a:spcPts val="600"/>
              </a:spcAft>
            </a:pPr>
            <a:r>
              <a:rPr lang="en-US" sz="2400" b="1" dirty="0" err="1" smtClean="0"/>
              <a:t>GridLayout</a:t>
            </a:r>
            <a:r>
              <a:rPr lang="en-US" sz="2400" dirty="0" smtClean="0"/>
              <a:t>: Grid of equal-sized cells.</a:t>
            </a:r>
          </a:p>
          <a:p>
            <a:pPr lvl="1">
              <a:spcBef>
                <a:spcPts val="600"/>
              </a:spcBef>
              <a:spcAft>
                <a:spcPts val="600"/>
              </a:spcAft>
            </a:pPr>
            <a:r>
              <a:rPr lang="en-US" sz="2400" b="1" dirty="0" err="1" smtClean="0"/>
              <a:t>BoxLayout</a:t>
            </a:r>
            <a:r>
              <a:rPr lang="en-US" sz="2400" dirty="0" smtClean="0"/>
              <a:t>: Single row or column</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1414"/>
            <a:ext cx="8229600" cy="1143000"/>
          </a:xfrm>
        </p:spPr>
        <p:txBody>
          <a:bodyPr/>
          <a:lstStyle/>
          <a:p>
            <a:r>
              <a:rPr lang="en-US" b="1" dirty="0" smtClean="0"/>
              <a:t>Layout Manager</a:t>
            </a:r>
            <a:endParaRPr lang="en-US" b="1" dirty="0"/>
          </a:p>
        </p:txBody>
      </p:sp>
      <p:sp>
        <p:nvSpPr>
          <p:cNvPr id="3" name="Content Placeholder 2"/>
          <p:cNvSpPr>
            <a:spLocks noGrp="1"/>
          </p:cNvSpPr>
          <p:nvPr>
            <p:ph idx="1"/>
          </p:nvPr>
        </p:nvSpPr>
        <p:spPr>
          <a:xfrm>
            <a:off x="457200" y="1285860"/>
            <a:ext cx="8472518" cy="5429288"/>
          </a:xfrm>
        </p:spPr>
        <p:txBody>
          <a:bodyPr>
            <a:noAutofit/>
          </a:bodyPr>
          <a:lstStyle/>
          <a:p>
            <a:r>
              <a:rPr lang="en-US" sz="2400" b="1" dirty="0" err="1" smtClean="0"/>
              <a:t>BorderLayout:</a:t>
            </a:r>
            <a:r>
              <a:rPr lang="en-US" sz="2400" dirty="0" err="1" smtClean="0"/>
              <a:t>java</a:t>
            </a:r>
            <a:endParaRPr lang="en-US" sz="2400" dirty="0" smtClean="0"/>
          </a:p>
          <a:p>
            <a:endParaRPr lang="en-US" sz="1050" dirty="0" smtClean="0"/>
          </a:p>
          <a:p>
            <a:pPr lvl="1" fontAlgn="ctr">
              <a:buNone/>
            </a:pPr>
            <a:r>
              <a:rPr lang="en-US" sz="2000" b="1" dirty="0" err="1" smtClean="0">
                <a:latin typeface="Courier New" pitchFamily="49" charset="0"/>
                <a:cs typeface="Courier New" pitchFamily="49" charset="0"/>
              </a:rPr>
              <a:t>frame.setLayout</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BorderLayout</a:t>
            </a:r>
            <a:r>
              <a:rPr lang="en-US" sz="2000" b="1" dirty="0" smtClean="0">
                <a:latin typeface="Courier New" pitchFamily="49" charset="0"/>
                <a:cs typeface="Courier New" pitchFamily="49" charset="0"/>
              </a:rPr>
              <a:t>());</a:t>
            </a:r>
          </a:p>
          <a:p>
            <a:pPr lvl="1" fontAlgn="ctr">
              <a:buNone/>
            </a:pPr>
            <a:r>
              <a:rPr lang="en-US" sz="2000" b="1" dirty="0" err="1" smtClean="0">
                <a:latin typeface="Courier New" pitchFamily="49" charset="0"/>
                <a:cs typeface="Courier New" pitchFamily="49" charset="0"/>
              </a:rPr>
              <a:t>frame.add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("North"), </a:t>
            </a:r>
            <a:r>
              <a:rPr lang="en-US" sz="2000" b="1" dirty="0" err="1" smtClean="0">
                <a:latin typeface="Courier New" pitchFamily="49" charset="0"/>
                <a:cs typeface="Courier New" pitchFamily="49" charset="0"/>
              </a:rPr>
              <a:t>BorderLayout.NORTH</a:t>
            </a:r>
            <a:r>
              <a:rPr lang="en-US" sz="2000" b="1" dirty="0" smtClean="0">
                <a:latin typeface="Courier New" pitchFamily="49" charset="0"/>
                <a:cs typeface="Courier New" pitchFamily="49" charset="0"/>
              </a:rPr>
              <a:t>);</a:t>
            </a:r>
          </a:p>
          <a:p>
            <a:pPr lvl="1" fontAlgn="ctr">
              <a:buNone/>
            </a:pPr>
            <a:r>
              <a:rPr lang="en-US" sz="2000" b="1" dirty="0" err="1" smtClean="0">
                <a:latin typeface="Courier New" pitchFamily="49" charset="0"/>
                <a:cs typeface="Courier New" pitchFamily="49" charset="0"/>
              </a:rPr>
              <a:t>frame.add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("Center"), </a:t>
            </a:r>
            <a:r>
              <a:rPr lang="en-US" sz="2000" b="1" dirty="0" err="1" smtClean="0">
                <a:latin typeface="Courier New" pitchFamily="49" charset="0"/>
                <a:cs typeface="Courier New" pitchFamily="49" charset="0"/>
              </a:rPr>
              <a:t>BorderLayout.CENTER</a:t>
            </a:r>
            <a:r>
              <a:rPr lang="en-US" sz="2000" b="1" dirty="0" smtClean="0">
                <a:latin typeface="Courier New" pitchFamily="49" charset="0"/>
                <a:cs typeface="Courier New" pitchFamily="49" charset="0"/>
              </a:rPr>
              <a:t>); </a:t>
            </a:r>
            <a:endParaRPr lang="en-US" sz="2000" b="1" dirty="0" smtClean="0">
              <a:latin typeface="Courier New" pitchFamily="49" charset="0"/>
              <a:cs typeface="Courier New" pitchFamily="49" charset="0"/>
            </a:endParaRPr>
          </a:p>
          <a:p>
            <a:pPr fontAlgn="ctr"/>
            <a:endParaRPr lang="en-US" sz="600" b="1" dirty="0" smtClean="0"/>
          </a:p>
          <a:p>
            <a:pPr fontAlgn="ctr"/>
            <a:r>
              <a:rPr lang="en-US" sz="2400" b="1" dirty="0" err="1" smtClean="0"/>
              <a:t>GridLayout:</a:t>
            </a:r>
            <a:r>
              <a:rPr lang="en-US" sz="2400" dirty="0" err="1" smtClean="0"/>
              <a:t>java</a:t>
            </a:r>
            <a:endParaRPr lang="en-US" sz="2400" dirty="0" smtClean="0"/>
          </a:p>
          <a:p>
            <a:pPr fontAlgn="ctr"/>
            <a:endParaRPr lang="en-US" sz="1050" dirty="0" smtClean="0"/>
          </a:p>
          <a:p>
            <a:pPr lvl="1" fontAlgn="ctr"/>
            <a:r>
              <a:rPr lang="en-US" sz="2000" b="1" dirty="0" err="1" smtClean="0">
                <a:latin typeface="Courier New" pitchFamily="49" charset="0"/>
                <a:cs typeface="Courier New" pitchFamily="49" charset="0"/>
              </a:rPr>
              <a:t>JPanel</a:t>
            </a:r>
            <a:r>
              <a:rPr lang="en-US" sz="2000" b="1" dirty="0" smtClean="0">
                <a:latin typeface="Courier New" pitchFamily="49" charset="0"/>
                <a:cs typeface="Courier New" pitchFamily="49" charset="0"/>
              </a:rPr>
              <a:t> panel = new </a:t>
            </a:r>
            <a:r>
              <a:rPr lang="en-US" sz="2000" b="1" dirty="0" err="1" smtClean="0">
                <a:latin typeface="Courier New" pitchFamily="49" charset="0"/>
                <a:cs typeface="Courier New" pitchFamily="49" charset="0"/>
              </a:rPr>
              <a:t>JPanel</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GridLayout</a:t>
            </a:r>
            <a:r>
              <a:rPr lang="en-US" sz="2000" b="1" dirty="0" smtClean="0">
                <a:latin typeface="Courier New" pitchFamily="49" charset="0"/>
                <a:cs typeface="Courier New" pitchFamily="49" charset="0"/>
              </a:rPr>
              <a:t>(2, 2)); // 2 rows, 2 cols</a:t>
            </a:r>
          </a:p>
          <a:p>
            <a:pPr lvl="1" fontAlgn="ctr"/>
            <a:r>
              <a:rPr lang="en-US" sz="2000" b="1" dirty="0" err="1" smtClean="0">
                <a:latin typeface="Courier New" pitchFamily="49" charset="0"/>
                <a:cs typeface="Courier New" pitchFamily="49" charset="0"/>
              </a:rPr>
              <a:t>panel.add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("1"));</a:t>
            </a:r>
          </a:p>
          <a:p>
            <a:pPr lvl="1" fontAlgn="ctr"/>
            <a:r>
              <a:rPr lang="en-US" sz="2000" b="1" dirty="0" err="1" smtClean="0">
                <a:latin typeface="Courier New" pitchFamily="49" charset="0"/>
                <a:cs typeface="Courier New" pitchFamily="49" charset="0"/>
              </a:rPr>
              <a:t>panel.add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("2")); </a:t>
            </a:r>
            <a:endParaRPr lang="en-US" sz="2000" b="1" dirty="0" smtClean="0">
              <a:latin typeface="Courier New" pitchFamily="49" charset="0"/>
              <a:cs typeface="Courier New" pitchFamily="49" charset="0"/>
            </a:endParaRPr>
          </a:p>
          <a:p>
            <a:pPr fontAlgn="ctr"/>
            <a:endParaRPr lang="en-US" sz="700" b="1" dirty="0" smtClean="0"/>
          </a:p>
          <a:p>
            <a:pPr fontAlgn="ctr"/>
            <a:r>
              <a:rPr lang="en-US" sz="2400" b="1" dirty="0" smtClean="0"/>
              <a:t>Nested Layouts:</a:t>
            </a:r>
            <a:endParaRPr lang="en-US" sz="2400" dirty="0" smtClean="0"/>
          </a:p>
          <a:p>
            <a:pPr lvl="1"/>
            <a:r>
              <a:rPr lang="en-US" sz="2400" dirty="0" smtClean="0"/>
              <a:t>Combine </a:t>
            </a:r>
            <a:r>
              <a:rPr lang="en-US" sz="2400" dirty="0" smtClean="0"/>
              <a:t>panels with different layouts to create complex UIs</a:t>
            </a:r>
            <a:r>
              <a:rPr lang="en-US" sz="2400" dirty="0" smtClean="0"/>
              <a:t>.</a:t>
            </a:r>
            <a:endParaRPr lang="en-US" sz="2400" dirty="0" smtClean="0"/>
          </a:p>
          <a:p>
            <a:endParaRPr lang="en-US" sz="24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Diagram showing the 5 regions of </a:t>
            </a:r>
            <a:r>
              <a:rPr lang="en-US" b="1" dirty="0" err="1" smtClean="0"/>
              <a:t>BorderLayout</a:t>
            </a:r>
            <a:r>
              <a:rPr lang="en-US" b="1" dirty="0" smtClean="0"/>
              <a:t> and a 2x2 grid</a:t>
            </a:r>
            <a:r>
              <a:rPr lang="en-US" b="1" dirty="0" smtClean="0"/>
              <a:t>.</a:t>
            </a:r>
            <a:endParaRPr lang="en-US" b="1" dirty="0"/>
          </a:p>
        </p:txBody>
      </p:sp>
      <p:pic>
        <p:nvPicPr>
          <p:cNvPr id="2050" name="Picture 2"/>
          <p:cNvPicPr>
            <a:picLocks noGrp="1" noChangeAspect="1" noChangeArrowheads="1"/>
          </p:cNvPicPr>
          <p:nvPr>
            <p:ph idx="1"/>
          </p:nvPr>
        </p:nvPicPr>
        <p:blipFill>
          <a:blip r:embed="rId2"/>
          <a:srcRect/>
          <a:stretch>
            <a:fillRect/>
          </a:stretch>
        </p:blipFill>
        <p:spPr bwMode="auto">
          <a:xfrm>
            <a:off x="670560" y="1733391"/>
            <a:ext cx="7802880" cy="425958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596" y="142852"/>
            <a:ext cx="8229600" cy="796908"/>
          </a:xfrm>
        </p:spPr>
        <p:txBody>
          <a:bodyPr>
            <a:normAutofit/>
          </a:bodyPr>
          <a:lstStyle/>
          <a:p>
            <a:r>
              <a:rPr lang="en-US" b="1" dirty="0" smtClean="0"/>
              <a:t>The Delegation Event </a:t>
            </a:r>
            <a:r>
              <a:rPr lang="en-US" b="1" dirty="0" smtClean="0"/>
              <a:t>Model</a:t>
            </a:r>
            <a:endParaRPr lang="en-US" dirty="0"/>
          </a:p>
        </p:txBody>
      </p:sp>
      <p:sp>
        <p:nvSpPr>
          <p:cNvPr id="3" name="Content Placeholder 2"/>
          <p:cNvSpPr>
            <a:spLocks noGrp="1"/>
          </p:cNvSpPr>
          <p:nvPr>
            <p:ph idx="1"/>
          </p:nvPr>
        </p:nvSpPr>
        <p:spPr>
          <a:xfrm>
            <a:off x="500034" y="1214423"/>
            <a:ext cx="8229600" cy="2786082"/>
          </a:xfrm>
        </p:spPr>
        <p:txBody>
          <a:bodyPr>
            <a:normAutofit/>
          </a:bodyPr>
          <a:lstStyle/>
          <a:p>
            <a:r>
              <a:rPr lang="en-US" sz="2400" b="1" dirty="0" smtClean="0"/>
              <a:t>How </a:t>
            </a:r>
            <a:r>
              <a:rPr lang="en-US" sz="2400" b="1" dirty="0" smtClean="0"/>
              <a:t>Events Work</a:t>
            </a:r>
          </a:p>
          <a:p>
            <a:pPr lvl="1"/>
            <a:r>
              <a:rPr lang="en-US" sz="2400" b="1" dirty="0" smtClean="0"/>
              <a:t>Source:</a:t>
            </a:r>
            <a:r>
              <a:rPr lang="en-US" sz="2400" dirty="0" smtClean="0"/>
              <a:t> The component (e.g., </a:t>
            </a:r>
            <a:r>
              <a:rPr lang="en-US" sz="2400" dirty="0" err="1" smtClean="0"/>
              <a:t>JButton</a:t>
            </a:r>
            <a:r>
              <a:rPr lang="en-US" sz="2400" dirty="0" smtClean="0"/>
              <a:t>).</a:t>
            </a:r>
          </a:p>
          <a:p>
            <a:pPr lvl="1"/>
            <a:r>
              <a:rPr lang="en-US" sz="2400" b="1" dirty="0" smtClean="0"/>
              <a:t>Event:</a:t>
            </a:r>
            <a:r>
              <a:rPr lang="en-US" sz="2400" dirty="0" smtClean="0"/>
              <a:t> An object describing the change (e.g., </a:t>
            </a:r>
            <a:r>
              <a:rPr lang="en-US" sz="2400" dirty="0" err="1" smtClean="0"/>
              <a:t>ActionEvent</a:t>
            </a:r>
            <a:r>
              <a:rPr lang="en-US" sz="2400" dirty="0" smtClean="0"/>
              <a:t>).</a:t>
            </a:r>
          </a:p>
          <a:p>
            <a:pPr lvl="1"/>
            <a:r>
              <a:rPr lang="en-US" sz="2400" b="1" dirty="0" smtClean="0"/>
              <a:t>Listener:</a:t>
            </a:r>
            <a:r>
              <a:rPr lang="en-US" sz="2400" dirty="0" smtClean="0"/>
              <a:t> An interface that waits for the event (e.g., </a:t>
            </a:r>
            <a:r>
              <a:rPr lang="en-US" sz="2400" dirty="0" err="1" smtClean="0"/>
              <a:t>ActionListener</a:t>
            </a:r>
            <a:r>
              <a:rPr lang="en-US" sz="2400" dirty="0" smtClean="0"/>
              <a:t>).</a:t>
            </a:r>
          </a:p>
          <a:p>
            <a:pPr lvl="1"/>
            <a:r>
              <a:rPr lang="en-US" sz="2400" b="1" dirty="0" smtClean="0"/>
              <a:t>Registration:</a:t>
            </a:r>
            <a:r>
              <a:rPr lang="en-US" sz="2400" dirty="0" smtClean="0"/>
              <a:t> </a:t>
            </a:r>
            <a:r>
              <a:rPr lang="en-US" sz="2400" dirty="0" err="1" smtClean="0"/>
              <a:t>component.addListener</a:t>
            </a:r>
            <a:r>
              <a:rPr lang="en-US" sz="2400" dirty="0" smtClean="0"/>
              <a:t>(this)</a:t>
            </a:r>
          </a:p>
          <a:p>
            <a:endParaRPr lang="en-US" sz="2400" dirty="0"/>
          </a:p>
        </p:txBody>
      </p:sp>
      <p:sp>
        <p:nvSpPr>
          <p:cNvPr id="4" name="Content Placeholder 2"/>
          <p:cNvSpPr txBox="1">
            <a:spLocks/>
          </p:cNvSpPr>
          <p:nvPr/>
        </p:nvSpPr>
        <p:spPr>
          <a:xfrm>
            <a:off x="500034" y="4071918"/>
            <a:ext cx="8229600" cy="2428916"/>
          </a:xfrm>
          <a:prstGeom prst="rect">
            <a:avLst/>
          </a:prstGeom>
        </p:spPr>
        <p:txBody>
          <a:bodyPr vert="horz" lIns="91440" tIns="45720" rIns="91440" bIns="45720" rtlCol="0">
            <a:normAutofit fontScale="92500" lnSpcReduction="10000"/>
          </a:bodyPr>
          <a:lstStyle/>
          <a:p>
            <a:pPr marL="457200" indent="-457200">
              <a:spcBef>
                <a:spcPts val="600"/>
              </a:spcBef>
              <a:spcAft>
                <a:spcPts val="600"/>
              </a:spcAft>
            </a:pPr>
            <a:r>
              <a:rPr lang="en-US" sz="2400" b="1" dirty="0" smtClean="0"/>
              <a:t>Flow:</a:t>
            </a:r>
            <a:endParaRPr lang="en-US" sz="2400" dirty="0" smtClean="0"/>
          </a:p>
          <a:p>
            <a:pPr marL="457200" indent="-457200">
              <a:spcBef>
                <a:spcPts val="600"/>
              </a:spcBef>
              <a:spcAft>
                <a:spcPts val="600"/>
              </a:spcAft>
              <a:buFont typeface="Arial" pitchFamily="34" charset="0"/>
              <a:buChar char="•"/>
            </a:pPr>
            <a:r>
              <a:rPr lang="en-US" sz="2400" dirty="0" smtClean="0"/>
              <a:t>User clicks button.</a:t>
            </a:r>
          </a:p>
          <a:p>
            <a:pPr marL="457200" indent="-457200">
              <a:spcBef>
                <a:spcPts val="600"/>
              </a:spcBef>
              <a:spcAft>
                <a:spcPts val="600"/>
              </a:spcAft>
              <a:buFont typeface="Arial" pitchFamily="34" charset="0"/>
              <a:buChar char="•"/>
            </a:pPr>
            <a:r>
              <a:rPr lang="en-US" sz="2400" dirty="0" smtClean="0"/>
              <a:t>Button creates </a:t>
            </a:r>
            <a:r>
              <a:rPr lang="en-US" sz="2400" dirty="0" err="1" smtClean="0"/>
              <a:t>ActionEvent</a:t>
            </a:r>
            <a:r>
              <a:rPr lang="en-US" sz="2400" dirty="0" smtClean="0"/>
              <a:t>.</a:t>
            </a:r>
          </a:p>
          <a:p>
            <a:pPr marL="457200" indent="-457200">
              <a:spcBef>
                <a:spcPts val="600"/>
              </a:spcBef>
              <a:spcAft>
                <a:spcPts val="600"/>
              </a:spcAft>
              <a:buFont typeface="Arial" pitchFamily="34" charset="0"/>
              <a:buChar char="•"/>
            </a:pPr>
            <a:r>
              <a:rPr lang="en-US" sz="2400" dirty="0" smtClean="0"/>
              <a:t>Button notifies registered </a:t>
            </a:r>
            <a:r>
              <a:rPr lang="en-US" sz="2400" dirty="0" err="1" smtClean="0"/>
              <a:t>ActionListener</a:t>
            </a:r>
            <a:r>
              <a:rPr lang="en-US" sz="2400" dirty="0" smtClean="0"/>
              <a:t>.</a:t>
            </a:r>
          </a:p>
          <a:p>
            <a:pPr marL="457200" indent="-457200">
              <a:spcBef>
                <a:spcPts val="600"/>
              </a:spcBef>
              <a:spcAft>
                <a:spcPts val="600"/>
              </a:spcAft>
              <a:buFont typeface="Arial" pitchFamily="34" charset="0"/>
              <a:buChar char="•"/>
            </a:pPr>
            <a:r>
              <a:rPr lang="en-US" sz="2400" dirty="0" err="1" smtClean="0"/>
              <a:t>actionPerformed</a:t>
            </a:r>
            <a:r>
              <a:rPr lang="en-US" sz="2400" dirty="0" smtClean="0"/>
              <a:t> method executes.</a:t>
            </a:r>
          </a:p>
          <a:p>
            <a:pPr marL="742950" marR="0" lvl="1" indent="-285750" algn="l" defTabSz="914400" rtl="0" eaLnBrk="1" fontAlgn="auto" latinLnBrk="0" hangingPunct="1">
              <a:lnSpc>
                <a:spcPct val="100000"/>
              </a:lnSpc>
              <a:spcBef>
                <a:spcPts val="600"/>
              </a:spcBef>
              <a:spcAft>
                <a:spcPts val="600"/>
              </a:spcAft>
              <a:buClrTx/>
              <a:buSzTx/>
              <a:buFont typeface="Arial" pitchFamily="34" charset="0"/>
              <a:buChar char="–"/>
              <a:tabLst/>
              <a:defRPr/>
            </a:pPr>
            <a:endParaRPr kumimoji="0" lang="en-US" sz="2400" b="0" i="0" u="none" strike="noStrike" kern="1200" cap="none" spc="0" normalizeH="0" baseline="0" noProof="0" dirty="0" smtClean="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ts val="600"/>
              </a:spcBef>
              <a:spcAft>
                <a:spcPts val="600"/>
              </a:spcAft>
              <a:buClrTx/>
              <a:buSzTx/>
              <a:buFont typeface="Arial" pitchFamily="34" charset="0"/>
              <a:buChar char="•"/>
              <a:tabLst/>
              <a:defRPr/>
            </a:pPr>
            <a:endParaRPr kumimoji="0" lang="en-US" sz="24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Implementing </a:t>
            </a:r>
            <a:r>
              <a:rPr lang="en-US" b="1" dirty="0" smtClean="0"/>
              <a:t>Listeners</a:t>
            </a:r>
            <a:endParaRPr lang="en-US" dirty="0"/>
          </a:p>
        </p:txBody>
      </p:sp>
      <p:sp>
        <p:nvSpPr>
          <p:cNvPr id="3" name="Content Placeholder 2"/>
          <p:cNvSpPr>
            <a:spLocks noGrp="1"/>
          </p:cNvSpPr>
          <p:nvPr>
            <p:ph idx="1"/>
          </p:nvPr>
        </p:nvSpPr>
        <p:spPr>
          <a:xfrm>
            <a:off x="457200" y="1600201"/>
            <a:ext cx="8229600" cy="2400303"/>
          </a:xfrm>
        </p:spPr>
        <p:txBody>
          <a:bodyPr>
            <a:normAutofit/>
          </a:bodyPr>
          <a:lstStyle/>
          <a:p>
            <a:r>
              <a:rPr lang="en-US" sz="2800" dirty="0" smtClean="0"/>
              <a:t>Handling </a:t>
            </a:r>
            <a:r>
              <a:rPr lang="en-US" sz="2800" dirty="0" smtClean="0"/>
              <a:t>Button Clicks</a:t>
            </a:r>
          </a:p>
          <a:p>
            <a:pPr lvl="1"/>
            <a:r>
              <a:rPr lang="en-US" sz="2400" b="1" dirty="0" smtClean="0"/>
              <a:t>Option 1:</a:t>
            </a:r>
            <a:r>
              <a:rPr lang="en-US" sz="2400" dirty="0" smtClean="0"/>
              <a:t> Class implements </a:t>
            </a:r>
            <a:r>
              <a:rPr lang="en-US" sz="2400" dirty="0" err="1" smtClean="0"/>
              <a:t>ActionListener</a:t>
            </a:r>
            <a:r>
              <a:rPr lang="en-US" sz="2400" dirty="0" smtClean="0"/>
              <a:t>.</a:t>
            </a:r>
          </a:p>
          <a:p>
            <a:pPr lvl="1"/>
            <a:r>
              <a:rPr lang="en-US" sz="2400" b="1" dirty="0" smtClean="0"/>
              <a:t>Option 2:</a:t>
            </a:r>
            <a:r>
              <a:rPr lang="en-US" sz="2400" dirty="0" smtClean="0"/>
              <a:t> Anonymous Inner Class (Common for simple UIs).</a:t>
            </a:r>
          </a:p>
          <a:p>
            <a:pPr lvl="1"/>
            <a:r>
              <a:rPr lang="en-US" sz="2400" b="1" dirty="0" smtClean="0"/>
              <a:t>Option 3:</a:t>
            </a:r>
            <a:r>
              <a:rPr lang="en-US" sz="2400" dirty="0" smtClean="0"/>
              <a:t> Lambda Expression (Java 8+).</a:t>
            </a:r>
          </a:p>
          <a:p>
            <a:endParaRPr lang="en-US" sz="2800" dirty="0"/>
          </a:p>
        </p:txBody>
      </p:sp>
      <p:sp>
        <p:nvSpPr>
          <p:cNvPr id="4" name="Content Placeholder 2"/>
          <p:cNvSpPr txBox="1">
            <a:spLocks/>
          </p:cNvSpPr>
          <p:nvPr/>
        </p:nvSpPr>
        <p:spPr>
          <a:xfrm>
            <a:off x="1071538" y="4214818"/>
            <a:ext cx="7286676" cy="2286016"/>
          </a:xfrm>
          <a:prstGeom prst="rect">
            <a:avLst/>
          </a:prstGeom>
          <a:ln>
            <a:solidFill>
              <a:schemeClr val="accent1"/>
            </a:solidFill>
          </a:ln>
          <a:effectLst/>
          <a:scene3d>
            <a:camera prst="orthographicFront">
              <a:rot lat="0" lon="0" rev="0"/>
            </a:camera>
            <a:lightRig rig="contrasting" dir="t">
              <a:rot lat="0" lon="0" rev="7800000"/>
            </a:lightRig>
          </a:scene3d>
          <a:sp3d>
            <a:bevelT w="139700" h="139700"/>
          </a:sp3d>
        </p:spPr>
        <p:txBody>
          <a:bodyPr vert="horz" lIns="91440" tIns="45720" rIns="91440" bIns="45720" rtlCol="0">
            <a:normAutofit/>
          </a:bodyPr>
          <a:lstStyle/>
          <a:p>
            <a:pPr marL="342900" lvl="0" indent="-342900">
              <a:spcBef>
                <a:spcPct val="20000"/>
              </a:spcBef>
            </a:pPr>
            <a:r>
              <a:rPr lang="en-US" sz="2200" b="1" dirty="0" smtClean="0">
                <a:solidFill>
                  <a:schemeClr val="bg1">
                    <a:lumMod val="65000"/>
                  </a:schemeClr>
                </a:solidFill>
                <a:latin typeface="Courier New" pitchFamily="49" charset="0"/>
                <a:cs typeface="Courier New" pitchFamily="49" charset="0"/>
              </a:rPr>
              <a:t>// Lambda Approach</a:t>
            </a:r>
          </a:p>
          <a:p>
            <a:pPr marL="342900" lvl="0" indent="-342900">
              <a:spcBef>
                <a:spcPct val="20000"/>
              </a:spcBef>
            </a:pPr>
            <a:r>
              <a:rPr lang="en-US" sz="2200" b="1" dirty="0" err="1" smtClean="0">
                <a:latin typeface="Courier New" pitchFamily="49" charset="0"/>
                <a:cs typeface="Courier New" pitchFamily="49" charset="0"/>
              </a:rPr>
              <a:t>button.</a:t>
            </a:r>
            <a:r>
              <a:rPr lang="en-US" sz="2200" b="1" dirty="0" err="1" smtClean="0">
                <a:solidFill>
                  <a:srgbClr val="5832F8"/>
                </a:solidFill>
                <a:latin typeface="Courier New" pitchFamily="49" charset="0"/>
                <a:cs typeface="Courier New" pitchFamily="49" charset="0"/>
              </a:rPr>
              <a:t>addActionListener</a:t>
            </a:r>
            <a:r>
              <a:rPr lang="en-US" sz="2200" b="1" dirty="0" smtClean="0">
                <a:latin typeface="Courier New" pitchFamily="49" charset="0"/>
                <a:cs typeface="Courier New" pitchFamily="49" charset="0"/>
              </a:rPr>
              <a:t>(e -&gt; {</a:t>
            </a:r>
          </a:p>
          <a:p>
            <a:pPr marL="342900" lvl="0" indent="-342900">
              <a:spcBef>
                <a:spcPct val="20000"/>
              </a:spcBef>
            </a:pPr>
            <a:r>
              <a:rPr lang="en-US" sz="2200" b="1" dirty="0" smtClean="0">
                <a:latin typeface="Courier New" pitchFamily="49" charset="0"/>
                <a:cs typeface="Courier New" pitchFamily="49" charset="0"/>
              </a:rPr>
              <a:t>    String text = </a:t>
            </a:r>
            <a:r>
              <a:rPr lang="en-US" sz="2200" b="1" dirty="0" err="1" smtClean="0">
                <a:latin typeface="Courier New" pitchFamily="49" charset="0"/>
                <a:cs typeface="Courier New" pitchFamily="49" charset="0"/>
              </a:rPr>
              <a:t>textField.</a:t>
            </a:r>
            <a:r>
              <a:rPr lang="en-US" sz="2200" b="1" dirty="0" err="1" smtClean="0">
                <a:solidFill>
                  <a:srgbClr val="5832F8"/>
                </a:solidFill>
                <a:latin typeface="Courier New" pitchFamily="49" charset="0"/>
                <a:cs typeface="Courier New" pitchFamily="49" charset="0"/>
              </a:rPr>
              <a:t>getText</a:t>
            </a:r>
            <a:r>
              <a:rPr lang="en-US" sz="2200" b="1" dirty="0" smtClean="0">
                <a:latin typeface="Courier New" pitchFamily="49" charset="0"/>
                <a:cs typeface="Courier New" pitchFamily="49" charset="0"/>
              </a:rPr>
              <a:t>();</a:t>
            </a:r>
          </a:p>
          <a:p>
            <a:pPr marL="342900" lvl="0" indent="-342900">
              <a:spcBef>
                <a:spcPct val="20000"/>
              </a:spcBef>
            </a:pPr>
            <a:r>
              <a:rPr lang="en-US" sz="2200" b="1" dirty="0" smtClean="0">
                <a:latin typeface="Courier New" pitchFamily="49" charset="0"/>
                <a:cs typeface="Courier New" pitchFamily="49" charset="0"/>
              </a:rPr>
              <a:t>    </a:t>
            </a:r>
            <a:r>
              <a:rPr lang="en-US" sz="2200" b="1" dirty="0" err="1" smtClean="0">
                <a:latin typeface="Courier New" pitchFamily="49" charset="0"/>
                <a:cs typeface="Courier New" pitchFamily="49" charset="0"/>
              </a:rPr>
              <a:t>label.</a:t>
            </a:r>
            <a:r>
              <a:rPr lang="en-US" sz="2200" b="1" dirty="0" err="1" smtClean="0">
                <a:solidFill>
                  <a:srgbClr val="5832F8"/>
                </a:solidFill>
                <a:latin typeface="Courier New" pitchFamily="49" charset="0"/>
                <a:cs typeface="Courier New" pitchFamily="49" charset="0"/>
              </a:rPr>
              <a:t>setText</a:t>
            </a:r>
            <a:r>
              <a:rPr lang="en-US" sz="2200" b="1" dirty="0" smtClean="0">
                <a:latin typeface="Courier New" pitchFamily="49" charset="0"/>
                <a:cs typeface="Courier New" pitchFamily="49" charset="0"/>
              </a:rPr>
              <a:t>("Hello " + text);</a:t>
            </a:r>
          </a:p>
          <a:p>
            <a:pPr marL="342900" lvl="0" indent="-342900">
              <a:spcBef>
                <a:spcPct val="20000"/>
              </a:spcBef>
            </a:pPr>
            <a:r>
              <a:rPr lang="en-US" sz="2200" b="1" dirty="0" smtClean="0">
                <a:latin typeface="Courier New" pitchFamily="49" charset="0"/>
                <a:cs typeface="Courier New" pitchFamily="49" charset="0"/>
              </a:rPr>
              <a:t>});</a:t>
            </a:r>
            <a:endParaRPr kumimoji="0" lang="en-US" sz="2200" b="1" i="0" u="none" strike="noStrike" kern="1200" cap="none" spc="0" normalizeH="0" baseline="0" noProof="0" dirty="0">
              <a:ln>
                <a:noFill/>
              </a:ln>
              <a:solidFill>
                <a:schemeClr val="tx1"/>
              </a:solidFill>
              <a:effectLst/>
              <a:uLnTx/>
              <a:uFillTx/>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28694"/>
          </a:xfrm>
        </p:spPr>
        <p:txBody>
          <a:bodyPr>
            <a:normAutofit/>
          </a:bodyPr>
          <a:lstStyle/>
          <a:p>
            <a:r>
              <a:rPr lang="en-US" b="1" dirty="0" smtClean="0"/>
              <a:t>Menus &amp; Standard </a:t>
            </a:r>
            <a:r>
              <a:rPr lang="en-US" b="1" dirty="0" smtClean="0"/>
              <a:t>Dialogs</a:t>
            </a:r>
            <a:endParaRPr lang="en-US" b="1" dirty="0"/>
          </a:p>
        </p:txBody>
      </p:sp>
      <p:sp>
        <p:nvSpPr>
          <p:cNvPr id="3" name="Content Placeholder 2"/>
          <p:cNvSpPr>
            <a:spLocks noGrp="1"/>
          </p:cNvSpPr>
          <p:nvPr>
            <p:ph idx="1"/>
          </p:nvPr>
        </p:nvSpPr>
        <p:spPr>
          <a:xfrm>
            <a:off x="500034" y="1643050"/>
            <a:ext cx="8229600" cy="2071702"/>
          </a:xfrm>
        </p:spPr>
        <p:txBody>
          <a:bodyPr>
            <a:normAutofit/>
          </a:bodyPr>
          <a:lstStyle/>
          <a:p>
            <a:r>
              <a:rPr lang="en-US" sz="2800" dirty="0" smtClean="0"/>
              <a:t>Menus</a:t>
            </a:r>
            <a:r>
              <a:rPr lang="en-US" sz="2800" dirty="0" smtClean="0"/>
              <a:t>: </a:t>
            </a:r>
            <a:r>
              <a:rPr lang="en-US" sz="2800" dirty="0" err="1" smtClean="0"/>
              <a:t>JMenuBar</a:t>
            </a:r>
            <a:r>
              <a:rPr lang="en-US" sz="2800" dirty="0" smtClean="0"/>
              <a:t>, </a:t>
            </a:r>
            <a:r>
              <a:rPr lang="en-US" sz="2800" dirty="0" err="1" smtClean="0"/>
              <a:t>JMenu</a:t>
            </a:r>
            <a:r>
              <a:rPr lang="en-US" sz="2800" dirty="0" smtClean="0"/>
              <a:t>, </a:t>
            </a:r>
            <a:r>
              <a:rPr lang="en-US" sz="2800" dirty="0" err="1" smtClean="0"/>
              <a:t>JMenuItem</a:t>
            </a:r>
            <a:r>
              <a:rPr lang="en-US" sz="2800" dirty="0" smtClean="0"/>
              <a:t>.</a:t>
            </a:r>
          </a:p>
          <a:p>
            <a:pPr lvl="1"/>
            <a:r>
              <a:rPr lang="en-US" sz="2400" dirty="0" smtClean="0"/>
              <a:t>Added to </a:t>
            </a:r>
            <a:r>
              <a:rPr lang="en-US" sz="2400" dirty="0" err="1" smtClean="0"/>
              <a:t>JFrame</a:t>
            </a:r>
            <a:r>
              <a:rPr lang="en-US" sz="2400" dirty="0" smtClean="0"/>
              <a:t> via </a:t>
            </a:r>
            <a:r>
              <a:rPr lang="en-US" sz="2400" dirty="0" err="1" smtClean="0"/>
              <a:t>setJMenuBar</a:t>
            </a:r>
            <a:r>
              <a:rPr lang="en-US" sz="2400" dirty="0" smtClean="0"/>
              <a:t>().</a:t>
            </a:r>
          </a:p>
          <a:p>
            <a:r>
              <a:rPr lang="en-US" sz="2800" dirty="0" smtClean="0"/>
              <a:t>Dialogs: </a:t>
            </a:r>
            <a:r>
              <a:rPr lang="en-US" sz="2800" dirty="0" err="1" smtClean="0"/>
              <a:t>JOptionPane</a:t>
            </a:r>
            <a:r>
              <a:rPr lang="en-US" sz="2800" dirty="0" smtClean="0"/>
              <a:t>.</a:t>
            </a:r>
          </a:p>
          <a:p>
            <a:pPr lvl="1"/>
            <a:r>
              <a:rPr lang="en-US" sz="2400" dirty="0" smtClean="0"/>
              <a:t>Quick </a:t>
            </a:r>
            <a:r>
              <a:rPr lang="en-US" sz="2400" dirty="0" err="1" smtClean="0"/>
              <a:t>popups</a:t>
            </a:r>
            <a:r>
              <a:rPr lang="en-US" sz="2400" dirty="0" smtClean="0"/>
              <a:t> for messages or input.</a:t>
            </a:r>
            <a:endParaRPr lang="en-US" sz="2400" dirty="0"/>
          </a:p>
        </p:txBody>
      </p:sp>
      <p:sp>
        <p:nvSpPr>
          <p:cNvPr id="4" name="Rectangle 3"/>
          <p:cNvSpPr/>
          <p:nvPr/>
        </p:nvSpPr>
        <p:spPr>
          <a:xfrm>
            <a:off x="428596" y="4429132"/>
            <a:ext cx="8429684" cy="1231106"/>
          </a:xfrm>
          <a:prstGeom prst="rect">
            <a:avLst/>
          </a:prstGeom>
          <a:ln>
            <a:solidFill>
              <a:schemeClr val="accent1"/>
            </a:solidFill>
          </a:ln>
        </p:spPr>
        <p:txBody>
          <a:bodyPr wrap="square">
            <a:spAutoFit/>
          </a:bodyPr>
          <a:lstStyle/>
          <a:p>
            <a:pPr>
              <a:spcBef>
                <a:spcPts val="600"/>
              </a:spcBef>
              <a:spcAft>
                <a:spcPts val="600"/>
              </a:spcAft>
            </a:pPr>
            <a:r>
              <a:rPr lang="en-US" b="1" dirty="0" err="1" smtClean="0">
                <a:solidFill>
                  <a:srgbClr val="C00000"/>
                </a:solidFill>
                <a:latin typeface="Courier New" pitchFamily="49" charset="0"/>
                <a:cs typeface="Courier New" pitchFamily="49" charset="0"/>
              </a:rPr>
              <a:t>JOptionPane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showMessageDialog</a:t>
            </a:r>
            <a:r>
              <a:rPr lang="en-US" b="1" dirty="0" smtClean="0">
                <a:latin typeface="Courier New" pitchFamily="49" charset="0"/>
                <a:cs typeface="Courier New" pitchFamily="49" charset="0"/>
              </a:rPr>
              <a:t>(frame, "Save Successful!");</a:t>
            </a:r>
          </a:p>
          <a:p>
            <a:pPr>
              <a:spcBef>
                <a:spcPts val="600"/>
              </a:spcBef>
              <a:spcAft>
                <a:spcPts val="600"/>
              </a:spcAft>
            </a:pPr>
            <a:r>
              <a:rPr lang="en-US" b="1" dirty="0" smtClean="0">
                <a:latin typeface="Courier New" pitchFamily="49" charset="0"/>
                <a:cs typeface="Courier New" pitchFamily="49" charset="0"/>
              </a:rPr>
              <a:t>String input = </a:t>
            </a:r>
            <a:r>
              <a:rPr lang="en-US" b="1" dirty="0" err="1" smtClean="0">
                <a:solidFill>
                  <a:srgbClr val="C00000"/>
                </a:solidFill>
                <a:latin typeface="Courier New" pitchFamily="49" charset="0"/>
                <a:cs typeface="Courier New" pitchFamily="49" charset="0"/>
              </a:rPr>
              <a:t>JOptionPane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showInputDialog</a:t>
            </a:r>
            <a:r>
              <a:rPr lang="en-US" b="1" dirty="0" smtClean="0">
                <a:latin typeface="Courier New" pitchFamily="49" charset="0"/>
                <a:cs typeface="Courier New" pitchFamily="49" charset="0"/>
              </a:rPr>
              <a:t>("Enter Name:");</a:t>
            </a:r>
          </a:p>
          <a:p>
            <a:pPr>
              <a:spcBef>
                <a:spcPts val="600"/>
              </a:spcBef>
              <a:spcAft>
                <a:spcPts val="600"/>
              </a:spcAft>
            </a:pPr>
            <a:r>
              <a:rPr lang="en-US" b="1" dirty="0" err="1" smtClean="0">
                <a:latin typeface="Courier New" pitchFamily="49" charset="0"/>
                <a:cs typeface="Courier New" pitchFamily="49" charset="0"/>
              </a:rPr>
              <a:t>int</a:t>
            </a:r>
            <a:r>
              <a:rPr lang="en-US" b="1" dirty="0" smtClean="0">
                <a:latin typeface="Courier New" pitchFamily="49" charset="0"/>
                <a:cs typeface="Courier New" pitchFamily="49" charset="0"/>
              </a:rPr>
              <a:t> confirm = </a:t>
            </a:r>
            <a:r>
              <a:rPr lang="en-US" b="1" dirty="0" err="1" smtClean="0">
                <a:solidFill>
                  <a:srgbClr val="C00000"/>
                </a:solidFill>
                <a:latin typeface="Courier New" pitchFamily="49" charset="0"/>
                <a:cs typeface="Courier New" pitchFamily="49" charset="0"/>
              </a:rPr>
              <a:t>JOptionPane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showConfirmDialog</a:t>
            </a:r>
            <a:r>
              <a:rPr lang="en-US" b="1" dirty="0" smtClean="0">
                <a:latin typeface="Courier New" pitchFamily="49" charset="0"/>
                <a:cs typeface="Courier New" pitchFamily="49" charset="0"/>
              </a:rPr>
              <a:t>(frame, "Exit?");</a:t>
            </a:r>
            <a:endParaRPr lang="en-US"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596" y="142852"/>
            <a:ext cx="8229600" cy="1000132"/>
          </a:xfrm>
        </p:spPr>
        <p:txBody>
          <a:bodyPr>
            <a:normAutofit/>
          </a:bodyPr>
          <a:lstStyle/>
          <a:p>
            <a:r>
              <a:rPr lang="en-US" b="1" dirty="0" smtClean="0"/>
              <a:t>The Event Dispatch Thread (EDT</a:t>
            </a:r>
            <a:r>
              <a:rPr lang="en-US" b="1" dirty="0" smtClean="0"/>
              <a:t>)</a:t>
            </a:r>
            <a:endParaRPr lang="en-US" b="1" dirty="0"/>
          </a:p>
        </p:txBody>
      </p:sp>
      <p:sp>
        <p:nvSpPr>
          <p:cNvPr id="3" name="Content Placeholder 2"/>
          <p:cNvSpPr>
            <a:spLocks noGrp="1"/>
          </p:cNvSpPr>
          <p:nvPr>
            <p:ph idx="1"/>
          </p:nvPr>
        </p:nvSpPr>
        <p:spPr>
          <a:xfrm>
            <a:off x="500034" y="1285861"/>
            <a:ext cx="8229600" cy="3786214"/>
          </a:xfrm>
        </p:spPr>
        <p:txBody>
          <a:bodyPr>
            <a:normAutofit lnSpcReduction="10000"/>
          </a:bodyPr>
          <a:lstStyle/>
          <a:p>
            <a:pPr>
              <a:spcBef>
                <a:spcPts val="600"/>
              </a:spcBef>
              <a:spcAft>
                <a:spcPts val="600"/>
              </a:spcAft>
            </a:pPr>
            <a:r>
              <a:rPr lang="en-US" sz="2400" dirty="0" smtClean="0"/>
              <a:t>Thread </a:t>
            </a:r>
            <a:r>
              <a:rPr lang="en-US" sz="2400" dirty="0" smtClean="0"/>
              <a:t>Safety in Swing</a:t>
            </a:r>
          </a:p>
          <a:p>
            <a:pPr lvl="1">
              <a:spcBef>
                <a:spcPts val="600"/>
              </a:spcBef>
              <a:spcAft>
                <a:spcPts val="600"/>
              </a:spcAft>
            </a:pPr>
            <a:r>
              <a:rPr lang="en-US" sz="2400" dirty="0" smtClean="0"/>
              <a:t>Swing is NOT thread-safe.</a:t>
            </a:r>
          </a:p>
          <a:p>
            <a:pPr lvl="1">
              <a:spcBef>
                <a:spcPts val="600"/>
              </a:spcBef>
              <a:spcAft>
                <a:spcPts val="600"/>
              </a:spcAft>
            </a:pPr>
            <a:r>
              <a:rPr lang="en-US" sz="2400" dirty="0" smtClean="0"/>
              <a:t>All UI updates must happen on the Event Dispatch Thread.</a:t>
            </a:r>
          </a:p>
          <a:p>
            <a:pPr lvl="1">
              <a:spcBef>
                <a:spcPts val="600"/>
              </a:spcBef>
              <a:spcAft>
                <a:spcPts val="600"/>
              </a:spcAft>
            </a:pPr>
            <a:r>
              <a:rPr lang="en-US" sz="2400" dirty="0" smtClean="0"/>
              <a:t>Problem: Long-running tasks (DB calls, downloads) freeze the UI if done on EDT.</a:t>
            </a:r>
          </a:p>
          <a:p>
            <a:pPr lvl="1">
              <a:spcBef>
                <a:spcPts val="600"/>
              </a:spcBef>
              <a:spcAft>
                <a:spcPts val="600"/>
              </a:spcAft>
            </a:pPr>
            <a:r>
              <a:rPr lang="en-US" sz="2400" dirty="0" smtClean="0"/>
              <a:t>Solution:</a:t>
            </a:r>
          </a:p>
          <a:p>
            <a:pPr lvl="2">
              <a:spcBef>
                <a:spcPts val="600"/>
              </a:spcBef>
              <a:spcAft>
                <a:spcPts val="600"/>
              </a:spcAft>
            </a:pPr>
            <a:r>
              <a:rPr lang="en-US" dirty="0" smtClean="0"/>
              <a:t>Start UI on EDT: </a:t>
            </a:r>
            <a:r>
              <a:rPr lang="en-US" dirty="0" err="1" smtClean="0"/>
              <a:t>SwingUtilities.invokeLater</a:t>
            </a:r>
            <a:r>
              <a:rPr lang="en-US" dirty="0" smtClean="0"/>
              <a:t>(...).</a:t>
            </a:r>
          </a:p>
          <a:p>
            <a:pPr lvl="2">
              <a:spcBef>
                <a:spcPts val="600"/>
              </a:spcBef>
              <a:spcAft>
                <a:spcPts val="600"/>
              </a:spcAft>
            </a:pPr>
            <a:r>
              <a:rPr lang="en-US" dirty="0" smtClean="0"/>
              <a:t>Run heavy tasks in background threads (</a:t>
            </a:r>
            <a:r>
              <a:rPr lang="en-US" dirty="0" err="1" smtClean="0"/>
              <a:t>SwingWorker</a:t>
            </a:r>
            <a:r>
              <a:rPr lang="en-US" dirty="0" smtClean="0"/>
              <a:t>).</a:t>
            </a:r>
            <a:endParaRPr lang="en-US" dirty="0"/>
          </a:p>
        </p:txBody>
      </p:sp>
      <p:sp>
        <p:nvSpPr>
          <p:cNvPr id="4" name="Rectangle 3"/>
          <p:cNvSpPr/>
          <p:nvPr/>
        </p:nvSpPr>
        <p:spPr>
          <a:xfrm>
            <a:off x="1142976" y="5286388"/>
            <a:ext cx="7358114" cy="1015663"/>
          </a:xfrm>
          <a:prstGeom prst="rect">
            <a:avLst/>
          </a:prstGeom>
          <a:ln>
            <a:solidFill>
              <a:schemeClr val="accent1"/>
            </a:solidFill>
          </a:ln>
        </p:spPr>
        <p:txBody>
          <a:bodyPr wrap="square">
            <a:spAutoFit/>
          </a:bodyPr>
          <a:lstStyle/>
          <a:p>
            <a:r>
              <a:rPr lang="en-US" sz="2000" b="1" dirty="0" err="1" smtClean="0">
                <a:latin typeface="Courier New" pitchFamily="49" charset="0"/>
                <a:cs typeface="Courier New" pitchFamily="49" charset="0"/>
              </a:rPr>
              <a:t>SwingUtilities.</a:t>
            </a:r>
            <a:r>
              <a:rPr lang="en-US" sz="2000" b="1" dirty="0" err="1" smtClean="0">
                <a:solidFill>
                  <a:srgbClr val="5832F8"/>
                </a:solidFill>
                <a:latin typeface="Courier New" pitchFamily="49" charset="0"/>
                <a:cs typeface="Courier New" pitchFamily="49" charset="0"/>
              </a:rPr>
              <a:t>invokeLater</a:t>
            </a:r>
            <a:r>
              <a:rPr lang="en-US" sz="2000" b="1" dirty="0" smtClean="0">
                <a:latin typeface="Courier New" pitchFamily="49" charset="0"/>
                <a:cs typeface="Courier New" pitchFamily="49" charset="0"/>
              </a:rPr>
              <a:t>(() -&gt; {</a:t>
            </a:r>
          </a:p>
          <a:p>
            <a:r>
              <a:rPr lang="en-US" sz="2000" b="1" dirty="0" smtClean="0">
                <a:latin typeface="Courier New" pitchFamily="49" charset="0"/>
                <a:cs typeface="Courier New" pitchFamily="49" charset="0"/>
              </a:rPr>
              <a:t>    new </a:t>
            </a:r>
            <a:r>
              <a:rPr lang="en-US" sz="2000" b="1" dirty="0" err="1" smtClean="0">
                <a:solidFill>
                  <a:srgbClr val="5832F8"/>
                </a:solidFill>
                <a:latin typeface="Courier New" pitchFamily="49" charset="0"/>
                <a:cs typeface="Courier New" pitchFamily="49" charset="0"/>
              </a:rPr>
              <a:t>MyApp</a:t>
            </a:r>
            <a:r>
              <a:rPr lang="en-US" sz="2000" b="1" dirty="0" smtClean="0">
                <a:latin typeface="Courier New" pitchFamily="49" charset="0"/>
                <a:cs typeface="Courier New" pitchFamily="49" charset="0"/>
              </a:rPr>
              <a:t>().</a:t>
            </a:r>
            <a:r>
              <a:rPr lang="en-US" sz="2000" b="1" dirty="0" err="1" smtClean="0">
                <a:solidFill>
                  <a:srgbClr val="5832F8"/>
                </a:solidFill>
                <a:latin typeface="Courier New" pitchFamily="49" charset="0"/>
                <a:cs typeface="Courier New" pitchFamily="49" charset="0"/>
              </a:rPr>
              <a:t>createAndShowGUI</a:t>
            </a:r>
            <a:r>
              <a:rPr lang="en-US" sz="2000" b="1" dirty="0" smtClean="0">
                <a:latin typeface="Courier New" pitchFamily="49" charset="0"/>
                <a:cs typeface="Courier New" pitchFamily="49" charset="0"/>
              </a:rPr>
              <a:t>();</a:t>
            </a:r>
          </a:p>
          <a:p>
            <a:r>
              <a:rPr lang="en-US" sz="2000" b="1" dirty="0" smtClean="0">
                <a:latin typeface="Courier New" pitchFamily="49" charset="0"/>
                <a:cs typeface="Courier New" pitchFamily="49" charset="0"/>
              </a:rPr>
              <a:t>});</a:t>
            </a:r>
            <a:endParaRPr lang="en-US" sz="2000"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1143000"/>
          </a:xfrm>
        </p:spPr>
        <p:txBody>
          <a:bodyPr>
            <a:normAutofit/>
          </a:bodyPr>
          <a:lstStyle/>
          <a:p>
            <a:r>
              <a:rPr lang="en-US" b="1" dirty="0" smtClean="0"/>
              <a:t>Pluggable Look and </a:t>
            </a:r>
            <a:r>
              <a:rPr lang="en-US" b="1" dirty="0" smtClean="0"/>
              <a:t>Feel</a:t>
            </a:r>
            <a:endParaRPr lang="en-US" b="1" dirty="0"/>
          </a:p>
        </p:txBody>
      </p:sp>
      <p:sp>
        <p:nvSpPr>
          <p:cNvPr id="3" name="Content Placeholder 2"/>
          <p:cNvSpPr>
            <a:spLocks noGrp="1"/>
          </p:cNvSpPr>
          <p:nvPr>
            <p:ph idx="1"/>
          </p:nvPr>
        </p:nvSpPr>
        <p:spPr>
          <a:xfrm>
            <a:off x="457200" y="1600201"/>
            <a:ext cx="8229600" cy="2471742"/>
          </a:xfrm>
        </p:spPr>
        <p:txBody>
          <a:bodyPr>
            <a:normAutofit/>
          </a:bodyPr>
          <a:lstStyle/>
          <a:p>
            <a:pPr>
              <a:spcBef>
                <a:spcPts val="600"/>
              </a:spcBef>
              <a:spcAft>
                <a:spcPts val="600"/>
              </a:spcAft>
            </a:pPr>
            <a:r>
              <a:rPr lang="en-US" sz="2400" dirty="0" smtClean="0"/>
              <a:t>Swing </a:t>
            </a:r>
            <a:r>
              <a:rPr lang="en-US" sz="2400" dirty="0" smtClean="0"/>
              <a:t>allows changing the UI skin at runtime.</a:t>
            </a:r>
          </a:p>
          <a:p>
            <a:pPr>
              <a:spcBef>
                <a:spcPts val="600"/>
              </a:spcBef>
              <a:spcAft>
                <a:spcPts val="600"/>
              </a:spcAft>
            </a:pPr>
            <a:r>
              <a:rPr lang="en-US" sz="2400" b="1" dirty="0" smtClean="0"/>
              <a:t>System Look:</a:t>
            </a:r>
            <a:r>
              <a:rPr lang="en-US" sz="2400" dirty="0" smtClean="0"/>
              <a:t> Matches the OS.</a:t>
            </a:r>
          </a:p>
          <a:p>
            <a:pPr>
              <a:spcBef>
                <a:spcPts val="600"/>
              </a:spcBef>
              <a:spcAft>
                <a:spcPts val="600"/>
              </a:spcAft>
            </a:pPr>
            <a:r>
              <a:rPr lang="en-US" sz="2400" b="1" dirty="0" smtClean="0"/>
              <a:t>Nimbus:</a:t>
            </a:r>
            <a:r>
              <a:rPr lang="en-US" sz="2400" dirty="0" smtClean="0"/>
              <a:t> Modern Java look (included in JDK).</a:t>
            </a:r>
          </a:p>
          <a:p>
            <a:pPr>
              <a:spcBef>
                <a:spcPts val="600"/>
              </a:spcBef>
              <a:spcAft>
                <a:spcPts val="600"/>
              </a:spcAft>
            </a:pPr>
            <a:r>
              <a:rPr lang="en-US" sz="2400" b="1" dirty="0" err="1" smtClean="0"/>
              <a:t>CrossPlatform</a:t>
            </a:r>
            <a:r>
              <a:rPr lang="en-US" sz="2400" b="1" dirty="0" smtClean="0"/>
              <a:t>:</a:t>
            </a:r>
            <a:r>
              <a:rPr lang="en-US" sz="2400" dirty="0" smtClean="0"/>
              <a:t> Java's default (Metal).</a:t>
            </a:r>
            <a:endParaRPr lang="en-US" sz="2400" dirty="0"/>
          </a:p>
        </p:txBody>
      </p:sp>
      <p:sp>
        <p:nvSpPr>
          <p:cNvPr id="4" name="Rectangle 3"/>
          <p:cNvSpPr/>
          <p:nvPr/>
        </p:nvSpPr>
        <p:spPr>
          <a:xfrm>
            <a:off x="642910" y="4000504"/>
            <a:ext cx="7358114" cy="1200329"/>
          </a:xfrm>
          <a:prstGeom prst="rect">
            <a:avLst/>
          </a:prstGeom>
          <a:ln>
            <a:solidFill>
              <a:schemeClr val="accent1"/>
            </a:solidFill>
          </a:ln>
        </p:spPr>
        <p:txBody>
          <a:bodyPr wrap="square">
            <a:spAutoFit/>
          </a:bodyPr>
          <a:lstStyle/>
          <a:p>
            <a:r>
              <a:rPr lang="en-US" b="1" dirty="0" smtClean="0">
                <a:latin typeface="Courier New" pitchFamily="49" charset="0"/>
                <a:cs typeface="Courier New" pitchFamily="49" charset="0"/>
              </a:rPr>
              <a:t>try {</a:t>
            </a:r>
          </a:p>
          <a:p>
            <a:r>
              <a:rPr lang="en-US" b="1" dirty="0" smtClean="0">
                <a:latin typeface="Courier New" pitchFamily="49" charset="0"/>
                <a:cs typeface="Courier New" pitchFamily="49" charset="0"/>
              </a:rPr>
              <a:t>    </a:t>
            </a:r>
            <a:r>
              <a:rPr lang="en-US" b="1" dirty="0" err="1" smtClean="0">
                <a:latin typeface="Courier New" pitchFamily="49" charset="0"/>
                <a:cs typeface="Courier New" pitchFamily="49" charset="0"/>
              </a:rPr>
              <a:t>UIManager.</a:t>
            </a:r>
            <a:r>
              <a:rPr lang="en-US" b="1" dirty="0" err="1" smtClean="0">
                <a:solidFill>
                  <a:srgbClr val="5832F8"/>
                </a:solidFill>
                <a:latin typeface="Courier New" pitchFamily="49" charset="0"/>
                <a:cs typeface="Courier New" pitchFamily="49" charset="0"/>
              </a:rPr>
              <a:t>setLookAndFeel</a:t>
            </a:r>
            <a:r>
              <a:rPr lang="en-US" b="1" dirty="0" smtClean="0">
                <a:latin typeface="Courier New" pitchFamily="49" charset="0"/>
                <a:cs typeface="Courier New" pitchFamily="49" charset="0"/>
              </a:rPr>
              <a:t>(</a:t>
            </a:r>
          </a:p>
          <a:p>
            <a:r>
              <a:rPr lang="en-US" b="1" dirty="0" smtClean="0">
                <a:latin typeface="Courier New" pitchFamily="49" charset="0"/>
                <a:cs typeface="Courier New" pitchFamily="49" charset="0"/>
              </a:rPr>
              <a:t>        </a:t>
            </a:r>
            <a:r>
              <a:rPr lang="en-US" b="1" dirty="0" err="1" smtClean="0">
                <a:latin typeface="Courier New" pitchFamily="49" charset="0"/>
                <a:cs typeface="Courier New" pitchFamily="49" charset="0"/>
              </a:rPr>
              <a:t>UIManager.</a:t>
            </a:r>
            <a:r>
              <a:rPr lang="en-US" b="1" dirty="0" err="1" smtClean="0">
                <a:solidFill>
                  <a:srgbClr val="5832F8"/>
                </a:solidFill>
                <a:latin typeface="Courier New" pitchFamily="49" charset="0"/>
                <a:cs typeface="Courier New" pitchFamily="49" charset="0"/>
              </a:rPr>
              <a:t>getSystemLookAndFeelClassName</a:t>
            </a:r>
            <a:r>
              <a:rPr lang="en-US" b="1" dirty="0" smtClean="0">
                <a:latin typeface="Courier New" pitchFamily="49" charset="0"/>
                <a:cs typeface="Courier New" pitchFamily="49" charset="0"/>
              </a:rPr>
              <a:t>());</a:t>
            </a:r>
          </a:p>
          <a:p>
            <a:r>
              <a:rPr lang="en-US" b="1" dirty="0" smtClean="0">
                <a:latin typeface="Courier New" pitchFamily="49" charset="0"/>
                <a:cs typeface="Courier New" pitchFamily="49" charset="0"/>
              </a:rPr>
              <a:t>} catch (Exception e) { </a:t>
            </a:r>
            <a:r>
              <a:rPr lang="en-US" b="1" dirty="0" err="1" smtClean="0">
                <a:latin typeface="Courier New" pitchFamily="49" charset="0"/>
                <a:cs typeface="Courier New" pitchFamily="49" charset="0"/>
              </a:rPr>
              <a:t>e.</a:t>
            </a:r>
            <a:r>
              <a:rPr lang="en-US" b="1" dirty="0" err="1" smtClean="0">
                <a:solidFill>
                  <a:srgbClr val="5832F8"/>
                </a:solidFill>
                <a:latin typeface="Courier New" pitchFamily="49" charset="0"/>
                <a:cs typeface="Courier New" pitchFamily="49" charset="0"/>
              </a:rPr>
              <a:t>printStackTrace</a:t>
            </a:r>
            <a:r>
              <a:rPr lang="en-US" b="1" dirty="0" smtClean="0">
                <a:latin typeface="Courier New" pitchFamily="49" charset="0"/>
                <a:cs typeface="Courier New" pitchFamily="49" charset="0"/>
              </a:rPr>
              <a:t>(); }</a:t>
            </a:r>
            <a:endParaRPr lang="en-US" b="1" dirty="0">
              <a:latin typeface="Courier New" pitchFamily="49" charset="0"/>
              <a:cs typeface="Courier New" pitchFamily="49" charset="0"/>
            </a:endParaRPr>
          </a:p>
        </p:txBody>
      </p:sp>
      <p:sp>
        <p:nvSpPr>
          <p:cNvPr id="5" name="Content Placeholder 2"/>
          <p:cNvSpPr txBox="1">
            <a:spLocks/>
          </p:cNvSpPr>
          <p:nvPr/>
        </p:nvSpPr>
        <p:spPr>
          <a:xfrm>
            <a:off x="428596" y="5786454"/>
            <a:ext cx="8229600" cy="542916"/>
          </a:xfrm>
          <a:prstGeom prst="rect">
            <a:avLst/>
          </a:prstGeom>
        </p:spPr>
        <p:txBody>
          <a:bodyPr vert="horz" lIns="91440" tIns="45720" rIns="91440" bIns="45720" rtlCol="0">
            <a:normAutofit/>
          </a:bodyPr>
          <a:lstStyle/>
          <a:p>
            <a:pPr marL="342900" lvl="0" indent="-342900">
              <a:spcBef>
                <a:spcPts val="600"/>
              </a:spcBef>
              <a:spcAft>
                <a:spcPts val="600"/>
              </a:spcAft>
              <a:buFont typeface="Arial" pitchFamily="34" charset="0"/>
              <a:buChar char="•"/>
            </a:pPr>
            <a:r>
              <a:rPr lang="en-US" sz="2400" dirty="0" smtClean="0"/>
              <a:t>Java's Must be set before creating any components</a:t>
            </a:r>
            <a:r>
              <a:rPr lang="en-US" sz="2400" dirty="0" smtClean="0"/>
              <a:t>.</a:t>
            </a:r>
            <a:endParaRPr kumimoji="0" lang="en-US" sz="24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857256"/>
          </a:xfrm>
        </p:spPr>
        <p:txBody>
          <a:bodyPr>
            <a:normAutofit/>
          </a:bodyPr>
          <a:lstStyle/>
          <a:p>
            <a:r>
              <a:rPr lang="en-US" b="1" dirty="0" smtClean="0"/>
              <a:t>Putting It All </a:t>
            </a:r>
            <a:r>
              <a:rPr lang="en-US" b="1" dirty="0" smtClean="0"/>
              <a:t>Together</a:t>
            </a:r>
            <a:endParaRPr lang="en-US" b="1" dirty="0"/>
          </a:p>
        </p:txBody>
      </p:sp>
      <p:sp>
        <p:nvSpPr>
          <p:cNvPr id="3" name="Content Placeholder 2"/>
          <p:cNvSpPr>
            <a:spLocks noGrp="1"/>
          </p:cNvSpPr>
          <p:nvPr>
            <p:ph idx="1"/>
          </p:nvPr>
        </p:nvSpPr>
        <p:spPr>
          <a:xfrm>
            <a:off x="485804" y="1285860"/>
            <a:ext cx="8229600" cy="4714908"/>
          </a:xfrm>
        </p:spPr>
        <p:txBody>
          <a:bodyPr>
            <a:normAutofit/>
          </a:bodyPr>
          <a:lstStyle/>
          <a:p>
            <a:pPr>
              <a:spcBef>
                <a:spcPts val="600"/>
              </a:spcBef>
              <a:spcAft>
                <a:spcPts val="600"/>
              </a:spcAft>
            </a:pPr>
            <a:r>
              <a:rPr lang="en-US" sz="2400" dirty="0" smtClean="0"/>
              <a:t>Task</a:t>
            </a:r>
            <a:r>
              <a:rPr lang="en-US" sz="2400" dirty="0" smtClean="0"/>
              <a:t>: Create a Temperature Converter.</a:t>
            </a:r>
          </a:p>
          <a:p>
            <a:pPr>
              <a:spcBef>
                <a:spcPts val="600"/>
              </a:spcBef>
              <a:spcAft>
                <a:spcPts val="600"/>
              </a:spcAft>
            </a:pPr>
            <a:r>
              <a:rPr lang="en-US" sz="2400" dirty="0" smtClean="0"/>
              <a:t>Requirements:</a:t>
            </a:r>
          </a:p>
          <a:p>
            <a:pPr marL="914400" lvl="1" indent="-514350">
              <a:spcBef>
                <a:spcPts val="600"/>
              </a:spcBef>
              <a:spcAft>
                <a:spcPts val="600"/>
              </a:spcAft>
              <a:buFont typeface="+mj-lt"/>
              <a:buAutoNum type="arabicPeriod"/>
            </a:pPr>
            <a:r>
              <a:rPr lang="en-US" sz="2400" dirty="0" err="1" smtClean="0"/>
              <a:t>JFrame</a:t>
            </a:r>
            <a:r>
              <a:rPr lang="en-US" sz="2400" dirty="0" smtClean="0"/>
              <a:t> titled "Converter".</a:t>
            </a:r>
          </a:p>
          <a:p>
            <a:pPr marL="914400" lvl="1" indent="-514350">
              <a:spcBef>
                <a:spcPts val="600"/>
              </a:spcBef>
              <a:spcAft>
                <a:spcPts val="600"/>
              </a:spcAft>
              <a:buFont typeface="+mj-lt"/>
              <a:buAutoNum type="arabicPeriod"/>
            </a:pPr>
            <a:r>
              <a:rPr lang="en-US" sz="2400" dirty="0" err="1" smtClean="0"/>
              <a:t>JTextField</a:t>
            </a:r>
            <a:r>
              <a:rPr lang="en-US" sz="2400" dirty="0" smtClean="0"/>
              <a:t> for input.</a:t>
            </a:r>
          </a:p>
          <a:p>
            <a:pPr marL="914400" lvl="1" indent="-514350">
              <a:spcBef>
                <a:spcPts val="600"/>
              </a:spcBef>
              <a:spcAft>
                <a:spcPts val="600"/>
              </a:spcAft>
              <a:buFont typeface="+mj-lt"/>
              <a:buAutoNum type="arabicPeriod"/>
            </a:pPr>
            <a:r>
              <a:rPr lang="en-US" sz="2400" dirty="0" smtClean="0"/>
              <a:t>Two </a:t>
            </a:r>
            <a:r>
              <a:rPr lang="en-US" sz="2400" dirty="0" err="1" smtClean="0"/>
              <a:t>JButtons</a:t>
            </a:r>
            <a:r>
              <a:rPr lang="en-US" sz="2400" dirty="0" smtClean="0"/>
              <a:t> (C to F, F to C).</a:t>
            </a:r>
          </a:p>
          <a:p>
            <a:pPr marL="914400" lvl="1" indent="-514350">
              <a:spcBef>
                <a:spcPts val="600"/>
              </a:spcBef>
              <a:spcAft>
                <a:spcPts val="600"/>
              </a:spcAft>
              <a:buFont typeface="+mj-lt"/>
              <a:buAutoNum type="arabicPeriod"/>
            </a:pPr>
            <a:r>
              <a:rPr lang="en-US" sz="2400" dirty="0" err="1" smtClean="0"/>
              <a:t>JLabel</a:t>
            </a:r>
            <a:r>
              <a:rPr lang="en-US" sz="2400" dirty="0" smtClean="0"/>
              <a:t> to show result.</a:t>
            </a:r>
          </a:p>
          <a:p>
            <a:pPr marL="914400" lvl="1" indent="-514350">
              <a:spcBef>
                <a:spcPts val="600"/>
              </a:spcBef>
              <a:spcAft>
                <a:spcPts val="600"/>
              </a:spcAft>
              <a:buFont typeface="+mj-lt"/>
              <a:buAutoNum type="arabicPeriod"/>
            </a:pPr>
            <a:r>
              <a:rPr lang="en-US" sz="2400" dirty="0" smtClean="0"/>
              <a:t>Use </a:t>
            </a:r>
            <a:r>
              <a:rPr lang="en-US" sz="2400" dirty="0" err="1" smtClean="0"/>
              <a:t>BorderLayout</a:t>
            </a:r>
            <a:r>
              <a:rPr lang="en-US" sz="2400" dirty="0" smtClean="0"/>
              <a:t>.</a:t>
            </a:r>
          </a:p>
          <a:p>
            <a:pPr marL="914400" lvl="1" indent="-514350">
              <a:spcBef>
                <a:spcPts val="600"/>
              </a:spcBef>
              <a:spcAft>
                <a:spcPts val="600"/>
              </a:spcAft>
              <a:buFont typeface="+mj-lt"/>
              <a:buAutoNum type="arabicPeriod"/>
            </a:pPr>
            <a:r>
              <a:rPr lang="en-US" sz="2400" dirty="0" smtClean="0"/>
              <a:t>Handle invalid input (try-catch).</a:t>
            </a:r>
          </a:p>
          <a:p>
            <a:pPr marL="914400" lvl="1" indent="-514350">
              <a:spcBef>
                <a:spcPts val="600"/>
              </a:spcBef>
              <a:spcAft>
                <a:spcPts val="600"/>
              </a:spcAft>
              <a:buFont typeface="+mj-lt"/>
              <a:buAutoNum type="arabicPeriod"/>
            </a:pPr>
            <a:r>
              <a:rPr lang="en-US" sz="2400" dirty="0" smtClean="0"/>
              <a:t>Launch on EDT.</a:t>
            </a:r>
            <a:endParaRPr lang="en-US" sz="24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46"/>
          </a:xfrm>
        </p:spPr>
        <p:txBody>
          <a:bodyPr>
            <a:normAutofit/>
          </a:bodyPr>
          <a:lstStyle/>
          <a:p>
            <a:r>
              <a:rPr lang="en-US" b="1" dirty="0" smtClean="0"/>
              <a:t>Summary </a:t>
            </a:r>
            <a:r>
              <a:rPr lang="en-US" b="1" dirty="0" smtClean="0"/>
              <a:t>&amp; Next </a:t>
            </a:r>
            <a:r>
              <a:rPr lang="en-US" b="1" dirty="0" smtClean="0"/>
              <a:t>Steps</a:t>
            </a:r>
            <a:endParaRPr lang="en-US" b="1" dirty="0"/>
          </a:p>
        </p:txBody>
      </p:sp>
      <p:sp>
        <p:nvSpPr>
          <p:cNvPr id="3" name="Content Placeholder 2"/>
          <p:cNvSpPr>
            <a:spLocks noGrp="1"/>
          </p:cNvSpPr>
          <p:nvPr>
            <p:ph idx="1"/>
          </p:nvPr>
        </p:nvSpPr>
        <p:spPr>
          <a:xfrm>
            <a:off x="457200" y="1357298"/>
            <a:ext cx="8229600" cy="5143536"/>
          </a:xfrm>
        </p:spPr>
        <p:txBody>
          <a:bodyPr>
            <a:normAutofit fontScale="92500" lnSpcReduction="10000"/>
          </a:bodyPr>
          <a:lstStyle/>
          <a:p>
            <a:pPr>
              <a:spcBef>
                <a:spcPts val="600"/>
              </a:spcBef>
              <a:spcAft>
                <a:spcPts val="600"/>
              </a:spcAft>
            </a:pPr>
            <a:r>
              <a:rPr lang="en-US" sz="2400" b="1" dirty="0" smtClean="0">
                <a:effectLst>
                  <a:outerShdw blurRad="38100" dist="38100" dir="2700000" algn="tl">
                    <a:srgbClr val="000000">
                      <a:alpha val="43137"/>
                    </a:srgbClr>
                  </a:outerShdw>
                </a:effectLst>
              </a:rPr>
              <a:t>Summary</a:t>
            </a:r>
            <a:r>
              <a:rPr lang="en-US" sz="2400" dirty="0" smtClean="0"/>
              <a:t>:</a:t>
            </a:r>
          </a:p>
          <a:p>
            <a:pPr lvl="1">
              <a:spcBef>
                <a:spcPts val="600"/>
              </a:spcBef>
              <a:spcAft>
                <a:spcPts val="600"/>
              </a:spcAft>
            </a:pPr>
            <a:r>
              <a:rPr lang="en-US" sz="2400" dirty="0" smtClean="0"/>
              <a:t>Swing is lightweight and mature.</a:t>
            </a:r>
          </a:p>
          <a:p>
            <a:pPr lvl="1">
              <a:spcBef>
                <a:spcPts val="600"/>
              </a:spcBef>
              <a:spcAft>
                <a:spcPts val="600"/>
              </a:spcAft>
            </a:pPr>
            <a:r>
              <a:rPr lang="en-US" sz="2400" dirty="0" smtClean="0"/>
              <a:t>Use Layout Managers, not absolute positioning.</a:t>
            </a:r>
          </a:p>
          <a:p>
            <a:pPr lvl="1">
              <a:spcBef>
                <a:spcPts val="600"/>
              </a:spcBef>
              <a:spcAft>
                <a:spcPts val="600"/>
              </a:spcAft>
            </a:pPr>
            <a:r>
              <a:rPr lang="en-US" sz="2400" dirty="0" smtClean="0"/>
              <a:t>Respect the Event Dispatch Thread.</a:t>
            </a:r>
          </a:p>
          <a:p>
            <a:pPr lvl="1">
              <a:spcBef>
                <a:spcPts val="600"/>
              </a:spcBef>
              <a:spcAft>
                <a:spcPts val="600"/>
              </a:spcAft>
            </a:pPr>
            <a:r>
              <a:rPr lang="en-US" sz="2400" dirty="0" smtClean="0"/>
              <a:t>Use Listeners for interaction.</a:t>
            </a:r>
          </a:p>
          <a:p>
            <a:pPr>
              <a:spcBef>
                <a:spcPts val="600"/>
              </a:spcBef>
              <a:spcAft>
                <a:spcPts val="600"/>
              </a:spcAft>
            </a:pPr>
            <a:r>
              <a:rPr lang="en-US" sz="2400" b="1" dirty="0" smtClean="0">
                <a:effectLst>
                  <a:outerShdw blurRad="38100" dist="38100" dir="2700000" algn="tl">
                    <a:srgbClr val="000000">
                      <a:alpha val="43137"/>
                    </a:srgbClr>
                  </a:outerShdw>
                </a:effectLst>
              </a:rPr>
              <a:t>Modern Alternatives</a:t>
            </a:r>
            <a:r>
              <a:rPr lang="en-US" sz="2400" dirty="0" smtClean="0"/>
              <a:t>:</a:t>
            </a:r>
          </a:p>
          <a:p>
            <a:pPr lvl="1">
              <a:spcBef>
                <a:spcPts val="600"/>
              </a:spcBef>
              <a:spcAft>
                <a:spcPts val="600"/>
              </a:spcAft>
            </a:pPr>
            <a:r>
              <a:rPr lang="en-US" sz="2400" dirty="0" err="1" smtClean="0"/>
              <a:t>JavaFX</a:t>
            </a:r>
            <a:r>
              <a:rPr lang="en-US" sz="2400" dirty="0" smtClean="0"/>
              <a:t>: Newer standard for Java desktop.</a:t>
            </a:r>
          </a:p>
          <a:p>
            <a:pPr lvl="1">
              <a:spcBef>
                <a:spcPts val="600"/>
              </a:spcBef>
              <a:spcAft>
                <a:spcPts val="600"/>
              </a:spcAft>
            </a:pPr>
            <a:r>
              <a:rPr lang="en-US" sz="2400" dirty="0" smtClean="0"/>
              <a:t>Web Technologies: Electron, React, etc. (Industry trend).</a:t>
            </a:r>
          </a:p>
          <a:p>
            <a:pPr>
              <a:spcBef>
                <a:spcPts val="600"/>
              </a:spcBef>
              <a:spcAft>
                <a:spcPts val="600"/>
              </a:spcAft>
            </a:pPr>
            <a:r>
              <a:rPr lang="en-US" sz="2400" b="1" dirty="0" smtClean="0">
                <a:effectLst>
                  <a:outerShdw blurRad="38100" dist="38100" dir="2700000" algn="tl">
                    <a:srgbClr val="000000">
                      <a:alpha val="43137"/>
                    </a:srgbClr>
                  </a:outerShdw>
                </a:effectLst>
              </a:rPr>
              <a:t>Resources</a:t>
            </a:r>
            <a:r>
              <a:rPr lang="en-US" sz="2400" dirty="0" smtClean="0"/>
              <a:t>:</a:t>
            </a:r>
          </a:p>
          <a:p>
            <a:pPr lvl="1">
              <a:spcBef>
                <a:spcPts val="600"/>
              </a:spcBef>
              <a:spcAft>
                <a:spcPts val="600"/>
              </a:spcAft>
            </a:pPr>
            <a:r>
              <a:rPr lang="en-US" sz="2400" dirty="0" smtClean="0"/>
              <a:t>Oracle Swing Tutorial docs.</a:t>
            </a:r>
          </a:p>
          <a:p>
            <a:pPr lvl="1">
              <a:spcBef>
                <a:spcPts val="600"/>
              </a:spcBef>
              <a:spcAft>
                <a:spcPts val="600"/>
              </a:spcAft>
            </a:pPr>
            <a:r>
              <a:rPr lang="en-US" sz="2400" dirty="0" smtClean="0"/>
              <a:t>"Core Java Volume II" (</a:t>
            </a:r>
            <a:r>
              <a:rPr lang="en-US" sz="2400" dirty="0" err="1" smtClean="0"/>
              <a:t>Horstmann</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071554"/>
            <a:ext cx="8229600" cy="1143000"/>
          </a:xfrm>
        </p:spPr>
        <p:txBody>
          <a:bodyPr>
            <a:noAutofit/>
          </a:bodyPr>
          <a:lstStyle/>
          <a:p>
            <a:r>
              <a:rPr lang="en-US" sz="9600" b="1" dirty="0" smtClean="0"/>
              <a:t>Assignment 1</a:t>
            </a:r>
            <a:endParaRPr lang="en-US" sz="9600" b="1" dirty="0"/>
          </a:p>
        </p:txBody>
      </p:sp>
      <p:sp>
        <p:nvSpPr>
          <p:cNvPr id="3" name="Content Placeholder 2"/>
          <p:cNvSpPr>
            <a:spLocks noGrp="1"/>
          </p:cNvSpPr>
          <p:nvPr>
            <p:ph idx="1"/>
          </p:nvPr>
        </p:nvSpPr>
        <p:spPr>
          <a:xfrm>
            <a:off x="0" y="3286124"/>
            <a:ext cx="9144000" cy="785818"/>
          </a:xfrm>
        </p:spPr>
        <p:txBody>
          <a:bodyPr>
            <a:noAutofit/>
          </a:bodyPr>
          <a:lstStyle/>
          <a:p>
            <a:pPr>
              <a:buNone/>
            </a:pPr>
            <a:r>
              <a:rPr lang="en-US" sz="4000" dirty="0" smtClean="0">
                <a:effectLst>
                  <a:outerShdw blurRad="38100" dist="38100" dir="2700000" algn="tl">
                    <a:srgbClr val="000000">
                      <a:alpha val="43137"/>
                    </a:srgbClr>
                  </a:outerShdw>
                </a:effectLst>
              </a:rPr>
              <a:t>https://</a:t>
            </a:r>
            <a:r>
              <a:rPr lang="en-US" sz="4000" dirty="0" smtClean="0">
                <a:effectLst>
                  <a:outerShdw blurRad="38100" dist="38100" dir="2700000" algn="tl">
                    <a:srgbClr val="000000">
                      <a:alpha val="43137"/>
                    </a:srgbClr>
                  </a:outerShdw>
                </a:effectLst>
              </a:rPr>
              <a:t>classroom.github.com/a/4FKAK09X</a:t>
            </a:r>
            <a:endParaRPr lang="en-US" sz="4000" dirty="0" smtClean="0">
              <a:effectLst>
                <a:outerShdw blurRad="38100" dist="38100" dir="2700000" algn="tl">
                  <a:srgbClr val="000000">
                    <a:alpha val="43137"/>
                  </a:srgbClr>
                </a:outerShdw>
              </a:effectLst>
            </a:endParaRPr>
          </a:p>
          <a:p>
            <a:pPr>
              <a:buNone/>
            </a:pPr>
            <a:endParaRPr lang="en-US" sz="4000" dirty="0">
              <a:effectLst>
                <a:outerShdw blurRad="38100" dist="38100" dir="2700000" algn="tl">
                  <a:srgbClr val="000000">
                    <a:alpha val="43137"/>
                  </a:srgbClr>
                </a:outerShdw>
              </a:effectLst>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qrcode.png"/>
          <p:cNvPicPr>
            <a:picLocks noGrp="1" noChangeAspect="1"/>
          </p:cNvPicPr>
          <p:nvPr>
            <p:ph idx="1"/>
          </p:nvPr>
        </p:nvPicPr>
        <p:blipFill>
          <a:blip r:embed="rId2"/>
          <a:stretch>
            <a:fillRect/>
          </a:stretch>
        </p:blipFill>
        <p:spPr>
          <a:xfrm>
            <a:off x="1357290" y="0"/>
            <a:ext cx="6858048" cy="6858048"/>
          </a:xfr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907</TotalTime>
  <Words>1324</Words>
  <Application>Microsoft Office PowerPoint</Application>
  <PresentationFormat>On-screen Show (4:3)</PresentationFormat>
  <Paragraphs>183</Paragraphs>
  <Slides>20</Slides>
  <Notes>12</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GUI Programming with Swing</vt:lpstr>
      <vt:lpstr>What We Will Learn</vt:lpstr>
      <vt:lpstr>History: AWT vs. Swing</vt:lpstr>
      <vt:lpstr>The Swing Architecture</vt:lpstr>
      <vt:lpstr>Creating a Window (JFrame)</vt:lpstr>
      <vt:lpstr>Common Swing Components</vt:lpstr>
      <vt:lpstr>Swing Login Form component Layout.</vt:lpstr>
      <vt:lpstr>Screenshot of a simple login form showing swing components.</vt:lpstr>
      <vt:lpstr>Managing Component Placement</vt:lpstr>
      <vt:lpstr>Layout Manager</vt:lpstr>
      <vt:lpstr>Diagram showing the 5 regions of BorderLayout and a 2x2 grid.</vt:lpstr>
      <vt:lpstr>The Delegation Event Model</vt:lpstr>
      <vt:lpstr>Implementing Listeners</vt:lpstr>
      <vt:lpstr>Menus &amp; Standard Dialogs</vt:lpstr>
      <vt:lpstr>The Event Dispatch Thread (EDT)</vt:lpstr>
      <vt:lpstr>Pluggable Look and Feel</vt:lpstr>
      <vt:lpstr>Putting It All Together</vt:lpstr>
      <vt:lpstr>Summary &amp; Next Steps</vt:lpstr>
      <vt:lpstr>Assignment 1</vt:lpstr>
      <vt:lpstr>Slide 20</vt:lpstr>
    </vt:vector>
  </TitlesOfParts>
  <Company>HP</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Java and Object-Oriented Programming </dc:title>
  <dc:creator>tmik</dc:creator>
  <cp:lastModifiedBy>tmik</cp:lastModifiedBy>
  <cp:revision>271</cp:revision>
  <dcterms:created xsi:type="dcterms:W3CDTF">2026-02-15T10:58:32Z</dcterms:created>
  <dcterms:modified xsi:type="dcterms:W3CDTF">2026-03-10T17:37:45Z</dcterms:modified>
</cp:coreProperties>
</file>