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76" r:id="rId4"/>
    <p:sldId id="281" r:id="rId5"/>
    <p:sldId id="280" r:id="rId6"/>
    <p:sldId id="258" r:id="rId7"/>
    <p:sldId id="279" r:id="rId8"/>
    <p:sldId id="260" r:id="rId9"/>
    <p:sldId id="261" r:id="rId10"/>
    <p:sldId id="262" r:id="rId11"/>
    <p:sldId id="263" r:id="rId12"/>
    <p:sldId id="259" r:id="rId13"/>
    <p:sldId id="271" r:id="rId14"/>
    <p:sldId id="269" r:id="rId15"/>
    <p:sldId id="270" r:id="rId16"/>
    <p:sldId id="264" r:id="rId17"/>
    <p:sldId id="265" r:id="rId18"/>
    <p:sldId id="266" r:id="rId19"/>
    <p:sldId id="282" r:id="rId20"/>
    <p:sldId id="283" r:id="rId21"/>
    <p:sldId id="267" r:id="rId22"/>
    <p:sldId id="268" r:id="rId23"/>
    <p:sldId id="272" r:id="rId24"/>
    <p:sldId id="273"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832F8"/>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7994" autoAdjust="0"/>
    <p:restoredTop sz="88741" autoAdjust="0"/>
  </p:normalViewPr>
  <p:slideViewPr>
    <p:cSldViewPr>
      <p:cViewPr>
        <p:scale>
          <a:sx n="66" d="100"/>
          <a:sy n="66" d="100"/>
        </p:scale>
        <p:origin x="-2203" y="-259"/>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F0B2BA9-4FD0-4DC4-B70B-93231BE247F2}" type="datetimeFigureOut">
              <a:rPr lang="en-US" smtClean="0"/>
              <a:pPr/>
              <a:t>3/15/2026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DE36570-A967-4EBE-9949-A932A1A992FB}"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mn-lt"/>
                <a:ea typeface="+mn-ea"/>
                <a:cs typeface="+mn-cs"/>
              </a:rPr>
              <a:t>Speaker Notes:</a:t>
            </a:r>
            <a:r>
              <a:rPr lang="en-US" sz="1200" b="0" i="0" kern="1200" dirty="0" smtClean="0">
                <a:solidFill>
                  <a:schemeClr val="tx1"/>
                </a:solidFill>
                <a:latin typeface="+mn-lt"/>
                <a:ea typeface="+mn-ea"/>
                <a:cs typeface="+mn-cs"/>
              </a:rPr>
              <a:t> "By the end of this module, you won't just be writing console applications. You will be able to create interactive windows, handle user input, and understand the threading model required to keep GUIs responsive."</a:t>
            </a:r>
          </a:p>
          <a:p>
            <a:endParaRPr lang="en-US" dirty="0"/>
          </a:p>
        </p:txBody>
      </p:sp>
      <p:sp>
        <p:nvSpPr>
          <p:cNvPr id="4" name="Slide Number Placeholder 3"/>
          <p:cNvSpPr>
            <a:spLocks noGrp="1"/>
          </p:cNvSpPr>
          <p:nvPr>
            <p:ph type="sldNum" sz="quarter" idx="10"/>
          </p:nvPr>
        </p:nvSpPr>
        <p:spPr/>
        <p:txBody>
          <a:bodyPr/>
          <a:lstStyle/>
          <a:p>
            <a:fld id="{5DE36570-A967-4EBE-9949-A932A1A992FB}"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mn-lt"/>
                <a:ea typeface="+mn-ea"/>
                <a:cs typeface="+mn-cs"/>
              </a:rPr>
              <a:t>Visual Suggestion:</a:t>
            </a:r>
            <a:endParaRPr lang="en-US" sz="1200" b="0" i="0" kern="1200" dirty="0" smtClean="0">
              <a:solidFill>
                <a:schemeClr val="tx1"/>
              </a:solidFill>
              <a:latin typeface="+mn-lt"/>
              <a:ea typeface="+mn-ea"/>
              <a:cs typeface="+mn-cs"/>
            </a:endParaRPr>
          </a:p>
          <a:p>
            <a:r>
              <a:rPr lang="en-US" sz="1200" b="0" i="0" kern="1200" dirty="0" smtClean="0">
                <a:solidFill>
                  <a:schemeClr val="tx1"/>
                </a:solidFill>
                <a:latin typeface="+mn-lt"/>
                <a:ea typeface="+mn-ea"/>
                <a:cs typeface="+mn-cs"/>
              </a:rPr>
              <a:t>Diagram showing a file system folder structure mapped to package names (e.g., folder com -&gt; </a:t>
            </a:r>
            <a:r>
              <a:rPr lang="en-US" sz="1200" b="0" i="0" kern="1200" dirty="0" err="1" smtClean="0">
                <a:solidFill>
                  <a:schemeClr val="tx1"/>
                </a:solidFill>
                <a:latin typeface="+mn-lt"/>
                <a:ea typeface="+mn-ea"/>
                <a:cs typeface="+mn-cs"/>
              </a:rPr>
              <a:t>mycompany</a:t>
            </a:r>
            <a:r>
              <a:rPr lang="en-US" sz="1200" b="0" i="0" kern="1200" dirty="0" smtClean="0">
                <a:solidFill>
                  <a:schemeClr val="tx1"/>
                </a:solidFill>
                <a:latin typeface="+mn-lt"/>
                <a:ea typeface="+mn-ea"/>
                <a:cs typeface="+mn-cs"/>
              </a:rPr>
              <a:t> -&gt; </a:t>
            </a:r>
            <a:r>
              <a:rPr lang="en-US" sz="1200" b="0" i="0" kern="1200" dirty="0" err="1" smtClean="0">
                <a:solidFill>
                  <a:schemeClr val="tx1"/>
                </a:solidFill>
                <a:latin typeface="+mn-lt"/>
                <a:ea typeface="+mn-ea"/>
                <a:cs typeface="+mn-cs"/>
              </a:rPr>
              <a:t>guiapp</a:t>
            </a:r>
            <a:r>
              <a:rPr lang="en-US" sz="1200" b="0" i="0" kern="1200" dirty="0" smtClean="0">
                <a:solidFill>
                  <a:schemeClr val="tx1"/>
                </a:solidFill>
                <a:latin typeface="+mn-lt"/>
                <a:ea typeface="+mn-ea"/>
                <a:cs typeface="+mn-cs"/>
              </a:rPr>
              <a:t>).</a:t>
            </a:r>
          </a:p>
          <a:p>
            <a:r>
              <a:rPr lang="en-US" sz="1200" b="1" i="0" kern="1200" dirty="0" smtClean="0">
                <a:solidFill>
                  <a:schemeClr val="tx1"/>
                </a:solidFill>
                <a:latin typeface="+mn-lt"/>
                <a:ea typeface="+mn-ea"/>
                <a:cs typeface="+mn-cs"/>
              </a:rPr>
              <a:t>Speaker Notes:</a:t>
            </a:r>
            <a:r>
              <a:rPr lang="en-US" sz="1200" b="0" i="0" kern="1200" dirty="0" smtClean="0">
                <a:solidFill>
                  <a:schemeClr val="tx1"/>
                </a:solidFill>
                <a:latin typeface="+mn-lt"/>
                <a:ea typeface="+mn-ea"/>
                <a:cs typeface="+mn-cs"/>
              </a:rPr>
              <a:t> "Before we write any Swing code, we need to know where to put it. A package is simply a way to group related files. In a GUI application, you might have one package for views, one for controllers, and one for models."</a:t>
            </a:r>
          </a:p>
          <a:p>
            <a:endParaRPr lang="en-US" dirty="0"/>
          </a:p>
        </p:txBody>
      </p:sp>
      <p:sp>
        <p:nvSpPr>
          <p:cNvPr id="4" name="Slide Number Placeholder 3"/>
          <p:cNvSpPr>
            <a:spLocks noGrp="1"/>
          </p:cNvSpPr>
          <p:nvPr>
            <p:ph type="sldNum" sz="quarter" idx="10"/>
          </p:nvPr>
        </p:nvSpPr>
        <p:spPr/>
        <p:txBody>
          <a:bodyPr/>
          <a:lstStyle/>
          <a:p>
            <a:fld id="{5DE36570-A967-4EBE-9949-A932A1A992FB}"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mn-lt"/>
                <a:ea typeface="+mn-ea"/>
                <a:cs typeface="+mn-cs"/>
              </a:rPr>
              <a:t>Visual Suggestion:</a:t>
            </a:r>
            <a:endParaRPr lang="en-US" sz="1200" b="0" i="0" kern="1200" dirty="0" smtClean="0">
              <a:solidFill>
                <a:schemeClr val="tx1"/>
              </a:solidFill>
              <a:latin typeface="+mn-lt"/>
              <a:ea typeface="+mn-ea"/>
              <a:cs typeface="+mn-cs"/>
            </a:endParaRPr>
          </a:p>
          <a:p>
            <a:r>
              <a:rPr lang="en-US" sz="1200" b="0" i="0" kern="1200" dirty="0" smtClean="0">
                <a:solidFill>
                  <a:schemeClr val="tx1"/>
                </a:solidFill>
                <a:latin typeface="+mn-lt"/>
                <a:ea typeface="+mn-ea"/>
                <a:cs typeface="+mn-cs"/>
              </a:rPr>
              <a:t>Warning icon next to code showing a compiler error: "Reference to List is ambiguous."</a:t>
            </a:r>
          </a:p>
          <a:p>
            <a:r>
              <a:rPr lang="en-US" sz="1200" b="1" i="0" kern="1200" dirty="0" smtClean="0">
                <a:solidFill>
                  <a:schemeClr val="tx1"/>
                </a:solidFill>
                <a:latin typeface="+mn-lt"/>
                <a:ea typeface="+mn-ea"/>
                <a:cs typeface="+mn-cs"/>
              </a:rPr>
              <a:t>Speaker Notes:</a:t>
            </a:r>
            <a:r>
              <a:rPr lang="en-US" sz="1200" b="0" i="0" kern="1200" dirty="0" smtClean="0">
                <a:solidFill>
                  <a:schemeClr val="tx1"/>
                </a:solidFill>
                <a:latin typeface="+mn-lt"/>
                <a:ea typeface="+mn-ea"/>
                <a:cs typeface="+mn-cs"/>
              </a:rPr>
              <a:t> "This is critical in Swing. You will often use </a:t>
            </a:r>
            <a:r>
              <a:rPr lang="en-US" sz="1200" b="0" i="0" kern="1200" dirty="0" err="1" smtClean="0">
                <a:solidFill>
                  <a:schemeClr val="tx1"/>
                </a:solidFill>
                <a:latin typeface="+mn-lt"/>
                <a:ea typeface="+mn-ea"/>
                <a:cs typeface="+mn-cs"/>
              </a:rPr>
              <a:t>java.util</a:t>
            </a:r>
            <a:r>
              <a:rPr lang="en-US" sz="1200" b="0" i="0" kern="1200" dirty="0" smtClean="0">
                <a:solidFill>
                  <a:schemeClr val="tx1"/>
                </a:solidFill>
                <a:latin typeface="+mn-lt"/>
                <a:ea typeface="+mn-ea"/>
                <a:cs typeface="+mn-cs"/>
              </a:rPr>
              <a:t> for logic (</a:t>
            </a:r>
            <a:r>
              <a:rPr lang="en-US" sz="1200" b="0" i="0" kern="1200" dirty="0" err="1" smtClean="0">
                <a:solidFill>
                  <a:schemeClr val="tx1"/>
                </a:solidFill>
                <a:latin typeface="+mn-lt"/>
                <a:ea typeface="+mn-ea"/>
                <a:cs typeface="+mn-cs"/>
              </a:rPr>
              <a:t>ArrayLists</a:t>
            </a:r>
            <a:r>
              <a:rPr lang="en-US" sz="1200" b="0" i="0" kern="1200" dirty="0" smtClean="0">
                <a:solidFill>
                  <a:schemeClr val="tx1"/>
                </a:solidFill>
                <a:latin typeface="+mn-lt"/>
                <a:ea typeface="+mn-ea"/>
                <a:cs typeface="+mn-cs"/>
              </a:rPr>
              <a:t>) and java.awt or </a:t>
            </a:r>
            <a:r>
              <a:rPr lang="en-US" sz="1200" b="0" i="0" kern="1200" dirty="0" err="1" smtClean="0">
                <a:solidFill>
                  <a:schemeClr val="tx1"/>
                </a:solidFill>
                <a:latin typeface="+mn-lt"/>
                <a:ea typeface="+mn-ea"/>
                <a:cs typeface="+mn-cs"/>
              </a:rPr>
              <a:t>javax.swing</a:t>
            </a:r>
            <a:r>
              <a:rPr lang="en-US" sz="1200" b="0" i="0" kern="1200" dirty="0" smtClean="0">
                <a:solidFill>
                  <a:schemeClr val="tx1"/>
                </a:solidFill>
                <a:latin typeface="+mn-lt"/>
                <a:ea typeface="+mn-ea"/>
                <a:cs typeface="+mn-cs"/>
              </a:rPr>
              <a:t> for UI. If you import both using *, your code will break if you use a class name that exists in both."</a:t>
            </a:r>
          </a:p>
          <a:p>
            <a:endParaRPr lang="en-US" dirty="0"/>
          </a:p>
        </p:txBody>
      </p:sp>
      <p:sp>
        <p:nvSpPr>
          <p:cNvPr id="4" name="Slide Number Placeholder 3"/>
          <p:cNvSpPr>
            <a:spLocks noGrp="1"/>
          </p:cNvSpPr>
          <p:nvPr>
            <p:ph type="sldNum" sz="quarter" idx="10"/>
          </p:nvPr>
        </p:nvSpPr>
        <p:spPr/>
        <p:txBody>
          <a:bodyPr/>
          <a:lstStyle/>
          <a:p>
            <a:fld id="{5DE36570-A967-4EBE-9949-A932A1A992FB}" type="slidenum">
              <a:rPr lang="en-US" smtClean="0"/>
              <a:pPr/>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mn-lt"/>
                <a:ea typeface="+mn-ea"/>
                <a:cs typeface="+mn-cs"/>
              </a:rPr>
              <a:t>Visual Suggestion:</a:t>
            </a:r>
            <a:endParaRPr lang="en-US" sz="1200" b="0" i="0" kern="1200" dirty="0" smtClean="0">
              <a:solidFill>
                <a:schemeClr val="tx1"/>
              </a:solidFill>
              <a:latin typeface="+mn-lt"/>
              <a:ea typeface="+mn-ea"/>
              <a:cs typeface="+mn-cs"/>
            </a:endParaRPr>
          </a:p>
          <a:p>
            <a:r>
              <a:rPr lang="en-US" sz="1200" b="0" i="0" kern="1200" dirty="0" smtClean="0">
                <a:solidFill>
                  <a:schemeClr val="tx1"/>
                </a:solidFill>
                <a:latin typeface="+mn-lt"/>
                <a:ea typeface="+mn-ea"/>
                <a:cs typeface="+mn-cs"/>
              </a:rPr>
              <a:t>Code snippet showing the correct order: package -&gt; import -&gt; class.</a:t>
            </a:r>
          </a:p>
          <a:p>
            <a:r>
              <a:rPr lang="en-US" sz="1200" b="1" i="0" kern="1200" dirty="0" smtClean="0">
                <a:solidFill>
                  <a:schemeClr val="tx1"/>
                </a:solidFill>
                <a:latin typeface="+mn-lt"/>
                <a:ea typeface="+mn-ea"/>
                <a:cs typeface="+mn-cs"/>
              </a:rPr>
              <a:t>Speaker Notes:</a:t>
            </a:r>
            <a:r>
              <a:rPr lang="en-US" sz="1200" b="0" i="0" kern="1200" dirty="0" smtClean="0">
                <a:solidFill>
                  <a:schemeClr val="tx1"/>
                </a:solidFill>
                <a:latin typeface="+mn-lt"/>
                <a:ea typeface="+mn-ea"/>
                <a:cs typeface="+mn-cs"/>
              </a:rPr>
              <a:t> "For learning Swing, import </a:t>
            </a:r>
            <a:r>
              <a:rPr lang="en-US" sz="1200" b="0" i="0" kern="1200" dirty="0" err="1" smtClean="0">
                <a:solidFill>
                  <a:schemeClr val="tx1"/>
                </a:solidFill>
                <a:latin typeface="+mn-lt"/>
                <a:ea typeface="+mn-ea"/>
                <a:cs typeface="+mn-cs"/>
              </a:rPr>
              <a:t>javax.swing</a:t>
            </a:r>
            <a:r>
              <a:rPr lang="en-US" sz="1200" b="0" i="0" kern="1200" dirty="0" smtClean="0">
                <a:solidFill>
                  <a:schemeClr val="tx1"/>
                </a:solidFill>
                <a:latin typeface="+mn-lt"/>
                <a:ea typeface="+mn-ea"/>
                <a:cs typeface="+mn-cs"/>
              </a:rPr>
              <a:t>.*; is convenient. However, in professional development, specific imports are preferred because they make it clear exactly which classes are being used and avoid the naming conflicts we just discussed."</a:t>
            </a:r>
          </a:p>
          <a:p>
            <a:r>
              <a:rPr lang="en-US" dirty="0" smtClean="0"/>
              <a:t/>
            </a:r>
            <a:br>
              <a:rPr lang="en-US" dirty="0" smtClean="0"/>
            </a:br>
            <a:endParaRPr lang="en-US" sz="1200" b="0" i="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5DE36570-A967-4EBE-9949-A932A1A992FB}" type="slidenum">
              <a:rPr lang="en-US" smtClean="0"/>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mn-lt"/>
                <a:ea typeface="+mn-ea"/>
                <a:cs typeface="+mn-cs"/>
              </a:rPr>
              <a:t>Visual Suggestion:</a:t>
            </a:r>
            <a:endParaRPr lang="en-US" sz="1200" b="0" i="0" kern="1200" dirty="0" smtClean="0">
              <a:solidFill>
                <a:schemeClr val="tx1"/>
              </a:solidFill>
              <a:latin typeface="+mn-lt"/>
              <a:ea typeface="+mn-ea"/>
              <a:cs typeface="+mn-cs"/>
            </a:endParaRPr>
          </a:p>
          <a:p>
            <a:r>
              <a:rPr lang="en-US" sz="1200" b="0" i="0" kern="1200" dirty="0" smtClean="0">
                <a:solidFill>
                  <a:schemeClr val="tx1"/>
                </a:solidFill>
                <a:latin typeface="+mn-lt"/>
                <a:ea typeface="+mn-ea"/>
                <a:cs typeface="+mn-cs"/>
              </a:rPr>
              <a:t>Side-by-side screenshot of an AWT button vs. a Swing button on different OSs.</a:t>
            </a:r>
          </a:p>
          <a:p>
            <a:r>
              <a:rPr lang="en-US" sz="1200" b="1" i="0" kern="1200" dirty="0" smtClean="0">
                <a:solidFill>
                  <a:schemeClr val="tx1"/>
                </a:solidFill>
                <a:latin typeface="+mn-lt"/>
                <a:ea typeface="+mn-ea"/>
                <a:cs typeface="+mn-cs"/>
              </a:rPr>
              <a:t>Speaker Notes:</a:t>
            </a:r>
            <a:r>
              <a:rPr lang="en-US" sz="1200" b="0" i="0" kern="1200" dirty="0" smtClean="0">
                <a:solidFill>
                  <a:schemeClr val="tx1"/>
                </a:solidFill>
                <a:latin typeface="+mn-lt"/>
                <a:ea typeface="+mn-ea"/>
                <a:cs typeface="+mn-cs"/>
              </a:rPr>
              <a:t> "Think of AWT as a wrapper around the operating system's UI. Swing is a custom painting engine. This is why Swing apps look consistent regardless of the OS, unless we tell them otherwise."</a:t>
            </a:r>
          </a:p>
          <a:p>
            <a:endParaRPr lang="en-US" dirty="0"/>
          </a:p>
        </p:txBody>
      </p:sp>
      <p:sp>
        <p:nvSpPr>
          <p:cNvPr id="4" name="Slide Number Placeholder 3"/>
          <p:cNvSpPr>
            <a:spLocks noGrp="1"/>
          </p:cNvSpPr>
          <p:nvPr>
            <p:ph type="sldNum" sz="quarter" idx="10"/>
          </p:nvPr>
        </p:nvSpPr>
        <p:spPr/>
        <p:txBody>
          <a:bodyPr/>
          <a:lstStyle/>
          <a:p>
            <a:fld id="{5DE36570-A967-4EBE-9949-A932A1A992FB}" type="slidenum">
              <a:rPr lang="en-US" smtClean="0"/>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dirty="0" smtClean="0">
                <a:latin typeface="Courier New" pitchFamily="49" charset="0"/>
                <a:cs typeface="Courier New" pitchFamily="49" charset="0"/>
              </a:rPr>
              <a:t>public class </a:t>
            </a:r>
            <a:r>
              <a:rPr lang="en-US" sz="1200" b="1" dirty="0" err="1" smtClean="0">
                <a:latin typeface="Courier New" pitchFamily="49" charset="0"/>
                <a:cs typeface="Courier New" pitchFamily="49" charset="0"/>
              </a:rPr>
              <a:t>LoginForm</a:t>
            </a:r>
            <a:r>
              <a:rPr lang="en-US" sz="1200" b="1" dirty="0" smtClean="0">
                <a:latin typeface="Courier New" pitchFamily="49" charset="0"/>
                <a:cs typeface="Courier New" pitchFamily="49" charset="0"/>
              </a:rPr>
              <a:t> {</a:t>
            </a:r>
          </a:p>
          <a:p>
            <a:r>
              <a:rPr lang="en-US" sz="1200" b="1" dirty="0" smtClean="0">
                <a:latin typeface="Courier New" pitchFamily="49" charset="0"/>
                <a:cs typeface="Courier New" pitchFamily="49" charset="0"/>
              </a:rPr>
              <a:t>    private </a:t>
            </a:r>
            <a:r>
              <a:rPr lang="en-US" sz="1200" b="1" dirty="0" err="1" smtClean="0">
                <a:latin typeface="Courier New" pitchFamily="49" charset="0"/>
                <a:cs typeface="Courier New" pitchFamily="49" charset="0"/>
              </a:rPr>
              <a:t>JTextField</a:t>
            </a:r>
            <a:r>
              <a:rPr lang="en-US" sz="1200" b="1" dirty="0" smtClean="0">
                <a:latin typeface="Courier New" pitchFamily="49" charset="0"/>
                <a:cs typeface="Courier New" pitchFamily="49" charset="0"/>
              </a:rPr>
              <a:t> </a:t>
            </a:r>
            <a:r>
              <a:rPr lang="en-US" sz="1200" b="1" dirty="0" err="1" smtClean="0">
                <a:latin typeface="Courier New" pitchFamily="49" charset="0"/>
                <a:cs typeface="Courier New" pitchFamily="49" charset="0"/>
              </a:rPr>
              <a:t>passwordField</a:t>
            </a:r>
            <a:r>
              <a:rPr lang="en-US" sz="1200" b="1" dirty="0" smtClean="0">
                <a:latin typeface="Courier New" pitchFamily="49" charset="0"/>
                <a:cs typeface="Courier New" pitchFamily="49" charset="0"/>
              </a:rPr>
              <a:t>; // Hidden from other packages</a:t>
            </a:r>
          </a:p>
          <a:p>
            <a:r>
              <a:rPr lang="en-US" sz="1200" b="1" dirty="0" smtClean="0">
                <a:latin typeface="Courier New" pitchFamily="49" charset="0"/>
                <a:cs typeface="Courier New" pitchFamily="49" charset="0"/>
              </a:rPr>
              <a:t>    public void </a:t>
            </a:r>
            <a:r>
              <a:rPr lang="en-US" sz="1200" b="1" dirty="0" err="1" smtClean="0">
                <a:latin typeface="Courier New" pitchFamily="49" charset="0"/>
                <a:cs typeface="Courier New" pitchFamily="49" charset="0"/>
              </a:rPr>
              <a:t>clearForm</a:t>
            </a:r>
            <a:r>
              <a:rPr lang="en-US" sz="1200" b="1" dirty="0" smtClean="0">
                <a:latin typeface="Courier New" pitchFamily="49" charset="0"/>
                <a:cs typeface="Courier New" pitchFamily="49" charset="0"/>
              </a:rPr>
              <a:t>() { ... }   // Accessible API</a:t>
            </a:r>
          </a:p>
          <a:p>
            <a:r>
              <a:rPr lang="en-US" sz="1200" b="1" dirty="0" smtClean="0">
                <a:latin typeface="Courier New" pitchFamily="49" charset="0"/>
                <a:cs typeface="Courier New" pitchFamily="49" charset="0"/>
              </a:rPr>
              <a:t>}</a:t>
            </a:r>
          </a:p>
          <a:p>
            <a:endParaRPr lang="en-US" sz="1200" b="1" i="0" kern="1200" dirty="0" smtClean="0">
              <a:solidFill>
                <a:schemeClr val="tx1"/>
              </a:solidFill>
              <a:latin typeface="+mn-lt"/>
              <a:ea typeface="+mn-ea"/>
              <a:cs typeface="+mn-cs"/>
            </a:endParaRPr>
          </a:p>
          <a:p>
            <a:r>
              <a:rPr lang="en-US" sz="1200" b="1" i="0" kern="1200" dirty="0" smtClean="0">
                <a:solidFill>
                  <a:schemeClr val="tx1"/>
                </a:solidFill>
                <a:latin typeface="+mn-lt"/>
                <a:ea typeface="+mn-ea"/>
                <a:cs typeface="+mn-cs"/>
              </a:rPr>
              <a:t>Visual Suggestion:</a:t>
            </a:r>
            <a:endParaRPr lang="en-US" sz="1200" b="0" i="0" kern="1200" dirty="0" smtClean="0">
              <a:solidFill>
                <a:schemeClr val="tx1"/>
              </a:solidFill>
              <a:latin typeface="+mn-lt"/>
              <a:ea typeface="+mn-ea"/>
              <a:cs typeface="+mn-cs"/>
            </a:endParaRPr>
          </a:p>
          <a:p>
            <a:r>
              <a:rPr lang="en-US" sz="1200" b="0" i="0" kern="1200" dirty="0" smtClean="0">
                <a:solidFill>
                  <a:schemeClr val="tx1"/>
                </a:solidFill>
                <a:latin typeface="+mn-lt"/>
                <a:ea typeface="+mn-ea"/>
                <a:cs typeface="+mn-cs"/>
              </a:rPr>
              <a:t>Table comparing the four access levels (Class, Package, Subclass, World).</a:t>
            </a:r>
          </a:p>
          <a:p>
            <a:r>
              <a:rPr lang="en-US" sz="1200" b="1" i="0" kern="1200" dirty="0" smtClean="0">
                <a:solidFill>
                  <a:schemeClr val="tx1"/>
                </a:solidFill>
                <a:latin typeface="+mn-lt"/>
                <a:ea typeface="+mn-ea"/>
                <a:cs typeface="+mn-cs"/>
              </a:rPr>
              <a:t>Speaker Notes:</a:t>
            </a:r>
            <a:r>
              <a:rPr lang="en-US" sz="1200" b="0" i="0" kern="1200" dirty="0" smtClean="0">
                <a:solidFill>
                  <a:schemeClr val="tx1"/>
                </a:solidFill>
                <a:latin typeface="+mn-lt"/>
                <a:ea typeface="+mn-ea"/>
                <a:cs typeface="+mn-cs"/>
              </a:rPr>
              <a:t> "Encapsulation is key. You don't want other parts of your program directly manipulating a button inside a window. Keep components private and expose public methods to change their state."</a:t>
            </a:r>
          </a:p>
          <a:p>
            <a:endParaRPr lang="en-US" dirty="0"/>
          </a:p>
        </p:txBody>
      </p:sp>
      <p:sp>
        <p:nvSpPr>
          <p:cNvPr id="4" name="Slide Number Placeholder 3"/>
          <p:cNvSpPr>
            <a:spLocks noGrp="1"/>
          </p:cNvSpPr>
          <p:nvPr>
            <p:ph type="sldNum" sz="quarter" idx="10"/>
          </p:nvPr>
        </p:nvSpPr>
        <p:spPr/>
        <p:txBody>
          <a:bodyPr/>
          <a:lstStyle/>
          <a:p>
            <a:fld id="{5DE36570-A967-4EBE-9949-A932A1A992FB}" type="slidenum">
              <a:rPr lang="en-US" smtClean="0"/>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mn-lt"/>
                <a:ea typeface="+mn-ea"/>
                <a:cs typeface="+mn-cs"/>
              </a:rPr>
              <a:t>Visual Suggestion:</a:t>
            </a:r>
            <a:endParaRPr lang="en-US" sz="1200" b="0" i="0" kern="1200" dirty="0" smtClean="0">
              <a:solidFill>
                <a:schemeClr val="tx1"/>
              </a:solidFill>
              <a:latin typeface="+mn-lt"/>
              <a:ea typeface="+mn-ea"/>
              <a:cs typeface="+mn-cs"/>
            </a:endParaRPr>
          </a:p>
          <a:p>
            <a:r>
              <a:rPr lang="en-US" sz="1200" b="0" i="0" kern="1200" dirty="0" smtClean="0">
                <a:solidFill>
                  <a:schemeClr val="tx1"/>
                </a:solidFill>
                <a:latin typeface="+mn-lt"/>
                <a:ea typeface="+mn-ea"/>
                <a:cs typeface="+mn-cs"/>
              </a:rPr>
              <a:t>A UML Class Diagram showing Component &lt; Container &lt; </a:t>
            </a:r>
            <a:r>
              <a:rPr lang="en-US" sz="1200" b="0" i="0" kern="1200" dirty="0" err="1" smtClean="0">
                <a:solidFill>
                  <a:schemeClr val="tx1"/>
                </a:solidFill>
                <a:latin typeface="+mn-lt"/>
                <a:ea typeface="+mn-ea"/>
                <a:cs typeface="+mn-cs"/>
              </a:rPr>
              <a:t>JComponent</a:t>
            </a:r>
            <a:r>
              <a:rPr lang="en-US" sz="1200" b="0" i="0" kern="1200" dirty="0" smtClean="0">
                <a:solidFill>
                  <a:schemeClr val="tx1"/>
                </a:solidFill>
                <a:latin typeface="+mn-lt"/>
                <a:ea typeface="+mn-ea"/>
                <a:cs typeface="+mn-cs"/>
              </a:rPr>
              <a:t> &lt; </a:t>
            </a:r>
            <a:r>
              <a:rPr lang="en-US" sz="1200" b="0" i="0" kern="1200" dirty="0" err="1" smtClean="0">
                <a:solidFill>
                  <a:schemeClr val="tx1"/>
                </a:solidFill>
                <a:latin typeface="+mn-lt"/>
                <a:ea typeface="+mn-ea"/>
                <a:cs typeface="+mn-cs"/>
              </a:rPr>
              <a:t>JButton</a:t>
            </a:r>
            <a:r>
              <a:rPr lang="en-US" sz="1200" b="0" i="0" kern="1200" dirty="0" smtClean="0">
                <a:solidFill>
                  <a:schemeClr val="tx1"/>
                </a:solidFill>
                <a:latin typeface="+mn-lt"/>
                <a:ea typeface="+mn-ea"/>
                <a:cs typeface="+mn-cs"/>
              </a:rPr>
              <a:t>/</a:t>
            </a:r>
            <a:r>
              <a:rPr lang="en-US" sz="1200" b="0" i="0" kern="1200" dirty="0" err="1" smtClean="0">
                <a:solidFill>
                  <a:schemeClr val="tx1"/>
                </a:solidFill>
                <a:latin typeface="+mn-lt"/>
                <a:ea typeface="+mn-ea"/>
                <a:cs typeface="+mn-cs"/>
              </a:rPr>
              <a:t>JLabel</a:t>
            </a:r>
            <a:r>
              <a:rPr lang="en-US" sz="1200" b="0" i="0" kern="1200" dirty="0" smtClean="0">
                <a:solidFill>
                  <a:schemeClr val="tx1"/>
                </a:solidFill>
                <a:latin typeface="+mn-lt"/>
                <a:ea typeface="+mn-ea"/>
                <a:cs typeface="+mn-cs"/>
              </a:rPr>
              <a:t>.</a:t>
            </a:r>
          </a:p>
          <a:p>
            <a:r>
              <a:rPr lang="en-US" sz="1200" b="1" i="0" kern="1200" dirty="0" smtClean="0">
                <a:solidFill>
                  <a:schemeClr val="tx1"/>
                </a:solidFill>
                <a:latin typeface="+mn-lt"/>
                <a:ea typeface="+mn-ea"/>
                <a:cs typeface="+mn-cs"/>
              </a:rPr>
              <a:t>Speaker Notes:</a:t>
            </a:r>
            <a:r>
              <a:rPr lang="en-US" sz="1200" b="0" i="0" kern="1200" dirty="0" smtClean="0">
                <a:solidFill>
                  <a:schemeClr val="tx1"/>
                </a:solidFill>
                <a:latin typeface="+mn-lt"/>
                <a:ea typeface="+mn-ea"/>
                <a:cs typeface="+mn-cs"/>
              </a:rPr>
              <a:t> "Everything in Swing is a Component. But not everything can hold other things. Only Containers can hold components. </a:t>
            </a:r>
            <a:r>
              <a:rPr lang="en-US" sz="1200" b="0" i="0" kern="1200" dirty="0" err="1" smtClean="0">
                <a:solidFill>
                  <a:schemeClr val="tx1"/>
                </a:solidFill>
                <a:latin typeface="+mn-lt"/>
                <a:ea typeface="+mn-ea"/>
                <a:cs typeface="+mn-cs"/>
              </a:rPr>
              <a:t>JFrame</a:t>
            </a:r>
            <a:r>
              <a:rPr lang="en-US" sz="1200" b="0" i="0" kern="1200" dirty="0" smtClean="0">
                <a:solidFill>
                  <a:schemeClr val="tx1"/>
                </a:solidFill>
                <a:latin typeface="+mn-lt"/>
                <a:ea typeface="+mn-ea"/>
                <a:cs typeface="+mn-cs"/>
              </a:rPr>
              <a:t> is the main window, but you usually add content to a </a:t>
            </a:r>
            <a:r>
              <a:rPr lang="en-US" sz="1200" b="0" i="0" kern="1200" dirty="0" err="1" smtClean="0">
                <a:solidFill>
                  <a:schemeClr val="tx1"/>
                </a:solidFill>
                <a:latin typeface="+mn-lt"/>
                <a:ea typeface="+mn-ea"/>
                <a:cs typeface="+mn-cs"/>
              </a:rPr>
              <a:t>JPanel</a:t>
            </a:r>
            <a:r>
              <a:rPr lang="en-US" sz="1200" b="0" i="0" kern="1200" dirty="0" smtClean="0">
                <a:solidFill>
                  <a:schemeClr val="tx1"/>
                </a:solidFill>
                <a:latin typeface="+mn-lt"/>
                <a:ea typeface="+mn-ea"/>
                <a:cs typeface="+mn-cs"/>
              </a:rPr>
              <a:t> inside the Frame."</a:t>
            </a:r>
          </a:p>
        </p:txBody>
      </p:sp>
      <p:sp>
        <p:nvSpPr>
          <p:cNvPr id="4" name="Slide Number Placeholder 3"/>
          <p:cNvSpPr>
            <a:spLocks noGrp="1"/>
          </p:cNvSpPr>
          <p:nvPr>
            <p:ph type="sldNum" sz="quarter" idx="10"/>
          </p:nvPr>
        </p:nvSpPr>
        <p:spPr/>
        <p:txBody>
          <a:bodyPr/>
          <a:lstStyle/>
          <a:p>
            <a:fld id="{5DE36570-A967-4EBE-9949-A932A1A992FB}" type="slidenum">
              <a:rPr lang="en-US" smtClean="0"/>
              <a:pPr/>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mn-lt"/>
                <a:ea typeface="+mn-ea"/>
                <a:cs typeface="+mn-cs"/>
              </a:rPr>
              <a:t>Speaker Notes:</a:t>
            </a:r>
            <a:r>
              <a:rPr lang="en-US" sz="1200" b="0" i="0" kern="1200" dirty="0" smtClean="0">
                <a:solidFill>
                  <a:schemeClr val="tx1"/>
                </a:solidFill>
                <a:latin typeface="+mn-lt"/>
                <a:ea typeface="+mn-ea"/>
                <a:cs typeface="+mn-cs"/>
              </a:rPr>
              <a:t> "A common mistake is forgetting </a:t>
            </a:r>
            <a:r>
              <a:rPr lang="en-US" sz="1200" b="0" i="0" kern="1200" dirty="0" err="1" smtClean="0">
                <a:solidFill>
                  <a:schemeClr val="tx1"/>
                </a:solidFill>
                <a:latin typeface="+mn-lt"/>
                <a:ea typeface="+mn-ea"/>
                <a:cs typeface="+mn-cs"/>
              </a:rPr>
              <a:t>setVisible</a:t>
            </a:r>
            <a:r>
              <a:rPr lang="en-US" sz="1200" b="0" i="0" kern="1200" dirty="0" smtClean="0">
                <a:solidFill>
                  <a:schemeClr val="tx1"/>
                </a:solidFill>
                <a:latin typeface="+mn-lt"/>
                <a:ea typeface="+mn-ea"/>
                <a:cs typeface="+mn-cs"/>
              </a:rPr>
              <a:t>(true). Another is forgetting the close operation, which leaves the program running in the background even after you click 'X'."</a:t>
            </a:r>
          </a:p>
          <a:p>
            <a:r>
              <a:rPr lang="en-US" dirty="0" smtClean="0"/>
              <a:t/>
            </a:r>
            <a:br>
              <a:rPr lang="en-US" dirty="0" smtClean="0"/>
            </a:br>
            <a:r>
              <a:rPr lang="en-US" b="1" dirty="0" smtClean="0"/>
              <a:t>The Event Dispatch Thread (EDT)</a:t>
            </a:r>
            <a:endParaRPr lang="en-US" dirty="0"/>
          </a:p>
        </p:txBody>
      </p:sp>
      <p:sp>
        <p:nvSpPr>
          <p:cNvPr id="4" name="Slide Number Placeholder 3"/>
          <p:cNvSpPr>
            <a:spLocks noGrp="1"/>
          </p:cNvSpPr>
          <p:nvPr>
            <p:ph type="sldNum" sz="quarter" idx="10"/>
          </p:nvPr>
        </p:nvSpPr>
        <p:spPr/>
        <p:txBody>
          <a:bodyPr/>
          <a:lstStyle/>
          <a:p>
            <a:fld id="{5DE36570-A967-4EBE-9949-A932A1A992FB}" type="slidenum">
              <a:rPr lang="en-US" smtClean="0"/>
              <a:pPr/>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DE36570-A967-4EBE-9949-A932A1A992FB}" type="slidenum">
              <a:rPr lang="en-US" smtClean="0"/>
              <a:pPr/>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mn-lt"/>
                <a:ea typeface="+mn-ea"/>
                <a:cs typeface="+mn-cs"/>
              </a:rPr>
              <a:t>Visual Suggestion:</a:t>
            </a:r>
            <a:endParaRPr lang="en-US" sz="1200" b="0" i="0" kern="1200" dirty="0" smtClean="0">
              <a:solidFill>
                <a:schemeClr val="tx1"/>
              </a:solidFill>
              <a:latin typeface="+mn-lt"/>
              <a:ea typeface="+mn-ea"/>
              <a:cs typeface="+mn-cs"/>
            </a:endParaRPr>
          </a:p>
          <a:p>
            <a:r>
              <a:rPr lang="en-US" sz="1200" b="0" i="0" kern="1200" dirty="0" smtClean="0">
                <a:solidFill>
                  <a:schemeClr val="tx1"/>
                </a:solidFill>
                <a:latin typeface="+mn-lt"/>
                <a:ea typeface="+mn-ea"/>
                <a:cs typeface="+mn-cs"/>
              </a:rPr>
              <a:t>Screenshot of a simple login form showing swing components.</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5DE36570-A967-4EBE-9949-A932A1A992FB}" type="slidenum">
              <a:rPr lang="en-US" smtClean="0"/>
              <a:pPr/>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Speaker Notes:</a:t>
            </a:r>
            <a:r>
              <a:rPr lang="en-US" dirty="0" smtClean="0"/>
              <a:t> "Never use absolute positioning unless you have a very specific reason. Layout managers ensure your app looks good when the user resizes the window."</a:t>
            </a:r>
          </a:p>
          <a:p>
            <a:endParaRPr lang="en-US" dirty="0"/>
          </a:p>
        </p:txBody>
      </p:sp>
      <p:sp>
        <p:nvSpPr>
          <p:cNvPr id="4" name="Slide Number Placeholder 3"/>
          <p:cNvSpPr>
            <a:spLocks noGrp="1"/>
          </p:cNvSpPr>
          <p:nvPr>
            <p:ph type="sldNum" sz="quarter" idx="10"/>
          </p:nvPr>
        </p:nvSpPr>
        <p:spPr/>
        <p:txBody>
          <a:bodyPr/>
          <a:lstStyle/>
          <a:p>
            <a:fld id="{5DE36570-A967-4EBE-9949-A932A1A992FB}" type="slidenum">
              <a:rPr lang="en-US" smtClean="0"/>
              <a:pPr/>
              <a:t>13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mn-lt"/>
                <a:ea typeface="+mn-ea"/>
                <a:cs typeface="+mn-cs"/>
              </a:rPr>
              <a:t>Visual Suggestion:</a:t>
            </a:r>
            <a:endParaRPr lang="en-US" sz="1200" b="0" i="0" kern="1200" dirty="0" smtClean="0">
              <a:solidFill>
                <a:schemeClr val="tx1"/>
              </a:solidFill>
              <a:latin typeface="+mn-lt"/>
              <a:ea typeface="+mn-ea"/>
              <a:cs typeface="+mn-cs"/>
            </a:endParaRPr>
          </a:p>
          <a:p>
            <a:r>
              <a:rPr lang="en-US" sz="1200" b="0" i="0" kern="1200" dirty="0" smtClean="0">
                <a:solidFill>
                  <a:schemeClr val="tx1"/>
                </a:solidFill>
                <a:latin typeface="+mn-lt"/>
                <a:ea typeface="+mn-ea"/>
                <a:cs typeface="+mn-cs"/>
              </a:rPr>
              <a:t>Sequence diagram: User -&gt; Button -&gt; Event Object -&gt; Listener Method.</a:t>
            </a:r>
          </a:p>
          <a:p>
            <a:endParaRPr lang="en-US" dirty="0"/>
          </a:p>
        </p:txBody>
      </p:sp>
      <p:sp>
        <p:nvSpPr>
          <p:cNvPr id="4" name="Slide Number Placeholder 3"/>
          <p:cNvSpPr>
            <a:spLocks noGrp="1"/>
          </p:cNvSpPr>
          <p:nvPr>
            <p:ph type="sldNum" sz="quarter" idx="10"/>
          </p:nvPr>
        </p:nvSpPr>
        <p:spPr/>
        <p:txBody>
          <a:bodyPr/>
          <a:lstStyle/>
          <a:p>
            <a:fld id="{5DE36570-A967-4EBE-9949-A932A1A992FB}" type="slidenum">
              <a:rPr lang="en-US" smtClean="0"/>
              <a:pPr/>
              <a:t>16</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mn-lt"/>
                <a:ea typeface="+mn-ea"/>
                <a:cs typeface="+mn-cs"/>
              </a:rPr>
              <a:t>Speaker Notes:</a:t>
            </a:r>
            <a:r>
              <a:rPr lang="en-US" sz="1200" b="0" i="0" kern="1200" dirty="0" smtClean="0">
                <a:solidFill>
                  <a:schemeClr val="tx1"/>
                </a:solidFill>
                <a:latin typeface="+mn-lt"/>
                <a:ea typeface="+mn-ea"/>
                <a:cs typeface="+mn-cs"/>
              </a:rPr>
              <a:t> "Lambdas make Swing code much cleaner. The variable e represents the </a:t>
            </a:r>
            <a:r>
              <a:rPr lang="en-US" sz="1200" b="0" i="0" kern="1200" dirty="0" err="1" smtClean="0">
                <a:solidFill>
                  <a:schemeClr val="tx1"/>
                </a:solidFill>
                <a:latin typeface="+mn-lt"/>
                <a:ea typeface="+mn-ea"/>
                <a:cs typeface="+mn-cs"/>
              </a:rPr>
              <a:t>ActionEvent</a:t>
            </a:r>
            <a:r>
              <a:rPr lang="en-US" sz="1200" b="0" i="0" kern="1200" dirty="0" smtClean="0">
                <a:solidFill>
                  <a:schemeClr val="tx1"/>
                </a:solidFill>
                <a:latin typeface="+mn-lt"/>
                <a:ea typeface="+mn-ea"/>
                <a:cs typeface="+mn-cs"/>
              </a:rPr>
              <a:t>. Inside this block is where your business logic lives."</a:t>
            </a:r>
          </a:p>
        </p:txBody>
      </p:sp>
      <p:sp>
        <p:nvSpPr>
          <p:cNvPr id="4" name="Slide Number Placeholder 3"/>
          <p:cNvSpPr>
            <a:spLocks noGrp="1"/>
          </p:cNvSpPr>
          <p:nvPr>
            <p:ph type="sldNum" sz="quarter" idx="10"/>
          </p:nvPr>
        </p:nvSpPr>
        <p:spPr/>
        <p:txBody>
          <a:bodyPr/>
          <a:lstStyle/>
          <a:p>
            <a:fld id="{5DE36570-A967-4EBE-9949-A932A1A992FB}" type="slidenum">
              <a:rPr lang="en-US" smtClean="0"/>
              <a:pPr/>
              <a:t>17</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mn-lt"/>
                <a:ea typeface="+mn-ea"/>
                <a:cs typeface="+mn-cs"/>
              </a:rPr>
              <a:t>Visual Suggestion:</a:t>
            </a:r>
            <a:endParaRPr lang="en-US" sz="1200" b="0" i="0" kern="1200" dirty="0" smtClean="0">
              <a:solidFill>
                <a:schemeClr val="tx1"/>
              </a:solidFill>
              <a:latin typeface="+mn-lt"/>
              <a:ea typeface="+mn-ea"/>
              <a:cs typeface="+mn-cs"/>
            </a:endParaRPr>
          </a:p>
          <a:p>
            <a:r>
              <a:rPr lang="en-US" sz="1200" b="0" i="0" kern="1200" dirty="0" smtClean="0">
                <a:solidFill>
                  <a:schemeClr val="tx1"/>
                </a:solidFill>
                <a:latin typeface="+mn-lt"/>
                <a:ea typeface="+mn-ea"/>
                <a:cs typeface="+mn-cs"/>
              </a:rPr>
              <a:t>Screenshot of the Project View in </a:t>
            </a:r>
            <a:r>
              <a:rPr lang="en-US" sz="1200" b="0" i="0" kern="1200" dirty="0" err="1" smtClean="0">
                <a:solidFill>
                  <a:schemeClr val="tx1"/>
                </a:solidFill>
                <a:latin typeface="+mn-lt"/>
                <a:ea typeface="+mn-ea"/>
                <a:cs typeface="+mn-cs"/>
              </a:rPr>
              <a:t>IntelliJ</a:t>
            </a:r>
            <a:r>
              <a:rPr lang="en-US" sz="1200" b="0" i="0" kern="1200" dirty="0" smtClean="0">
                <a:solidFill>
                  <a:schemeClr val="tx1"/>
                </a:solidFill>
                <a:latin typeface="+mn-lt"/>
                <a:ea typeface="+mn-ea"/>
                <a:cs typeface="+mn-cs"/>
              </a:rPr>
              <a:t> or Eclipse showing this folder structure.</a:t>
            </a:r>
          </a:p>
          <a:p>
            <a:r>
              <a:rPr lang="en-US" sz="1200" b="1" i="0" kern="1200" dirty="0" smtClean="0">
                <a:solidFill>
                  <a:schemeClr val="tx1"/>
                </a:solidFill>
                <a:latin typeface="+mn-lt"/>
                <a:ea typeface="+mn-ea"/>
                <a:cs typeface="+mn-cs"/>
              </a:rPr>
              <a:t>Speaker Notes:</a:t>
            </a:r>
            <a:r>
              <a:rPr lang="en-US" sz="1200" b="0" i="0" kern="1200" dirty="0" smtClean="0">
                <a:solidFill>
                  <a:schemeClr val="tx1"/>
                </a:solidFill>
                <a:latin typeface="+mn-lt"/>
                <a:ea typeface="+mn-ea"/>
                <a:cs typeface="+mn-cs"/>
              </a:rPr>
              <a:t> "As your GUI gets complex, putting everything in one file is a nightmare. Start good habits early. Separate your UI code (View) from your logic (Controller)."</a:t>
            </a:r>
          </a:p>
          <a:p>
            <a:endParaRPr lang="en-US" dirty="0"/>
          </a:p>
        </p:txBody>
      </p:sp>
      <p:sp>
        <p:nvSpPr>
          <p:cNvPr id="4" name="Slide Number Placeholder 3"/>
          <p:cNvSpPr>
            <a:spLocks noGrp="1"/>
          </p:cNvSpPr>
          <p:nvPr>
            <p:ph type="sldNum" sz="quarter" idx="10"/>
          </p:nvPr>
        </p:nvSpPr>
        <p:spPr/>
        <p:txBody>
          <a:bodyPr/>
          <a:lstStyle/>
          <a:p>
            <a:fld id="{5DE36570-A967-4EBE-9949-A932A1A992FB}" type="slidenum">
              <a:rPr lang="en-US" smtClean="0"/>
              <a:pPr/>
              <a:t>19</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Visual Suggestion:</a:t>
            </a:r>
            <a:endParaRPr lang="en-US" dirty="0" smtClean="0"/>
          </a:p>
          <a:p>
            <a:r>
              <a:rPr lang="en-US" dirty="0" smtClean="0"/>
              <a:t>Checkmark/Cross icon list comparing Bad vs. Good practices.</a:t>
            </a:r>
          </a:p>
          <a:p>
            <a:r>
              <a:rPr lang="en-US" b="1" dirty="0" smtClean="0"/>
              <a:t>Speaker Notes:</a:t>
            </a:r>
            <a:r>
              <a:rPr lang="en-US" dirty="0" smtClean="0"/>
              <a:t> "The default package is fine for a 50-line test script, but for a Swing application, always define a package. It saves you from headaches when you try to compile multiple files later."</a:t>
            </a:r>
          </a:p>
          <a:p>
            <a:endParaRPr lang="en-US" dirty="0"/>
          </a:p>
        </p:txBody>
      </p:sp>
      <p:sp>
        <p:nvSpPr>
          <p:cNvPr id="4" name="Slide Number Placeholder 3"/>
          <p:cNvSpPr>
            <a:spLocks noGrp="1"/>
          </p:cNvSpPr>
          <p:nvPr>
            <p:ph type="sldNum" sz="quarter" idx="10"/>
          </p:nvPr>
        </p:nvSpPr>
        <p:spPr/>
        <p:txBody>
          <a:bodyPr/>
          <a:lstStyle/>
          <a:p>
            <a:fld id="{5DE36570-A967-4EBE-9949-A932A1A992FB}" type="slidenum">
              <a:rPr lang="en-US" smtClean="0"/>
              <a:pPr/>
              <a:t>20</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mn-lt"/>
                <a:ea typeface="+mn-ea"/>
                <a:cs typeface="+mn-cs"/>
              </a:rPr>
              <a:t>Speaker Notes:</a:t>
            </a:r>
            <a:r>
              <a:rPr lang="en-US" sz="1200" b="0" i="0" kern="1200" dirty="0" smtClean="0">
                <a:solidFill>
                  <a:schemeClr val="tx1"/>
                </a:solidFill>
                <a:latin typeface="+mn-lt"/>
                <a:ea typeface="+mn-ea"/>
                <a:cs typeface="+mn-cs"/>
              </a:rPr>
              <a:t> "This is the most critical concept. If you block the EDT, the window becomes unresponsive ('Not Responding'). Never put </a:t>
            </a:r>
            <a:r>
              <a:rPr lang="en-US" sz="1200" b="0" i="0" kern="1200" dirty="0" err="1" smtClean="0">
                <a:solidFill>
                  <a:schemeClr val="tx1"/>
                </a:solidFill>
                <a:latin typeface="+mn-lt"/>
                <a:ea typeface="+mn-ea"/>
                <a:cs typeface="+mn-cs"/>
              </a:rPr>
              <a:t>Thread.sleep</a:t>
            </a:r>
            <a:r>
              <a:rPr lang="en-US" sz="1200" b="0" i="0" kern="1200" dirty="0" smtClean="0">
                <a:solidFill>
                  <a:schemeClr val="tx1"/>
                </a:solidFill>
                <a:latin typeface="+mn-lt"/>
                <a:ea typeface="+mn-ea"/>
                <a:cs typeface="+mn-cs"/>
              </a:rPr>
              <a:t> or heavy loops directly in an </a:t>
            </a:r>
            <a:r>
              <a:rPr lang="en-US" sz="1200" b="0" i="0" kern="1200" dirty="0" err="1" smtClean="0">
                <a:solidFill>
                  <a:schemeClr val="tx1"/>
                </a:solidFill>
                <a:latin typeface="+mn-lt"/>
                <a:ea typeface="+mn-ea"/>
                <a:cs typeface="+mn-cs"/>
              </a:rPr>
              <a:t>ActionListener</a:t>
            </a:r>
            <a:r>
              <a:rPr lang="en-US" sz="1200" b="0" i="0" kern="1200" dirty="0" smtClean="0">
                <a:solidFill>
                  <a:schemeClr val="tx1"/>
                </a:solidFill>
                <a:latin typeface="+mn-lt"/>
                <a:ea typeface="+mn-ea"/>
                <a:cs typeface="+mn-cs"/>
              </a:rPr>
              <a:t>."</a:t>
            </a: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5DE36570-A967-4EBE-9949-A932A1A992FB}" type="slidenum">
              <a:rPr lang="en-US" smtClean="0"/>
              <a:pPr/>
              <a:t>21</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mn-lt"/>
                <a:ea typeface="+mn-ea"/>
                <a:cs typeface="+mn-cs"/>
              </a:rPr>
              <a:t>Speaker Notes:</a:t>
            </a:r>
            <a:r>
              <a:rPr lang="en-US" sz="1200" b="0" i="0" kern="1200" dirty="0" smtClean="0">
                <a:solidFill>
                  <a:schemeClr val="tx1"/>
                </a:solidFill>
                <a:latin typeface="+mn-lt"/>
                <a:ea typeface="+mn-ea"/>
                <a:cs typeface="+mn-cs"/>
              </a:rPr>
              <a:t> “pause here and try to code this. It touches on layout, components, events, and parsing logic."</a:t>
            </a:r>
            <a:endParaRPr lang="en-US" dirty="0"/>
          </a:p>
        </p:txBody>
      </p:sp>
      <p:sp>
        <p:nvSpPr>
          <p:cNvPr id="4" name="Slide Number Placeholder 3"/>
          <p:cNvSpPr>
            <a:spLocks noGrp="1"/>
          </p:cNvSpPr>
          <p:nvPr>
            <p:ph type="sldNum" sz="quarter" idx="10"/>
          </p:nvPr>
        </p:nvSpPr>
        <p:spPr/>
        <p:txBody>
          <a:bodyPr/>
          <a:lstStyle/>
          <a:p>
            <a:fld id="{5DE36570-A967-4EBE-9949-A932A1A992FB}" type="slidenum">
              <a:rPr lang="en-US" smtClean="0"/>
              <a:pPr/>
              <a:t>23</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Speaker Notes:</a:t>
            </a:r>
          </a:p>
          <a:p>
            <a:r>
              <a:rPr lang="en-US" dirty="0" smtClean="0"/>
              <a:t>"Swing is still used in massive enterprise systems (IDEs like </a:t>
            </a:r>
            <a:r>
              <a:rPr lang="en-US" dirty="0" err="1" smtClean="0"/>
              <a:t>IntelliJ</a:t>
            </a:r>
            <a:r>
              <a:rPr lang="en-US" dirty="0" smtClean="0"/>
              <a:t>, banking tools). While new projects might use </a:t>
            </a:r>
            <a:r>
              <a:rPr lang="en-US" dirty="0" err="1" smtClean="0"/>
              <a:t>JavaFX</a:t>
            </a:r>
            <a:r>
              <a:rPr lang="en-US" dirty="0" smtClean="0"/>
              <a:t> or Web, understanding Swing teaches you fundamental event-driven architecture."</a:t>
            </a:r>
          </a:p>
        </p:txBody>
      </p:sp>
      <p:sp>
        <p:nvSpPr>
          <p:cNvPr id="4" name="Slide Number Placeholder 3"/>
          <p:cNvSpPr>
            <a:spLocks noGrp="1"/>
          </p:cNvSpPr>
          <p:nvPr>
            <p:ph type="sldNum" sz="quarter" idx="10"/>
          </p:nvPr>
        </p:nvSpPr>
        <p:spPr/>
        <p:txBody>
          <a:bodyPr/>
          <a:lstStyle/>
          <a:p>
            <a:fld id="{5DE36570-A967-4EBE-9949-A932A1A992FB}" type="slidenum">
              <a:rPr lang="en-US" smtClean="0"/>
              <a:pPr/>
              <a:t>24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3931D62-7DF2-4DB4-910C-5841F65C3738}" type="datetimeFigureOut">
              <a:rPr lang="en-US" smtClean="0"/>
              <a:pPr/>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081F2-7D72-46A6-BEAC-1147620A3BD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3931D62-7DF2-4DB4-910C-5841F65C3738}" type="datetimeFigureOut">
              <a:rPr lang="en-US" smtClean="0"/>
              <a:pPr/>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081F2-7D72-46A6-BEAC-1147620A3BD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3931D62-7DF2-4DB4-910C-5841F65C3738}" type="datetimeFigureOut">
              <a:rPr lang="en-US" smtClean="0"/>
              <a:pPr/>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081F2-7D72-46A6-BEAC-1147620A3BD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3931D62-7DF2-4DB4-910C-5841F65C3738}" type="datetimeFigureOut">
              <a:rPr lang="en-US" smtClean="0"/>
              <a:pPr/>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081F2-7D72-46A6-BEAC-1147620A3BD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3931D62-7DF2-4DB4-910C-5841F65C3738}" type="datetimeFigureOut">
              <a:rPr lang="en-US" smtClean="0"/>
              <a:pPr/>
              <a:t>3/15/2026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081F2-7D72-46A6-BEAC-1147620A3BD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3931D62-7DF2-4DB4-910C-5841F65C3738}" type="datetimeFigureOut">
              <a:rPr lang="en-US" smtClean="0"/>
              <a:pPr/>
              <a:t>3/15/2026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081F2-7D72-46A6-BEAC-1147620A3BD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931D62-7DF2-4DB4-910C-5841F65C3738}" type="datetimeFigureOut">
              <a:rPr lang="en-US" smtClean="0"/>
              <a:pPr/>
              <a:t>3/15/2026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B081F2-7D72-46A6-BEAC-1147620A3BD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3931D62-7DF2-4DB4-910C-5841F65C3738}" type="datetimeFigureOut">
              <a:rPr lang="en-US" smtClean="0"/>
              <a:pPr/>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081F2-7D72-46A6-BEAC-1147620A3BD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3931D62-7DF2-4DB4-910C-5841F65C3738}" type="datetimeFigureOut">
              <a:rPr lang="en-US" smtClean="0"/>
              <a:pPr/>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081F2-7D72-46A6-BEAC-1147620A3BD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3931D62-7DF2-4DB4-910C-5841F65C3738}" type="datetimeFigureOut">
              <a:rPr lang="en-US" smtClean="0"/>
              <a:pPr/>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081F2-7D72-46A6-BEAC-1147620A3BD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3931D62-7DF2-4DB4-910C-5841F65C3738}" type="datetimeFigureOut">
              <a:rPr lang="en-US" smtClean="0"/>
              <a:pPr/>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081F2-7D72-46A6-BEAC-1147620A3BD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931D62-7DF2-4DB4-910C-5841F65C3738}" type="datetimeFigureOut">
              <a:rPr lang="en-US" smtClean="0"/>
              <a:pPr/>
              <a:t>3/15/2026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B081F2-7D72-46A6-BEAC-1147620A3BD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8596" y="1185848"/>
            <a:ext cx="8358246" cy="2171714"/>
          </a:xfrm>
        </p:spPr>
        <p:txBody>
          <a:bodyPr>
            <a:noAutofit/>
          </a:bodyPr>
          <a:lstStyle/>
          <a:p>
            <a:r>
              <a:rPr lang="en-US" sz="4800" b="1" dirty="0" smtClean="0">
                <a:effectLst>
                  <a:outerShdw blurRad="38100" dist="38100" dir="2700000" algn="tl">
                    <a:srgbClr val="000000">
                      <a:alpha val="43137"/>
                    </a:srgbClr>
                  </a:outerShdw>
                </a:effectLst>
              </a:rPr>
              <a:t>Packages</a:t>
            </a:r>
            <a:br>
              <a:rPr lang="en-US" sz="4800" b="1" dirty="0" smtClean="0">
                <a:effectLst>
                  <a:outerShdw blurRad="38100" dist="38100" dir="2700000" algn="tl">
                    <a:srgbClr val="000000">
                      <a:alpha val="43137"/>
                    </a:srgbClr>
                  </a:outerShdw>
                </a:effectLst>
              </a:rPr>
            </a:br>
            <a:r>
              <a:rPr lang="en-US" sz="4800" b="1" dirty="0" smtClean="0">
                <a:effectLst>
                  <a:outerShdw blurRad="38100" dist="38100" dir="2700000" algn="tl">
                    <a:srgbClr val="000000">
                      <a:alpha val="43137"/>
                    </a:srgbClr>
                  </a:outerShdw>
                </a:effectLst>
              </a:rPr>
              <a:t>and</a:t>
            </a:r>
            <a:r>
              <a:rPr lang="en-US" sz="4800" dirty="0" smtClean="0"/>
              <a:t/>
            </a:r>
            <a:br>
              <a:rPr lang="en-US" sz="4800" dirty="0" smtClean="0"/>
            </a:br>
            <a:r>
              <a:rPr lang="en-US" sz="4800" b="1" dirty="0" smtClean="0">
                <a:effectLst>
                  <a:outerShdw blurRad="38100" dist="38100" dir="2700000" algn="tl">
                    <a:srgbClr val="000000">
                      <a:alpha val="43137"/>
                    </a:srgbClr>
                  </a:outerShdw>
                </a:effectLst>
              </a:rPr>
              <a:t>GUI Programming with Swing</a:t>
            </a:r>
            <a:endParaRPr lang="en-US" sz="4800"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Title 1"/>
          <p:cNvSpPr txBox="1">
            <a:spLocks/>
          </p:cNvSpPr>
          <p:nvPr/>
        </p:nvSpPr>
        <p:spPr>
          <a:xfrm>
            <a:off x="428596" y="3429000"/>
            <a:ext cx="8358246" cy="2171714"/>
          </a:xfrm>
          <a:prstGeom prst="rect">
            <a:avLst/>
          </a:prstGeom>
        </p:spPr>
        <p:txBody>
          <a:bodyPr vert="horz" lIns="91440" tIns="45720" rIns="91440" bIns="45720" rtlCol="0" anchor="ctr">
            <a:noAutofit/>
          </a:bodyPr>
          <a:lstStyle/>
          <a:p>
            <a:pPr lvl="0" algn="ctr">
              <a:spcBef>
                <a:spcPct val="0"/>
              </a:spcBef>
            </a:pPr>
            <a:r>
              <a:rPr lang="en-US" sz="3600" b="1" dirty="0" smtClean="0"/>
              <a:t>Building Desktop Applications in Java</a:t>
            </a:r>
            <a:endParaRPr kumimoji="0" lang="en-US" sz="36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142852"/>
            <a:ext cx="8229600" cy="1143000"/>
          </a:xfrm>
        </p:spPr>
        <p:txBody>
          <a:bodyPr>
            <a:normAutofit/>
          </a:bodyPr>
          <a:lstStyle/>
          <a:p>
            <a:r>
              <a:rPr lang="en-US" b="1" dirty="0" smtClean="0"/>
              <a:t>What We Will Learn</a:t>
            </a:r>
          </a:p>
        </p:txBody>
      </p:sp>
      <p:sp>
        <p:nvSpPr>
          <p:cNvPr id="3" name="Content Placeholder 2"/>
          <p:cNvSpPr>
            <a:spLocks noGrp="1"/>
          </p:cNvSpPr>
          <p:nvPr>
            <p:ph idx="1"/>
          </p:nvPr>
        </p:nvSpPr>
        <p:spPr>
          <a:xfrm>
            <a:off x="457200" y="1285860"/>
            <a:ext cx="8229600" cy="5143536"/>
          </a:xfrm>
        </p:spPr>
        <p:txBody>
          <a:bodyPr>
            <a:noAutofit/>
          </a:bodyPr>
          <a:lstStyle/>
          <a:p>
            <a:pPr>
              <a:lnSpc>
                <a:spcPct val="160000"/>
              </a:lnSpc>
            </a:pPr>
            <a:r>
              <a:rPr lang="en-US" sz="2400" dirty="0" smtClean="0"/>
              <a:t>Understanding Packages</a:t>
            </a:r>
          </a:p>
          <a:p>
            <a:pPr>
              <a:lnSpc>
                <a:spcPct val="160000"/>
              </a:lnSpc>
            </a:pPr>
            <a:r>
              <a:rPr lang="en-US" sz="2400" dirty="0" smtClean="0"/>
              <a:t>Understand the difference between AWT and Swing.</a:t>
            </a:r>
          </a:p>
          <a:p>
            <a:pPr>
              <a:lnSpc>
                <a:spcPct val="160000"/>
              </a:lnSpc>
            </a:pPr>
            <a:r>
              <a:rPr lang="en-US" sz="2400" dirty="0" smtClean="0"/>
              <a:t>Master the Swing Component Hierarchy.</a:t>
            </a:r>
          </a:p>
          <a:p>
            <a:pPr>
              <a:lnSpc>
                <a:spcPct val="160000"/>
              </a:lnSpc>
            </a:pPr>
            <a:r>
              <a:rPr lang="en-US" sz="2400" dirty="0" smtClean="0"/>
              <a:t>Create windows using </a:t>
            </a:r>
            <a:r>
              <a:rPr lang="en-US" sz="2400" dirty="0" err="1" smtClean="0"/>
              <a:t>JFrame</a:t>
            </a:r>
            <a:r>
              <a:rPr lang="en-US" sz="2400" dirty="0" smtClean="0"/>
              <a:t> and panels using </a:t>
            </a:r>
            <a:r>
              <a:rPr lang="en-US" sz="2400" dirty="0" err="1" smtClean="0"/>
              <a:t>JPanel</a:t>
            </a:r>
            <a:r>
              <a:rPr lang="en-US" sz="2400" dirty="0" smtClean="0"/>
              <a:t>.</a:t>
            </a:r>
          </a:p>
          <a:p>
            <a:pPr>
              <a:lnSpc>
                <a:spcPct val="160000"/>
              </a:lnSpc>
            </a:pPr>
            <a:r>
              <a:rPr lang="en-US" sz="2400" dirty="0" smtClean="0"/>
              <a:t>Utilize Layout Managers to organize components.</a:t>
            </a:r>
          </a:p>
          <a:p>
            <a:pPr>
              <a:lnSpc>
                <a:spcPct val="160000"/>
              </a:lnSpc>
            </a:pPr>
            <a:r>
              <a:rPr lang="en-US" sz="2400" dirty="0" smtClean="0"/>
              <a:t>Implement Event Handling (</a:t>
            </a:r>
            <a:r>
              <a:rPr lang="en-US" sz="2400" dirty="0" err="1" smtClean="0"/>
              <a:t>ActionListeners</a:t>
            </a:r>
            <a:r>
              <a:rPr lang="en-US" sz="2400" dirty="0" smtClean="0"/>
              <a:t>).</a:t>
            </a:r>
          </a:p>
          <a:p>
            <a:pPr>
              <a:lnSpc>
                <a:spcPct val="160000"/>
              </a:lnSpc>
            </a:pPr>
            <a:r>
              <a:rPr lang="en-US" sz="2400" dirty="0" smtClean="0"/>
              <a:t>Understand the Event Dispatch Thread (EDT).</a:t>
            </a:r>
          </a:p>
          <a:p>
            <a:pPr>
              <a:lnSpc>
                <a:spcPct val="160000"/>
              </a:lnSpc>
            </a:pPr>
            <a:r>
              <a:rPr lang="en-US" sz="2400" dirty="0" smtClean="0"/>
              <a:t>Build a functional desktop application.</a:t>
            </a:r>
            <a:endParaRPr lang="en-US" sz="24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Understanding Java Packages</a:t>
            </a:r>
            <a:endParaRPr lang="en-US" b="1" dirty="0"/>
          </a:p>
        </p:txBody>
      </p:sp>
      <p:sp>
        <p:nvSpPr>
          <p:cNvPr id="3" name="Content Placeholder 2"/>
          <p:cNvSpPr>
            <a:spLocks noGrp="1"/>
          </p:cNvSpPr>
          <p:nvPr>
            <p:ph idx="1"/>
          </p:nvPr>
        </p:nvSpPr>
        <p:spPr>
          <a:xfrm>
            <a:off x="457200" y="1600201"/>
            <a:ext cx="8229600" cy="3686188"/>
          </a:xfrm>
        </p:spPr>
        <p:txBody>
          <a:bodyPr>
            <a:normAutofit/>
          </a:bodyPr>
          <a:lstStyle/>
          <a:p>
            <a:r>
              <a:rPr lang="en-US" sz="2400" dirty="0" smtClean="0"/>
              <a:t>A namespace that organizes a set of related classes and interfaces.</a:t>
            </a:r>
          </a:p>
          <a:p>
            <a:r>
              <a:rPr lang="en-US" sz="2400" b="1" dirty="0" smtClean="0"/>
              <a:t>Analogy:</a:t>
            </a:r>
            <a:r>
              <a:rPr lang="en-US" sz="2400" dirty="0" smtClean="0"/>
              <a:t> Think of packages as </a:t>
            </a:r>
            <a:r>
              <a:rPr lang="en-US" sz="2400" b="1" dirty="0" smtClean="0"/>
              <a:t>Folders</a:t>
            </a:r>
            <a:r>
              <a:rPr lang="en-US" sz="2400" dirty="0" smtClean="0"/>
              <a:t> on your computer.</a:t>
            </a:r>
          </a:p>
          <a:p>
            <a:r>
              <a:rPr lang="en-US" sz="2400" b="1" dirty="0" smtClean="0"/>
              <a:t>Purpose:</a:t>
            </a:r>
            <a:endParaRPr lang="en-US" sz="2400" dirty="0" smtClean="0"/>
          </a:p>
          <a:p>
            <a:pPr lvl="1"/>
            <a:r>
              <a:rPr lang="en-US" sz="2400" dirty="0" smtClean="0"/>
              <a:t>Prevents naming conflicts.</a:t>
            </a:r>
          </a:p>
          <a:p>
            <a:pPr lvl="1"/>
            <a:r>
              <a:rPr lang="en-US" sz="2400" dirty="0" smtClean="0"/>
              <a:t>Controls access (encapsulation).</a:t>
            </a:r>
          </a:p>
          <a:p>
            <a:pPr lvl="1"/>
            <a:r>
              <a:rPr lang="en-US" sz="2400" dirty="0" smtClean="0"/>
              <a:t>Makes code easier to maintain.</a:t>
            </a:r>
          </a:p>
          <a:p>
            <a:r>
              <a:rPr lang="en-US" sz="2400" b="1" dirty="0" smtClean="0"/>
              <a:t>Declaration:</a:t>
            </a:r>
            <a:r>
              <a:rPr lang="en-US" sz="2400" dirty="0" smtClean="0"/>
              <a:t> Must be the </a:t>
            </a:r>
            <a:r>
              <a:rPr lang="en-US" sz="2400" b="1" dirty="0" smtClean="0"/>
              <a:t>first line</a:t>
            </a:r>
            <a:r>
              <a:rPr lang="en-US" sz="2400" dirty="0" smtClean="0"/>
              <a:t> of your Java file.</a:t>
            </a:r>
          </a:p>
          <a:p>
            <a:endParaRPr lang="en-US" sz="2400" dirty="0"/>
          </a:p>
        </p:txBody>
      </p:sp>
      <p:sp>
        <p:nvSpPr>
          <p:cNvPr id="4" name="Rectangle 3"/>
          <p:cNvSpPr/>
          <p:nvPr/>
        </p:nvSpPr>
        <p:spPr>
          <a:xfrm>
            <a:off x="857224" y="5715016"/>
            <a:ext cx="6429420" cy="461665"/>
          </a:xfrm>
          <a:prstGeom prst="rect">
            <a:avLst/>
          </a:prstGeom>
          <a:ln>
            <a:solidFill>
              <a:schemeClr val="accent1"/>
            </a:solidFill>
          </a:ln>
        </p:spPr>
        <p:txBody>
          <a:bodyPr wrap="square">
            <a:spAutoFit/>
          </a:bodyPr>
          <a:lstStyle/>
          <a:p>
            <a:r>
              <a:rPr lang="en-US" sz="2400" b="1" dirty="0" smtClean="0">
                <a:latin typeface="Courier New" pitchFamily="49" charset="0"/>
                <a:cs typeface="Courier New" pitchFamily="49" charset="0"/>
              </a:rPr>
              <a:t>package </a:t>
            </a:r>
            <a:r>
              <a:rPr lang="en-US" sz="2400" b="1" dirty="0" err="1" smtClean="0">
                <a:latin typeface="Courier New" pitchFamily="49" charset="0"/>
                <a:cs typeface="Courier New" pitchFamily="49" charset="0"/>
              </a:rPr>
              <a:t>com.mycompany.guiapp</a:t>
            </a:r>
            <a:r>
              <a:rPr lang="en-US" sz="2400" b="1" dirty="0" smtClean="0">
                <a:latin typeface="Courier New" pitchFamily="49" charset="0"/>
                <a:cs typeface="Courier New" pitchFamily="49" charset="0"/>
              </a:rPr>
              <a:t>;</a:t>
            </a:r>
            <a:endParaRPr lang="en-US" sz="2400" b="1" dirty="0">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1000132"/>
          </a:xfrm>
        </p:spPr>
        <p:txBody>
          <a:bodyPr>
            <a:normAutofit/>
          </a:bodyPr>
          <a:lstStyle/>
          <a:p>
            <a:r>
              <a:rPr lang="en-US" b="1" dirty="0" smtClean="0"/>
              <a:t>Avoiding Naming Conflicts</a:t>
            </a:r>
            <a:endParaRPr lang="en-US" b="1" dirty="0"/>
          </a:p>
        </p:txBody>
      </p:sp>
      <p:sp>
        <p:nvSpPr>
          <p:cNvPr id="3" name="Content Placeholder 2"/>
          <p:cNvSpPr>
            <a:spLocks noGrp="1"/>
          </p:cNvSpPr>
          <p:nvPr>
            <p:ph idx="1"/>
          </p:nvPr>
        </p:nvSpPr>
        <p:spPr>
          <a:xfrm>
            <a:off x="428596" y="1428736"/>
            <a:ext cx="8229600" cy="3400435"/>
          </a:xfrm>
        </p:spPr>
        <p:txBody>
          <a:bodyPr>
            <a:normAutofit fontScale="92500" lnSpcReduction="10000"/>
          </a:bodyPr>
          <a:lstStyle/>
          <a:p>
            <a:pPr>
              <a:spcBef>
                <a:spcPts val="600"/>
              </a:spcBef>
              <a:spcAft>
                <a:spcPts val="600"/>
              </a:spcAft>
            </a:pPr>
            <a:r>
              <a:rPr lang="en-US" sz="2400" dirty="0" smtClean="0"/>
              <a:t>Java has thousands of built-in classes. Sometimes they have the same name.</a:t>
            </a:r>
          </a:p>
          <a:p>
            <a:pPr>
              <a:spcBef>
                <a:spcPts val="600"/>
              </a:spcBef>
              <a:spcAft>
                <a:spcPts val="600"/>
              </a:spcAft>
            </a:pPr>
            <a:r>
              <a:rPr lang="en-US" sz="2400" dirty="0" smtClean="0"/>
              <a:t>Classic Example: List</a:t>
            </a:r>
          </a:p>
          <a:p>
            <a:pPr lvl="1">
              <a:spcBef>
                <a:spcPts val="600"/>
              </a:spcBef>
              <a:spcAft>
                <a:spcPts val="600"/>
              </a:spcAft>
            </a:pPr>
            <a:r>
              <a:rPr lang="en-US" sz="2400" dirty="0" err="1" smtClean="0"/>
              <a:t>java.awt.List</a:t>
            </a:r>
            <a:r>
              <a:rPr lang="en-US" sz="2400" dirty="0" smtClean="0"/>
              <a:t> (AWT GUI component)</a:t>
            </a:r>
          </a:p>
          <a:p>
            <a:pPr lvl="1">
              <a:spcBef>
                <a:spcPts val="600"/>
              </a:spcBef>
              <a:spcAft>
                <a:spcPts val="600"/>
              </a:spcAft>
            </a:pPr>
            <a:r>
              <a:rPr lang="en-US" sz="2400" dirty="0" err="1" smtClean="0"/>
              <a:t>java.util.List</a:t>
            </a:r>
            <a:r>
              <a:rPr lang="en-US" sz="2400" dirty="0" smtClean="0"/>
              <a:t> (Collection interface)</a:t>
            </a:r>
          </a:p>
          <a:p>
            <a:pPr>
              <a:spcBef>
                <a:spcPts val="600"/>
              </a:spcBef>
              <a:spcAft>
                <a:spcPts val="600"/>
              </a:spcAft>
            </a:pPr>
            <a:r>
              <a:rPr lang="en-US" sz="2400" dirty="0" smtClean="0"/>
              <a:t>Without Packages/Imports: The compiler doesn't know which List you mean.</a:t>
            </a:r>
          </a:p>
          <a:p>
            <a:pPr>
              <a:spcBef>
                <a:spcPts val="600"/>
              </a:spcBef>
              <a:spcAft>
                <a:spcPts val="600"/>
              </a:spcAft>
            </a:pPr>
            <a:r>
              <a:rPr lang="en-US" sz="2400" dirty="0" smtClean="0"/>
              <a:t>Solution: Fully qualified names or specific imports</a:t>
            </a:r>
            <a:endParaRPr lang="en-US" sz="2400" dirty="0"/>
          </a:p>
        </p:txBody>
      </p:sp>
      <p:sp>
        <p:nvSpPr>
          <p:cNvPr id="4" name="Rectangle 3"/>
          <p:cNvSpPr/>
          <p:nvPr/>
        </p:nvSpPr>
        <p:spPr>
          <a:xfrm>
            <a:off x="357158" y="4889384"/>
            <a:ext cx="8501122" cy="1754326"/>
          </a:xfrm>
          <a:prstGeom prst="rect">
            <a:avLst/>
          </a:prstGeom>
          <a:ln>
            <a:solidFill>
              <a:schemeClr val="accent1"/>
            </a:solidFill>
          </a:ln>
        </p:spPr>
        <p:txBody>
          <a:bodyPr wrap="square">
            <a:spAutoFit/>
          </a:bodyPr>
          <a:lstStyle/>
          <a:p>
            <a:r>
              <a:rPr lang="en-US" b="1" dirty="0" smtClean="0">
                <a:solidFill>
                  <a:schemeClr val="bg1">
                    <a:lumMod val="50000"/>
                  </a:schemeClr>
                </a:solidFill>
                <a:latin typeface="Courier New" pitchFamily="49" charset="0"/>
                <a:cs typeface="Courier New" pitchFamily="49" charset="0"/>
              </a:rPr>
              <a:t>// Ambiguous without imports</a:t>
            </a:r>
          </a:p>
          <a:p>
            <a:r>
              <a:rPr lang="en-US" b="1" dirty="0" smtClean="0">
                <a:latin typeface="Courier New" pitchFamily="49" charset="0"/>
                <a:cs typeface="Courier New" pitchFamily="49" charset="0"/>
              </a:rPr>
              <a:t>List </a:t>
            </a:r>
            <a:r>
              <a:rPr lang="en-US" b="1" dirty="0" err="1" smtClean="0">
                <a:latin typeface="Courier New" pitchFamily="49" charset="0"/>
                <a:cs typeface="Courier New" pitchFamily="49" charset="0"/>
              </a:rPr>
              <a:t>myList</a:t>
            </a:r>
            <a:r>
              <a:rPr lang="en-US" b="1" dirty="0" smtClean="0">
                <a:latin typeface="Courier New" pitchFamily="49" charset="0"/>
                <a:cs typeface="Courier New" pitchFamily="49" charset="0"/>
              </a:rPr>
              <a:t> = new </a:t>
            </a:r>
            <a:r>
              <a:rPr lang="en-US" b="1" dirty="0" smtClean="0">
                <a:solidFill>
                  <a:srgbClr val="5832F8"/>
                </a:solidFill>
                <a:latin typeface="Courier New" pitchFamily="49" charset="0"/>
                <a:cs typeface="Courier New" pitchFamily="49" charset="0"/>
              </a:rPr>
              <a:t>List</a:t>
            </a:r>
            <a:r>
              <a:rPr lang="en-US" b="1" dirty="0" smtClean="0">
                <a:latin typeface="Courier New" pitchFamily="49" charset="0"/>
                <a:cs typeface="Courier New" pitchFamily="49" charset="0"/>
              </a:rPr>
              <a:t>(); </a:t>
            </a:r>
          </a:p>
          <a:p>
            <a:endParaRPr lang="en-US" b="1" dirty="0" smtClean="0">
              <a:latin typeface="Courier New" pitchFamily="49" charset="0"/>
              <a:cs typeface="Courier New" pitchFamily="49" charset="0"/>
            </a:endParaRPr>
          </a:p>
          <a:p>
            <a:r>
              <a:rPr lang="en-US" b="1" dirty="0" smtClean="0">
                <a:solidFill>
                  <a:schemeClr val="bg1">
                    <a:lumMod val="50000"/>
                  </a:schemeClr>
                </a:solidFill>
                <a:latin typeface="Courier New" pitchFamily="49" charset="0"/>
                <a:cs typeface="Courier New" pitchFamily="49" charset="0"/>
              </a:rPr>
              <a:t>// Clear with imports</a:t>
            </a:r>
          </a:p>
          <a:p>
            <a:r>
              <a:rPr lang="en-US" b="1" dirty="0" smtClean="0">
                <a:latin typeface="Courier New" pitchFamily="49" charset="0"/>
                <a:cs typeface="Courier New" pitchFamily="49" charset="0"/>
              </a:rPr>
              <a:t>import </a:t>
            </a:r>
            <a:r>
              <a:rPr lang="en-US" b="1" dirty="0" err="1" smtClean="0">
                <a:solidFill>
                  <a:srgbClr val="C00000"/>
                </a:solidFill>
                <a:latin typeface="Courier New" pitchFamily="49" charset="0"/>
                <a:cs typeface="Courier New" pitchFamily="49" charset="0"/>
              </a:rPr>
              <a:t>java.util.List</a:t>
            </a:r>
            <a:r>
              <a:rPr lang="en-US" b="1" dirty="0" smtClean="0">
                <a:solidFill>
                  <a:srgbClr val="C00000"/>
                </a:solidFill>
                <a:latin typeface="Courier New" pitchFamily="49" charset="0"/>
                <a:cs typeface="Courier New" pitchFamily="49" charset="0"/>
              </a:rPr>
              <a:t>;</a:t>
            </a:r>
          </a:p>
          <a:p>
            <a:r>
              <a:rPr lang="en-US" b="1" dirty="0" smtClean="0">
                <a:latin typeface="Courier New" pitchFamily="49" charset="0"/>
                <a:cs typeface="Courier New" pitchFamily="49" charset="0"/>
              </a:rPr>
              <a:t>import </a:t>
            </a:r>
            <a:r>
              <a:rPr lang="en-US" b="1" dirty="0" err="1" smtClean="0">
                <a:solidFill>
                  <a:srgbClr val="C00000"/>
                </a:solidFill>
                <a:latin typeface="Courier New" pitchFamily="49" charset="0"/>
                <a:cs typeface="Courier New" pitchFamily="49" charset="0"/>
              </a:rPr>
              <a:t>java.awt.List</a:t>
            </a:r>
            <a:r>
              <a:rPr lang="en-US" b="1" dirty="0" smtClean="0">
                <a:solidFill>
                  <a:srgbClr val="C00000"/>
                </a:solidFill>
                <a:latin typeface="Courier New" pitchFamily="49" charset="0"/>
                <a:cs typeface="Courier New" pitchFamily="49" charset="0"/>
              </a:rPr>
              <a:t>;</a:t>
            </a:r>
            <a:r>
              <a:rPr lang="en-US" b="1" dirty="0" smtClean="0">
                <a:latin typeface="Courier New" pitchFamily="49" charset="0"/>
                <a:cs typeface="Courier New" pitchFamily="49" charset="0"/>
              </a:rPr>
              <a:t> </a:t>
            </a:r>
            <a:r>
              <a:rPr lang="en-US" b="1" dirty="0" smtClean="0">
                <a:solidFill>
                  <a:schemeClr val="bg1">
                    <a:lumMod val="50000"/>
                  </a:schemeClr>
                </a:solidFill>
                <a:latin typeface="Courier New" pitchFamily="49" charset="0"/>
                <a:cs typeface="Courier New" pitchFamily="49" charset="0"/>
              </a:rPr>
              <a:t>// Cannot import both with wildcards!</a:t>
            </a:r>
            <a:endParaRPr lang="en-US" b="1" dirty="0">
              <a:solidFill>
                <a:schemeClr val="bg1">
                  <a:lumMod val="50000"/>
                </a:schemeClr>
              </a:solidFill>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8229600" cy="1143000"/>
          </a:xfrm>
        </p:spPr>
        <p:txBody>
          <a:bodyPr/>
          <a:lstStyle/>
          <a:p>
            <a:r>
              <a:rPr lang="en-US" b="1" dirty="0" smtClean="0">
                <a:effectLst>
                  <a:outerShdw blurRad="38100" dist="38100" dir="2700000" algn="tl">
                    <a:srgbClr val="000000">
                      <a:alpha val="43137"/>
                    </a:srgbClr>
                  </a:outerShdw>
                </a:effectLst>
              </a:rPr>
              <a:t>The import Statement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457200" y="1428736"/>
            <a:ext cx="8543956" cy="1114419"/>
          </a:xfrm>
        </p:spPr>
        <p:txBody>
          <a:bodyPr>
            <a:normAutofit/>
          </a:bodyPr>
          <a:lstStyle/>
          <a:p>
            <a:r>
              <a:rPr lang="en-US" sz="2400" dirty="0" smtClean="0"/>
              <a:t>Allows you to use classes without typing the full package name.</a:t>
            </a:r>
          </a:p>
          <a:p>
            <a:r>
              <a:rPr lang="en-US" sz="2400" dirty="0" smtClean="0"/>
              <a:t>Specific Import (Recommended)</a:t>
            </a:r>
            <a:endParaRPr lang="en-US" sz="2400" dirty="0"/>
          </a:p>
        </p:txBody>
      </p:sp>
      <p:sp>
        <p:nvSpPr>
          <p:cNvPr id="4" name="Rectangle 3"/>
          <p:cNvSpPr/>
          <p:nvPr/>
        </p:nvSpPr>
        <p:spPr>
          <a:xfrm>
            <a:off x="928662" y="2786058"/>
            <a:ext cx="7715304" cy="984885"/>
          </a:xfrm>
          <a:prstGeom prst="rect">
            <a:avLst/>
          </a:prstGeom>
          <a:ln>
            <a:solidFill>
              <a:schemeClr val="accent1"/>
            </a:solidFill>
          </a:ln>
        </p:spPr>
        <p:txBody>
          <a:bodyPr wrap="square">
            <a:spAutoFit/>
          </a:bodyPr>
          <a:lstStyle/>
          <a:p>
            <a:pPr>
              <a:spcBef>
                <a:spcPts val="600"/>
              </a:spcBef>
              <a:spcAft>
                <a:spcPts val="600"/>
              </a:spcAft>
            </a:pPr>
            <a:r>
              <a:rPr lang="en-US" sz="2400" b="1" dirty="0" smtClean="0">
                <a:solidFill>
                  <a:srgbClr val="C00000"/>
                </a:solidFill>
                <a:latin typeface="Courier New" pitchFamily="49" charset="0"/>
                <a:cs typeface="Courier New" pitchFamily="49" charset="0"/>
              </a:rPr>
              <a:t>import</a:t>
            </a:r>
            <a:r>
              <a:rPr lang="en-US" sz="2400" b="1" dirty="0" smtClean="0">
                <a:latin typeface="Courier New" pitchFamily="49" charset="0"/>
                <a:cs typeface="Courier New" pitchFamily="49" charset="0"/>
              </a:rPr>
              <a:t> </a:t>
            </a:r>
            <a:r>
              <a:rPr lang="en-US" sz="2400" b="1" dirty="0" err="1" smtClean="0">
                <a:latin typeface="Courier New" pitchFamily="49" charset="0"/>
                <a:cs typeface="Courier New" pitchFamily="49" charset="0"/>
              </a:rPr>
              <a:t>javax.swing.JFrame</a:t>
            </a:r>
            <a:r>
              <a:rPr lang="en-US" sz="2400" b="1" dirty="0" smtClean="0">
                <a:latin typeface="Courier New" pitchFamily="49" charset="0"/>
                <a:cs typeface="Courier New" pitchFamily="49" charset="0"/>
              </a:rPr>
              <a:t>;</a:t>
            </a:r>
          </a:p>
          <a:p>
            <a:pPr>
              <a:spcBef>
                <a:spcPts val="600"/>
              </a:spcBef>
              <a:spcAft>
                <a:spcPts val="600"/>
              </a:spcAft>
            </a:pPr>
            <a:r>
              <a:rPr lang="en-US" sz="2400" b="1" dirty="0" smtClean="0">
                <a:solidFill>
                  <a:srgbClr val="C00000"/>
                </a:solidFill>
                <a:latin typeface="Courier New" pitchFamily="49" charset="0"/>
                <a:cs typeface="Courier New" pitchFamily="49" charset="0"/>
              </a:rPr>
              <a:t>import</a:t>
            </a:r>
            <a:r>
              <a:rPr lang="en-US" sz="2400" b="1" dirty="0" smtClean="0">
                <a:latin typeface="Courier New" pitchFamily="49" charset="0"/>
                <a:cs typeface="Courier New" pitchFamily="49" charset="0"/>
              </a:rPr>
              <a:t> </a:t>
            </a:r>
            <a:r>
              <a:rPr lang="en-US" sz="2400" b="1" dirty="0" err="1" smtClean="0">
                <a:latin typeface="Courier New" pitchFamily="49" charset="0"/>
                <a:cs typeface="Courier New" pitchFamily="49" charset="0"/>
              </a:rPr>
              <a:t>javax.swing.JButton</a:t>
            </a:r>
            <a:r>
              <a:rPr lang="en-US" sz="2400" b="1" dirty="0" smtClean="0">
                <a:latin typeface="Courier New" pitchFamily="49" charset="0"/>
                <a:cs typeface="Courier New" pitchFamily="49" charset="0"/>
              </a:rPr>
              <a:t>;</a:t>
            </a:r>
            <a:endParaRPr lang="en-US" sz="2400" b="1" dirty="0">
              <a:latin typeface="Courier New" pitchFamily="49" charset="0"/>
              <a:cs typeface="Courier New" pitchFamily="49" charset="0"/>
            </a:endParaRPr>
          </a:p>
        </p:txBody>
      </p:sp>
      <p:sp>
        <p:nvSpPr>
          <p:cNvPr id="5" name="Content Placeholder 2"/>
          <p:cNvSpPr txBox="1">
            <a:spLocks/>
          </p:cNvSpPr>
          <p:nvPr/>
        </p:nvSpPr>
        <p:spPr>
          <a:xfrm>
            <a:off x="428596" y="4214819"/>
            <a:ext cx="8229600" cy="571503"/>
          </a:xfrm>
          <a:prstGeom prst="rect">
            <a:avLst/>
          </a:prstGeom>
        </p:spPr>
        <p:txBody>
          <a:bodyPr vert="horz" lIns="91440" tIns="45720" rIns="91440" bIns="45720" rtlCol="0">
            <a:normAutofit/>
          </a:bodyPr>
          <a:lstStyle/>
          <a:p>
            <a:pPr marL="342900" lvl="0" indent="-342900">
              <a:spcBef>
                <a:spcPct val="20000"/>
              </a:spcBef>
              <a:buFont typeface="Arial" pitchFamily="34" charset="0"/>
              <a:buChar char="•"/>
            </a:pPr>
            <a:r>
              <a:rPr lang="en-US" sz="2400" b="1" dirty="0" smtClean="0"/>
              <a:t>Wildcard Import (Use with Caution):</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Rectangle 5"/>
          <p:cNvSpPr/>
          <p:nvPr/>
        </p:nvSpPr>
        <p:spPr>
          <a:xfrm>
            <a:off x="857224" y="4896161"/>
            <a:ext cx="7429552" cy="461665"/>
          </a:xfrm>
          <a:prstGeom prst="rect">
            <a:avLst/>
          </a:prstGeom>
        </p:spPr>
        <p:txBody>
          <a:bodyPr wrap="square">
            <a:spAutoFit/>
          </a:bodyPr>
          <a:lstStyle/>
          <a:p>
            <a:pPr>
              <a:spcBef>
                <a:spcPts val="600"/>
              </a:spcBef>
              <a:spcAft>
                <a:spcPts val="600"/>
              </a:spcAft>
            </a:pPr>
            <a:r>
              <a:rPr lang="en-US" sz="2400" b="1" dirty="0" smtClean="0">
                <a:solidFill>
                  <a:srgbClr val="C00000"/>
                </a:solidFill>
                <a:latin typeface="Courier New" pitchFamily="49" charset="0"/>
                <a:cs typeface="Courier New" pitchFamily="49" charset="0"/>
              </a:rPr>
              <a:t>import</a:t>
            </a:r>
            <a:r>
              <a:rPr lang="en-US" sz="2400" b="1" dirty="0" smtClean="0">
                <a:latin typeface="Courier New" pitchFamily="49" charset="0"/>
                <a:cs typeface="Courier New" pitchFamily="49" charset="0"/>
              </a:rPr>
              <a:t> </a:t>
            </a:r>
            <a:r>
              <a:rPr lang="en-US" sz="2400" b="1" dirty="0" err="1" smtClean="0">
                <a:latin typeface="Courier New" pitchFamily="49" charset="0"/>
                <a:cs typeface="Courier New" pitchFamily="49" charset="0"/>
              </a:rPr>
              <a:t>javax.swing</a:t>
            </a:r>
            <a:r>
              <a:rPr lang="en-US" sz="2400" b="1" dirty="0" smtClean="0">
                <a:latin typeface="Courier New" pitchFamily="49" charset="0"/>
                <a:cs typeface="Courier New" pitchFamily="49" charset="0"/>
              </a:rPr>
              <a:t>.*;</a:t>
            </a:r>
          </a:p>
        </p:txBody>
      </p:sp>
      <p:sp>
        <p:nvSpPr>
          <p:cNvPr id="7" name="Content Placeholder 2"/>
          <p:cNvSpPr txBox="1">
            <a:spLocks/>
          </p:cNvSpPr>
          <p:nvPr/>
        </p:nvSpPr>
        <p:spPr>
          <a:xfrm>
            <a:off x="357158" y="5715016"/>
            <a:ext cx="8229600" cy="614353"/>
          </a:xfrm>
          <a:prstGeom prst="rect">
            <a:avLst/>
          </a:prstGeom>
        </p:spPr>
        <p:txBody>
          <a:bodyPr vert="horz" lIns="91440" tIns="45720" rIns="91440" bIns="45720" rtlCol="0">
            <a:normAutofit/>
          </a:bodyPr>
          <a:lstStyle/>
          <a:p>
            <a:pPr marL="342900" indent="-342900">
              <a:spcBef>
                <a:spcPct val="20000"/>
              </a:spcBef>
              <a:buFont typeface="Arial" pitchFamily="34" charset="0"/>
              <a:buChar char="•"/>
            </a:pPr>
            <a:r>
              <a:rPr lang="en-US" sz="2400" b="1" dirty="0" smtClean="0"/>
              <a:t>Rule:</a:t>
            </a:r>
            <a:r>
              <a:rPr lang="en-US" sz="2400" dirty="0" smtClean="0"/>
              <a:t> import statements come </a:t>
            </a:r>
            <a:r>
              <a:rPr lang="en-US" sz="2400" b="1" dirty="0" smtClean="0"/>
              <a:t>after</a:t>
            </a:r>
            <a:r>
              <a:rPr lang="en-US" sz="2400" dirty="0" smtClean="0"/>
              <a:t> package and </a:t>
            </a:r>
            <a:r>
              <a:rPr lang="en-US" sz="2400" b="1" dirty="0" smtClean="0"/>
              <a:t>before</a:t>
            </a:r>
            <a:r>
              <a:rPr lang="en-US" sz="2400" dirty="0" smtClean="0"/>
              <a:t> class.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smtClean="0"/>
              <a:t>GUI: History</a:t>
            </a:r>
            <a:r>
              <a:rPr lang="en-US" b="1" dirty="0" smtClean="0"/>
              <a:t>: AWT vs. Swing</a:t>
            </a:r>
            <a:endParaRPr lang="en-US" b="1" dirty="0"/>
          </a:p>
        </p:txBody>
      </p:sp>
      <p:sp>
        <p:nvSpPr>
          <p:cNvPr id="3" name="Content Placeholder 2"/>
          <p:cNvSpPr>
            <a:spLocks noGrp="1"/>
          </p:cNvSpPr>
          <p:nvPr>
            <p:ph idx="1"/>
          </p:nvPr>
        </p:nvSpPr>
        <p:spPr>
          <a:xfrm>
            <a:off x="457200" y="1600200"/>
            <a:ext cx="8229600" cy="4972072"/>
          </a:xfrm>
        </p:spPr>
        <p:txBody>
          <a:bodyPr>
            <a:normAutofit fontScale="85000" lnSpcReduction="10000"/>
          </a:bodyPr>
          <a:lstStyle/>
          <a:p>
            <a:r>
              <a:rPr lang="en-US" b="1" dirty="0" smtClean="0"/>
              <a:t>AWT (Abstract Window Toolkit):</a:t>
            </a:r>
            <a:endParaRPr lang="en-US" dirty="0" smtClean="0"/>
          </a:p>
          <a:p>
            <a:pPr lvl="1"/>
            <a:r>
              <a:rPr lang="en-US" dirty="0" smtClean="0"/>
              <a:t>Java 1.0.</a:t>
            </a:r>
          </a:p>
          <a:p>
            <a:pPr lvl="1"/>
            <a:r>
              <a:rPr lang="en-US" b="1" dirty="0" smtClean="0"/>
              <a:t>Heavyweight:</a:t>
            </a:r>
            <a:r>
              <a:rPr lang="en-US" dirty="0" smtClean="0"/>
              <a:t> Uses native OS components (buttons look like Windows buttons on Windows, Mac buttons on Mac).</a:t>
            </a:r>
          </a:p>
          <a:p>
            <a:pPr lvl="1"/>
            <a:r>
              <a:rPr lang="en-US" dirty="0" smtClean="0"/>
              <a:t>Limited components, prone to bugs across platforms.</a:t>
            </a:r>
          </a:p>
          <a:p>
            <a:r>
              <a:rPr lang="en-US" b="1" dirty="0" smtClean="0"/>
              <a:t>Swing:</a:t>
            </a:r>
            <a:endParaRPr lang="en-US" dirty="0" smtClean="0"/>
          </a:p>
          <a:p>
            <a:pPr lvl="1"/>
            <a:r>
              <a:rPr lang="en-US" dirty="0" smtClean="0"/>
              <a:t>Java 1.2 (part of JFC - Java Foundation Classes).</a:t>
            </a:r>
          </a:p>
          <a:p>
            <a:pPr lvl="1"/>
            <a:r>
              <a:rPr lang="en-US" b="1" dirty="0" smtClean="0"/>
              <a:t>Lightweight:</a:t>
            </a:r>
            <a:r>
              <a:rPr lang="en-US" dirty="0" smtClean="0"/>
              <a:t> Written entirely in Java; draws its own pixels.</a:t>
            </a:r>
          </a:p>
          <a:p>
            <a:pPr lvl="1"/>
            <a:r>
              <a:rPr lang="en-US" b="1" dirty="0" smtClean="0"/>
              <a:t>Pluggable Look &amp; Feel:</a:t>
            </a:r>
            <a:r>
              <a:rPr lang="en-US" dirty="0" smtClean="0"/>
              <a:t> Can mimic native OS or use a custom style.</a:t>
            </a:r>
          </a:p>
          <a:p>
            <a:pPr lvl="1"/>
            <a:r>
              <a:rPr lang="en-US" dirty="0" smtClean="0"/>
              <a:t>Richer set of components (</a:t>
            </a:r>
            <a:r>
              <a:rPr lang="en-US" dirty="0" err="1" smtClean="0"/>
              <a:t>JTable</a:t>
            </a:r>
            <a:r>
              <a:rPr lang="en-US" dirty="0" smtClean="0"/>
              <a:t>, </a:t>
            </a:r>
            <a:r>
              <a:rPr lang="en-US" dirty="0" err="1" smtClean="0"/>
              <a:t>JTree</a:t>
            </a:r>
            <a:r>
              <a:rPr lang="en-US" dirty="0" smtClean="0"/>
              <a:t>, </a:t>
            </a:r>
            <a:r>
              <a:rPr lang="en-US" dirty="0" err="1" smtClean="0"/>
              <a:t>JTabbedPane</a:t>
            </a:r>
            <a:r>
              <a:rPr lang="en-US" dirty="0" smtClean="0"/>
              <a:t>).</a:t>
            </a: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8229600" cy="939784"/>
          </a:xfrm>
        </p:spPr>
        <p:txBody>
          <a:bodyPr>
            <a:normAutofit/>
          </a:bodyPr>
          <a:lstStyle/>
          <a:p>
            <a:r>
              <a:rPr lang="en-US" b="1" dirty="0" smtClean="0">
                <a:effectLst>
                  <a:outerShdw blurRad="38100" dist="38100" dir="2700000" algn="tl">
                    <a:srgbClr val="000000">
                      <a:alpha val="43137"/>
                    </a:srgbClr>
                  </a:outerShdw>
                </a:effectLst>
              </a:rPr>
              <a:t>Controlling Access (Encapsulation)</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457200" y="1142984"/>
            <a:ext cx="8229600" cy="4214842"/>
          </a:xfrm>
        </p:spPr>
        <p:txBody>
          <a:bodyPr>
            <a:normAutofit/>
          </a:bodyPr>
          <a:lstStyle/>
          <a:p>
            <a:r>
              <a:rPr lang="en-US" sz="2400" dirty="0" smtClean="0"/>
              <a:t>Packages work closely with access modifiers.</a:t>
            </a:r>
          </a:p>
          <a:p>
            <a:r>
              <a:rPr lang="en-US" sz="2400" b="1" dirty="0" smtClean="0"/>
              <a:t>public</a:t>
            </a:r>
            <a:r>
              <a:rPr lang="en-US" sz="2400" dirty="0" smtClean="0"/>
              <a:t>: Accessible from any other class.</a:t>
            </a:r>
          </a:p>
          <a:p>
            <a:r>
              <a:rPr lang="en-US" sz="2400" b="1" dirty="0" smtClean="0"/>
              <a:t>private</a:t>
            </a:r>
            <a:r>
              <a:rPr lang="en-US" sz="2400" dirty="0" smtClean="0"/>
              <a:t>: Accessible only within the same class.</a:t>
            </a:r>
          </a:p>
          <a:p>
            <a:r>
              <a:rPr lang="en-US" sz="2400" b="1" dirty="0" smtClean="0"/>
              <a:t>protected</a:t>
            </a:r>
            <a:r>
              <a:rPr lang="en-US" sz="2400" dirty="0" smtClean="0"/>
              <a:t>: Accessible within the package and subclasses.</a:t>
            </a:r>
          </a:p>
          <a:p>
            <a:r>
              <a:rPr lang="en-US" sz="2400" b="1" dirty="0" smtClean="0"/>
              <a:t>Default (no modifier)</a:t>
            </a:r>
            <a:r>
              <a:rPr lang="en-US" sz="2400" dirty="0" smtClean="0"/>
              <a:t>: Accessible </a:t>
            </a:r>
            <a:r>
              <a:rPr lang="en-US" sz="2400" b="1" dirty="0" smtClean="0"/>
              <a:t>only within the same package</a:t>
            </a:r>
            <a:r>
              <a:rPr lang="en-US" sz="2400" dirty="0" smtClean="0"/>
              <a:t>.</a:t>
            </a:r>
          </a:p>
          <a:p>
            <a:r>
              <a:rPr lang="en-US" sz="2400" b="1" dirty="0" smtClean="0"/>
              <a:t>GUI Best Practice:</a:t>
            </a:r>
            <a:endParaRPr lang="en-US" sz="2400" dirty="0" smtClean="0"/>
          </a:p>
          <a:p>
            <a:pPr lvl="1"/>
            <a:r>
              <a:rPr lang="en-US" sz="2400" dirty="0" smtClean="0"/>
              <a:t>Make UI components private.</a:t>
            </a:r>
          </a:p>
          <a:p>
            <a:pPr lvl="1"/>
            <a:r>
              <a:rPr lang="en-US" sz="2400" dirty="0" smtClean="0"/>
              <a:t>Provide public methods to update them.</a:t>
            </a:r>
          </a:p>
          <a:p>
            <a:endParaRPr lang="en-US" sz="2400" dirty="0"/>
          </a:p>
        </p:txBody>
      </p:sp>
      <p:sp>
        <p:nvSpPr>
          <p:cNvPr id="4" name="Rectangle 3"/>
          <p:cNvSpPr/>
          <p:nvPr/>
        </p:nvSpPr>
        <p:spPr>
          <a:xfrm>
            <a:off x="571472" y="5214950"/>
            <a:ext cx="8072494" cy="1323439"/>
          </a:xfrm>
          <a:prstGeom prst="rect">
            <a:avLst/>
          </a:prstGeom>
          <a:ln>
            <a:solidFill>
              <a:schemeClr val="accent1"/>
            </a:solidFill>
          </a:ln>
        </p:spPr>
        <p:txBody>
          <a:bodyPr wrap="square">
            <a:spAutoFit/>
          </a:bodyPr>
          <a:lstStyle/>
          <a:p>
            <a:r>
              <a:rPr lang="en-US" sz="2000" b="1" dirty="0" smtClean="0">
                <a:latin typeface="Courier New" pitchFamily="49" charset="0"/>
                <a:cs typeface="Courier New" pitchFamily="49" charset="0"/>
              </a:rPr>
              <a:t>public class </a:t>
            </a:r>
            <a:r>
              <a:rPr lang="en-US" sz="2000" b="1" dirty="0" err="1" smtClean="0">
                <a:latin typeface="Courier New" pitchFamily="49" charset="0"/>
                <a:cs typeface="Courier New" pitchFamily="49" charset="0"/>
              </a:rPr>
              <a:t>LoginForm</a:t>
            </a:r>
            <a:r>
              <a:rPr lang="en-US" sz="2000" b="1" dirty="0" smtClean="0">
                <a:latin typeface="Courier New" pitchFamily="49" charset="0"/>
                <a:cs typeface="Courier New" pitchFamily="49" charset="0"/>
              </a:rPr>
              <a:t> {</a:t>
            </a:r>
          </a:p>
          <a:p>
            <a:r>
              <a:rPr lang="en-US" sz="2000" b="1" dirty="0" smtClean="0">
                <a:latin typeface="Courier New" pitchFamily="49" charset="0"/>
                <a:cs typeface="Courier New" pitchFamily="49" charset="0"/>
              </a:rPr>
              <a:t>    private </a:t>
            </a:r>
            <a:r>
              <a:rPr lang="en-US" sz="2000" b="1" dirty="0" err="1" smtClean="0">
                <a:latin typeface="Courier New" pitchFamily="49" charset="0"/>
                <a:cs typeface="Courier New" pitchFamily="49" charset="0"/>
              </a:rPr>
              <a:t>JTextField</a:t>
            </a:r>
            <a:r>
              <a:rPr lang="en-US" sz="2000" b="1" dirty="0" smtClean="0">
                <a:latin typeface="Courier New" pitchFamily="49" charset="0"/>
                <a:cs typeface="Courier New" pitchFamily="49" charset="0"/>
              </a:rPr>
              <a:t> </a:t>
            </a:r>
            <a:r>
              <a:rPr lang="en-US" sz="2000" b="1" dirty="0" err="1" smtClean="0">
                <a:latin typeface="Courier New" pitchFamily="49" charset="0"/>
                <a:cs typeface="Courier New" pitchFamily="49" charset="0"/>
              </a:rPr>
              <a:t>passwordField</a:t>
            </a:r>
            <a:r>
              <a:rPr lang="en-US" sz="2000" b="1" dirty="0" smtClean="0">
                <a:latin typeface="Courier New" pitchFamily="49" charset="0"/>
                <a:cs typeface="Courier New" pitchFamily="49" charset="0"/>
              </a:rPr>
              <a:t>; </a:t>
            </a:r>
          </a:p>
          <a:p>
            <a:r>
              <a:rPr lang="en-US" sz="2000" b="1" dirty="0" smtClean="0">
                <a:latin typeface="Courier New" pitchFamily="49" charset="0"/>
                <a:cs typeface="Courier New" pitchFamily="49" charset="0"/>
              </a:rPr>
              <a:t>    public void </a:t>
            </a:r>
            <a:r>
              <a:rPr lang="en-US" sz="2000" b="1" dirty="0" err="1" smtClean="0">
                <a:latin typeface="Courier New" pitchFamily="49" charset="0"/>
                <a:cs typeface="Courier New" pitchFamily="49" charset="0"/>
              </a:rPr>
              <a:t>clearForm</a:t>
            </a:r>
            <a:r>
              <a:rPr lang="en-US" sz="2000" b="1" dirty="0" smtClean="0">
                <a:latin typeface="Courier New" pitchFamily="49" charset="0"/>
                <a:cs typeface="Courier New" pitchFamily="49" charset="0"/>
              </a:rPr>
              <a:t>() { ... }</a:t>
            </a:r>
          </a:p>
          <a:p>
            <a:r>
              <a:rPr lang="en-US" sz="2000" b="1" dirty="0" smtClean="0">
                <a:latin typeface="Courier New" pitchFamily="49" charset="0"/>
                <a:cs typeface="Courier New" pitchFamily="49" charset="0"/>
              </a:rPr>
              <a:t>}</a:t>
            </a:r>
            <a:endParaRPr lang="en-US" sz="2000" b="1" dirty="0">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normAutofit/>
          </a:bodyPr>
          <a:lstStyle/>
          <a:p>
            <a:r>
              <a:rPr lang="en-US" b="1" dirty="0" smtClean="0"/>
              <a:t>The Swing Architecture</a:t>
            </a:r>
            <a:endParaRPr lang="en-US" b="1" dirty="0"/>
          </a:p>
        </p:txBody>
      </p:sp>
      <p:sp>
        <p:nvSpPr>
          <p:cNvPr id="3" name="Content Placeholder 2"/>
          <p:cNvSpPr>
            <a:spLocks noGrp="1"/>
          </p:cNvSpPr>
          <p:nvPr>
            <p:ph idx="1"/>
          </p:nvPr>
        </p:nvSpPr>
        <p:spPr>
          <a:xfrm>
            <a:off x="500034" y="1357298"/>
            <a:ext cx="8229600" cy="4929222"/>
          </a:xfrm>
        </p:spPr>
        <p:txBody>
          <a:bodyPr>
            <a:noAutofit/>
          </a:bodyPr>
          <a:lstStyle/>
          <a:p>
            <a:pPr>
              <a:spcBef>
                <a:spcPts val="600"/>
              </a:spcBef>
              <a:spcAft>
                <a:spcPts val="600"/>
              </a:spcAft>
            </a:pPr>
            <a:r>
              <a:rPr lang="en-US" sz="2400" b="1" dirty="0" err="1" smtClean="0"/>
              <a:t>java.awt.Component</a:t>
            </a:r>
            <a:r>
              <a:rPr lang="en-US" sz="2400" dirty="0" smtClean="0"/>
              <a:t>: The root abstract class.</a:t>
            </a:r>
          </a:p>
          <a:p>
            <a:pPr>
              <a:spcBef>
                <a:spcPts val="600"/>
              </a:spcBef>
              <a:spcAft>
                <a:spcPts val="600"/>
              </a:spcAft>
            </a:pPr>
            <a:r>
              <a:rPr lang="en-US" sz="2400" b="1" dirty="0" err="1" smtClean="0"/>
              <a:t>java.awt.Container</a:t>
            </a:r>
            <a:r>
              <a:rPr lang="en-US" sz="2400" dirty="0" smtClean="0"/>
              <a:t>: A component that can hold other components.</a:t>
            </a:r>
          </a:p>
          <a:p>
            <a:pPr>
              <a:spcBef>
                <a:spcPts val="600"/>
              </a:spcBef>
              <a:spcAft>
                <a:spcPts val="600"/>
              </a:spcAft>
            </a:pPr>
            <a:r>
              <a:rPr lang="en-US" sz="2400" b="1" dirty="0" err="1" smtClean="0"/>
              <a:t>javax.swing.JComponent</a:t>
            </a:r>
            <a:r>
              <a:rPr lang="en-US" sz="2400" dirty="0" smtClean="0"/>
              <a:t>: The base class for all Swing components.</a:t>
            </a:r>
          </a:p>
          <a:p>
            <a:pPr lvl="1">
              <a:spcBef>
                <a:spcPts val="600"/>
              </a:spcBef>
              <a:spcAft>
                <a:spcPts val="600"/>
              </a:spcAft>
            </a:pPr>
            <a:r>
              <a:rPr lang="en-US" sz="2400" dirty="0" smtClean="0"/>
              <a:t>Adds double buffering and keyboard handling.</a:t>
            </a:r>
          </a:p>
          <a:p>
            <a:pPr>
              <a:spcBef>
                <a:spcPts val="600"/>
              </a:spcBef>
              <a:spcAft>
                <a:spcPts val="600"/>
              </a:spcAft>
            </a:pPr>
            <a:r>
              <a:rPr lang="en-US" sz="2400" b="1" dirty="0" smtClean="0"/>
              <a:t>Top-Level Containers:</a:t>
            </a:r>
            <a:endParaRPr lang="en-US" sz="2400" dirty="0" smtClean="0"/>
          </a:p>
          <a:p>
            <a:pPr lvl="1">
              <a:spcBef>
                <a:spcPts val="600"/>
              </a:spcBef>
              <a:spcAft>
                <a:spcPts val="600"/>
              </a:spcAft>
            </a:pPr>
            <a:r>
              <a:rPr lang="en-US" sz="2400" dirty="0" err="1" smtClean="0"/>
              <a:t>JFrame</a:t>
            </a:r>
            <a:r>
              <a:rPr lang="en-US" sz="2400" dirty="0" smtClean="0"/>
              <a:t> (Window with borders/title).</a:t>
            </a:r>
          </a:p>
          <a:p>
            <a:pPr lvl="1">
              <a:spcBef>
                <a:spcPts val="600"/>
              </a:spcBef>
              <a:spcAft>
                <a:spcPts val="600"/>
              </a:spcAft>
            </a:pPr>
            <a:r>
              <a:rPr lang="en-US" sz="2400" dirty="0" err="1" smtClean="0"/>
              <a:t>JDialog</a:t>
            </a:r>
            <a:r>
              <a:rPr lang="en-US" sz="2400" dirty="0" smtClean="0"/>
              <a:t> (Popup window).</a:t>
            </a:r>
          </a:p>
          <a:p>
            <a:pPr lvl="1">
              <a:spcBef>
                <a:spcPts val="600"/>
              </a:spcBef>
              <a:spcAft>
                <a:spcPts val="600"/>
              </a:spcAft>
            </a:pPr>
            <a:r>
              <a:rPr lang="en-US" sz="2400" dirty="0" err="1" smtClean="0"/>
              <a:t>JApplet</a:t>
            </a:r>
            <a:r>
              <a:rPr lang="en-US" sz="2400" dirty="0" smtClean="0"/>
              <a:t> (Deprecated, web-based).</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28670"/>
          </a:xfrm>
        </p:spPr>
        <p:txBody>
          <a:bodyPr>
            <a:normAutofit/>
          </a:bodyPr>
          <a:lstStyle/>
          <a:p>
            <a:r>
              <a:rPr lang="en-US" b="1" dirty="0" smtClean="0"/>
              <a:t>Creating a Window (</a:t>
            </a:r>
            <a:r>
              <a:rPr lang="en-US" b="1" dirty="0" err="1" smtClean="0"/>
              <a:t>JFrame</a:t>
            </a:r>
            <a:r>
              <a:rPr lang="en-US" b="1" dirty="0" smtClean="0"/>
              <a:t>)</a:t>
            </a:r>
            <a:endParaRPr lang="en-US" b="1" dirty="0"/>
          </a:p>
        </p:txBody>
      </p:sp>
      <p:sp>
        <p:nvSpPr>
          <p:cNvPr id="3" name="Content Placeholder 2"/>
          <p:cNvSpPr>
            <a:spLocks noGrp="1"/>
          </p:cNvSpPr>
          <p:nvPr>
            <p:ph idx="1"/>
          </p:nvPr>
        </p:nvSpPr>
        <p:spPr>
          <a:xfrm>
            <a:off x="500034" y="1142984"/>
            <a:ext cx="8229600" cy="3829064"/>
          </a:xfrm>
        </p:spPr>
        <p:txBody>
          <a:bodyPr>
            <a:normAutofit/>
          </a:bodyPr>
          <a:lstStyle/>
          <a:p>
            <a:pPr>
              <a:spcBef>
                <a:spcPts val="600"/>
              </a:spcBef>
              <a:spcAft>
                <a:spcPts val="600"/>
              </a:spcAft>
            </a:pPr>
            <a:r>
              <a:rPr lang="en-US" sz="2400" dirty="0" err="1" smtClean="0"/>
              <a:t>JFrame</a:t>
            </a:r>
            <a:r>
              <a:rPr lang="en-US" sz="2400" dirty="0" smtClean="0"/>
              <a:t> represents the main application window.</a:t>
            </a:r>
          </a:p>
          <a:p>
            <a:pPr>
              <a:spcBef>
                <a:spcPts val="600"/>
              </a:spcBef>
              <a:spcAft>
                <a:spcPts val="600"/>
              </a:spcAft>
            </a:pPr>
            <a:r>
              <a:rPr lang="en-US" sz="2400" b="1" dirty="0" smtClean="0"/>
              <a:t>Key Setup Steps:</a:t>
            </a:r>
            <a:endParaRPr lang="en-US" sz="2400" dirty="0" smtClean="0"/>
          </a:p>
          <a:p>
            <a:pPr lvl="1">
              <a:spcBef>
                <a:spcPts val="600"/>
              </a:spcBef>
              <a:spcAft>
                <a:spcPts val="600"/>
              </a:spcAft>
            </a:pPr>
            <a:r>
              <a:rPr lang="en-US" sz="2400" dirty="0" smtClean="0"/>
              <a:t>Instantiate the frame.</a:t>
            </a:r>
          </a:p>
          <a:p>
            <a:pPr lvl="1">
              <a:spcBef>
                <a:spcPts val="600"/>
              </a:spcBef>
              <a:spcAft>
                <a:spcPts val="600"/>
              </a:spcAft>
            </a:pPr>
            <a:r>
              <a:rPr lang="en-US" sz="2400" dirty="0" smtClean="0"/>
              <a:t>Set default close operation.</a:t>
            </a:r>
          </a:p>
          <a:p>
            <a:pPr lvl="1">
              <a:spcBef>
                <a:spcPts val="600"/>
              </a:spcBef>
              <a:spcAft>
                <a:spcPts val="600"/>
              </a:spcAft>
            </a:pPr>
            <a:r>
              <a:rPr lang="en-US" sz="2400" dirty="0" smtClean="0"/>
              <a:t>Set size (or pack()).</a:t>
            </a:r>
          </a:p>
          <a:p>
            <a:pPr lvl="1">
              <a:spcBef>
                <a:spcPts val="600"/>
              </a:spcBef>
              <a:spcAft>
                <a:spcPts val="600"/>
              </a:spcAft>
            </a:pPr>
            <a:r>
              <a:rPr lang="en-US" sz="2400" dirty="0" smtClean="0"/>
              <a:t>Set visibility to true.</a:t>
            </a:r>
          </a:p>
          <a:p>
            <a:pPr lvl="1">
              <a:spcBef>
                <a:spcPts val="600"/>
              </a:spcBef>
              <a:spcAft>
                <a:spcPts val="600"/>
              </a:spcAft>
            </a:pPr>
            <a:r>
              <a:rPr lang="en-US" sz="2400" b="1" dirty="0" smtClean="0"/>
              <a:t>Always start on the EDT.</a:t>
            </a:r>
            <a:endParaRPr lang="en-US" sz="2400" dirty="0"/>
          </a:p>
        </p:txBody>
      </p:sp>
      <p:sp>
        <p:nvSpPr>
          <p:cNvPr id="4" name="Content Placeholder 2"/>
          <p:cNvSpPr txBox="1">
            <a:spLocks/>
          </p:cNvSpPr>
          <p:nvPr/>
        </p:nvSpPr>
        <p:spPr>
          <a:xfrm>
            <a:off x="500034" y="5000636"/>
            <a:ext cx="8229600" cy="1714512"/>
          </a:xfrm>
          <a:prstGeom prst="rect">
            <a:avLst/>
          </a:prstGeom>
          <a:ln>
            <a:solidFill>
              <a:schemeClr val="accent1"/>
            </a:solidFill>
          </a:ln>
          <a:effectLst/>
          <a:scene3d>
            <a:camera prst="orthographicFront">
              <a:rot lat="0" lon="0" rev="0"/>
            </a:camera>
            <a:lightRig rig="contrasting" dir="t">
              <a:rot lat="0" lon="0" rev="7800000"/>
            </a:lightRig>
          </a:scene3d>
          <a:sp3d>
            <a:bevelT w="139700" h="139700"/>
          </a:sp3d>
        </p:spPr>
        <p:txBody>
          <a:bodyPr vert="horz" lIns="91440" tIns="45720" rIns="91440" bIns="45720" rtlCol="0">
            <a:noAutofit/>
          </a:bodyPr>
          <a:lstStyle/>
          <a:p>
            <a:pPr marL="342900" lvl="0" indent="-342900">
              <a:spcAft>
                <a:spcPts val="600"/>
              </a:spcAft>
            </a:pPr>
            <a:r>
              <a:rPr lang="en-US" b="1" dirty="0" err="1" smtClean="0">
                <a:solidFill>
                  <a:srgbClr val="C00000"/>
                </a:solidFill>
                <a:latin typeface="Courier New" pitchFamily="49" charset="0"/>
                <a:cs typeface="Courier New" pitchFamily="49" charset="0"/>
              </a:rPr>
              <a:t>JFrame</a:t>
            </a:r>
            <a:r>
              <a:rPr lang="en-US" b="1" dirty="0" smtClean="0">
                <a:solidFill>
                  <a:srgbClr val="C00000"/>
                </a:solidFill>
                <a:latin typeface="Courier New" pitchFamily="49" charset="0"/>
                <a:cs typeface="Courier New" pitchFamily="49" charset="0"/>
              </a:rPr>
              <a:t> frame </a:t>
            </a:r>
            <a:r>
              <a:rPr lang="en-US" b="1" dirty="0" smtClean="0">
                <a:latin typeface="Courier New" pitchFamily="49" charset="0"/>
                <a:cs typeface="Courier New" pitchFamily="49" charset="0"/>
              </a:rPr>
              <a:t>= new </a:t>
            </a:r>
            <a:r>
              <a:rPr lang="en-US" b="1" dirty="0" err="1" smtClean="0">
                <a:solidFill>
                  <a:srgbClr val="5832F8"/>
                </a:solidFill>
                <a:latin typeface="Courier New" pitchFamily="49" charset="0"/>
                <a:cs typeface="Courier New" pitchFamily="49" charset="0"/>
              </a:rPr>
              <a:t>JFrame</a:t>
            </a:r>
            <a:r>
              <a:rPr lang="en-US" b="1" dirty="0" smtClean="0">
                <a:latin typeface="Courier New" pitchFamily="49" charset="0"/>
                <a:cs typeface="Courier New" pitchFamily="49" charset="0"/>
              </a:rPr>
              <a:t>("</a:t>
            </a:r>
            <a:r>
              <a:rPr lang="en-US" b="1" dirty="0" smtClean="0">
                <a:solidFill>
                  <a:srgbClr val="00B050"/>
                </a:solidFill>
                <a:latin typeface="Courier New" pitchFamily="49" charset="0"/>
                <a:cs typeface="Courier New" pitchFamily="49" charset="0"/>
              </a:rPr>
              <a:t>My App</a:t>
            </a:r>
            <a:r>
              <a:rPr lang="en-US" b="1" dirty="0" smtClean="0">
                <a:latin typeface="Courier New" pitchFamily="49" charset="0"/>
                <a:cs typeface="Courier New" pitchFamily="49" charset="0"/>
              </a:rPr>
              <a:t>");</a:t>
            </a:r>
          </a:p>
          <a:p>
            <a:pPr marL="342900" lvl="0" indent="-342900">
              <a:spcAft>
                <a:spcPts val="600"/>
              </a:spcAft>
            </a:pPr>
            <a:r>
              <a:rPr lang="en-US" b="1" dirty="0" err="1" smtClean="0">
                <a:solidFill>
                  <a:srgbClr val="C00000"/>
                </a:solidFill>
                <a:latin typeface="Courier New" pitchFamily="49" charset="0"/>
                <a:cs typeface="Courier New" pitchFamily="49" charset="0"/>
              </a:rPr>
              <a:t>frame</a:t>
            </a:r>
            <a:r>
              <a:rPr lang="en-US" b="1" dirty="0" err="1" smtClean="0">
                <a:latin typeface="Courier New" pitchFamily="49" charset="0"/>
                <a:cs typeface="Courier New" pitchFamily="49" charset="0"/>
              </a:rPr>
              <a:t>.</a:t>
            </a:r>
            <a:r>
              <a:rPr lang="en-US" b="1" dirty="0" err="1" smtClean="0">
                <a:solidFill>
                  <a:srgbClr val="5832F8"/>
                </a:solidFill>
                <a:latin typeface="Courier New" pitchFamily="49" charset="0"/>
                <a:cs typeface="Courier New" pitchFamily="49" charset="0"/>
              </a:rPr>
              <a:t>setDefaultCloseOperation</a:t>
            </a:r>
            <a:r>
              <a:rPr lang="en-US" b="1" dirty="0" smtClean="0">
                <a:latin typeface="Courier New" pitchFamily="49" charset="0"/>
                <a:cs typeface="Courier New" pitchFamily="49" charset="0"/>
              </a:rPr>
              <a:t>(</a:t>
            </a:r>
            <a:r>
              <a:rPr lang="en-US" b="1" dirty="0" err="1" smtClean="0">
                <a:solidFill>
                  <a:srgbClr val="C00000"/>
                </a:solidFill>
                <a:latin typeface="Courier New" pitchFamily="49" charset="0"/>
                <a:cs typeface="Courier New" pitchFamily="49" charset="0"/>
              </a:rPr>
              <a:t>JFrame.EXIT_ON_CLOSE</a:t>
            </a:r>
            <a:r>
              <a:rPr lang="en-US" b="1" dirty="0" smtClean="0">
                <a:latin typeface="Courier New" pitchFamily="49" charset="0"/>
                <a:cs typeface="Courier New" pitchFamily="49" charset="0"/>
              </a:rPr>
              <a:t>);</a:t>
            </a:r>
          </a:p>
          <a:p>
            <a:pPr marL="342900" lvl="0" indent="-342900">
              <a:spcAft>
                <a:spcPts val="600"/>
              </a:spcAft>
            </a:pPr>
            <a:r>
              <a:rPr lang="en-US" b="1" dirty="0" err="1" smtClean="0">
                <a:solidFill>
                  <a:srgbClr val="C00000"/>
                </a:solidFill>
                <a:latin typeface="Courier New" pitchFamily="49" charset="0"/>
                <a:cs typeface="Courier New" pitchFamily="49" charset="0"/>
              </a:rPr>
              <a:t>frame</a:t>
            </a:r>
            <a:r>
              <a:rPr lang="en-US" b="1" dirty="0" err="1" smtClean="0">
                <a:latin typeface="Courier New" pitchFamily="49" charset="0"/>
                <a:cs typeface="Courier New" pitchFamily="49" charset="0"/>
              </a:rPr>
              <a:t>.</a:t>
            </a:r>
            <a:r>
              <a:rPr lang="en-US" b="1" dirty="0" err="1" smtClean="0">
                <a:solidFill>
                  <a:srgbClr val="5832F8"/>
                </a:solidFill>
                <a:latin typeface="Courier New" pitchFamily="49" charset="0"/>
                <a:cs typeface="Courier New" pitchFamily="49" charset="0"/>
              </a:rPr>
              <a:t>setSize</a:t>
            </a:r>
            <a:r>
              <a:rPr lang="en-US" b="1" dirty="0" smtClean="0">
                <a:latin typeface="Courier New" pitchFamily="49" charset="0"/>
                <a:cs typeface="Courier New" pitchFamily="49" charset="0"/>
              </a:rPr>
              <a:t>(</a:t>
            </a:r>
            <a:r>
              <a:rPr lang="en-US" b="1" dirty="0" smtClean="0">
                <a:solidFill>
                  <a:srgbClr val="C00000"/>
                </a:solidFill>
                <a:latin typeface="Courier New" pitchFamily="49" charset="0"/>
                <a:cs typeface="Courier New" pitchFamily="49" charset="0"/>
              </a:rPr>
              <a:t>400</a:t>
            </a:r>
            <a:r>
              <a:rPr lang="en-US" b="1" dirty="0" smtClean="0">
                <a:latin typeface="Courier New" pitchFamily="49" charset="0"/>
                <a:cs typeface="Courier New" pitchFamily="49" charset="0"/>
              </a:rPr>
              <a:t>, </a:t>
            </a:r>
            <a:r>
              <a:rPr lang="en-US" b="1" dirty="0" smtClean="0">
                <a:solidFill>
                  <a:srgbClr val="C00000"/>
                </a:solidFill>
                <a:latin typeface="Courier New" pitchFamily="49" charset="0"/>
                <a:cs typeface="Courier New" pitchFamily="49" charset="0"/>
              </a:rPr>
              <a:t>300</a:t>
            </a:r>
            <a:r>
              <a:rPr lang="en-US" b="1" dirty="0" smtClean="0">
                <a:latin typeface="Courier New" pitchFamily="49" charset="0"/>
                <a:cs typeface="Courier New" pitchFamily="49" charset="0"/>
              </a:rPr>
              <a:t>);</a:t>
            </a:r>
          </a:p>
          <a:p>
            <a:pPr marL="342900" lvl="0" indent="-342900"/>
            <a:r>
              <a:rPr lang="en-US" b="1" dirty="0" err="1" smtClean="0">
                <a:solidFill>
                  <a:srgbClr val="C00000"/>
                </a:solidFill>
                <a:latin typeface="Courier New" pitchFamily="49" charset="0"/>
                <a:cs typeface="Courier New" pitchFamily="49" charset="0"/>
              </a:rPr>
              <a:t>frame</a:t>
            </a:r>
            <a:r>
              <a:rPr lang="en-US" b="1" dirty="0" err="1" smtClean="0">
                <a:latin typeface="Courier New" pitchFamily="49" charset="0"/>
                <a:cs typeface="Courier New" pitchFamily="49" charset="0"/>
              </a:rPr>
              <a:t>.</a:t>
            </a:r>
            <a:r>
              <a:rPr lang="en-US" b="1" dirty="0" err="1" smtClean="0">
                <a:solidFill>
                  <a:srgbClr val="5832F8"/>
                </a:solidFill>
                <a:latin typeface="Courier New" pitchFamily="49" charset="0"/>
                <a:cs typeface="Courier New" pitchFamily="49" charset="0"/>
              </a:rPr>
              <a:t>setVisible</a:t>
            </a:r>
            <a:r>
              <a:rPr lang="en-US" b="1" dirty="0" smtClean="0">
                <a:latin typeface="Courier New" pitchFamily="49" charset="0"/>
                <a:cs typeface="Courier New" pitchFamily="49" charset="0"/>
              </a:rPr>
              <a:t>(</a:t>
            </a:r>
            <a:r>
              <a:rPr lang="en-US" b="1" dirty="0" smtClean="0">
                <a:solidFill>
                  <a:srgbClr val="C00000"/>
                </a:solidFill>
                <a:latin typeface="Courier New" pitchFamily="49" charset="0"/>
                <a:cs typeface="Courier New" pitchFamily="49" charset="0"/>
              </a:rPr>
              <a:t>true</a:t>
            </a:r>
            <a:r>
              <a:rPr lang="en-US" b="1" dirty="0" smtClean="0">
                <a:latin typeface="Courier New" pitchFamily="49" charset="0"/>
                <a:cs typeface="Courier New" pitchFamily="49" charset="0"/>
              </a:rPr>
              <a:t>);</a:t>
            </a:r>
            <a:endParaRPr kumimoji="0" lang="en-US" b="1" i="0" u="none" strike="noStrike" kern="1200" cap="none" spc="0" normalizeH="0" baseline="0" noProof="0" dirty="0" smtClean="0">
              <a:ln>
                <a:noFill/>
              </a:ln>
              <a:solidFill>
                <a:schemeClr val="tx1"/>
              </a:solidFill>
              <a:effectLst/>
              <a:uLnTx/>
              <a:uFillTx/>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8229600" cy="928694"/>
          </a:xfrm>
        </p:spPr>
        <p:txBody>
          <a:bodyPr>
            <a:normAutofit/>
          </a:bodyPr>
          <a:lstStyle/>
          <a:p>
            <a:r>
              <a:rPr lang="en-US" b="1" dirty="0" smtClean="0"/>
              <a:t>Common Swing Components</a:t>
            </a:r>
            <a:endParaRPr lang="en-US" b="1" dirty="0"/>
          </a:p>
        </p:txBody>
      </p:sp>
      <p:sp>
        <p:nvSpPr>
          <p:cNvPr id="3" name="Content Placeholder 2"/>
          <p:cNvSpPr>
            <a:spLocks noGrp="1"/>
          </p:cNvSpPr>
          <p:nvPr>
            <p:ph idx="1"/>
          </p:nvPr>
        </p:nvSpPr>
        <p:spPr>
          <a:xfrm>
            <a:off x="428596" y="1214423"/>
            <a:ext cx="8229600" cy="3214710"/>
          </a:xfrm>
        </p:spPr>
        <p:txBody>
          <a:bodyPr>
            <a:normAutofit/>
          </a:bodyPr>
          <a:lstStyle/>
          <a:p>
            <a:pPr>
              <a:spcBef>
                <a:spcPts val="600"/>
              </a:spcBef>
              <a:spcAft>
                <a:spcPts val="600"/>
              </a:spcAft>
            </a:pPr>
            <a:r>
              <a:rPr lang="en-US" sz="2400" dirty="0" smtClean="0"/>
              <a:t>All start with </a:t>
            </a:r>
            <a:r>
              <a:rPr lang="en-US" sz="2400" b="1" dirty="0" smtClean="0"/>
              <a:t>'J'</a:t>
            </a:r>
            <a:r>
              <a:rPr lang="en-US" sz="2400" dirty="0" smtClean="0"/>
              <a:t>.</a:t>
            </a:r>
          </a:p>
          <a:p>
            <a:pPr>
              <a:spcBef>
                <a:spcPts val="600"/>
              </a:spcBef>
              <a:spcAft>
                <a:spcPts val="600"/>
              </a:spcAft>
            </a:pPr>
            <a:r>
              <a:rPr lang="en-US" sz="2400" b="1" dirty="0" err="1" smtClean="0"/>
              <a:t>JLabel</a:t>
            </a:r>
            <a:r>
              <a:rPr lang="en-US" sz="2400" dirty="0" smtClean="0"/>
              <a:t>: Display text or images.</a:t>
            </a:r>
          </a:p>
          <a:p>
            <a:pPr>
              <a:spcBef>
                <a:spcPts val="600"/>
              </a:spcBef>
              <a:spcAft>
                <a:spcPts val="600"/>
              </a:spcAft>
            </a:pPr>
            <a:r>
              <a:rPr lang="en-US" sz="2400" b="1" dirty="0" err="1" smtClean="0"/>
              <a:t>JButton</a:t>
            </a:r>
            <a:r>
              <a:rPr lang="en-US" sz="2400" dirty="0" smtClean="0"/>
              <a:t>: Clickable button.</a:t>
            </a:r>
          </a:p>
          <a:p>
            <a:pPr>
              <a:spcBef>
                <a:spcPts val="600"/>
              </a:spcBef>
              <a:spcAft>
                <a:spcPts val="600"/>
              </a:spcAft>
            </a:pPr>
            <a:r>
              <a:rPr lang="en-US" sz="2400" b="1" dirty="0" err="1" smtClean="0"/>
              <a:t>JTextField</a:t>
            </a:r>
            <a:r>
              <a:rPr lang="en-US" sz="2400" dirty="0" smtClean="0"/>
              <a:t>: Single-line text input.</a:t>
            </a:r>
          </a:p>
          <a:p>
            <a:pPr>
              <a:spcBef>
                <a:spcPts val="600"/>
              </a:spcBef>
              <a:spcAft>
                <a:spcPts val="600"/>
              </a:spcAft>
            </a:pPr>
            <a:r>
              <a:rPr lang="en-US" sz="2400" b="1" dirty="0" err="1" smtClean="0"/>
              <a:t>JTextArea</a:t>
            </a:r>
            <a:r>
              <a:rPr lang="en-US" sz="2400" dirty="0" smtClean="0"/>
              <a:t>: Multi-line text input (wrap in </a:t>
            </a:r>
            <a:r>
              <a:rPr lang="en-US" sz="2400" dirty="0" err="1" smtClean="0"/>
              <a:t>JScrollPane</a:t>
            </a:r>
            <a:r>
              <a:rPr lang="en-US" sz="2400" dirty="0" smtClean="0"/>
              <a:t>).</a:t>
            </a:r>
          </a:p>
          <a:p>
            <a:pPr>
              <a:spcBef>
                <a:spcPts val="600"/>
              </a:spcBef>
              <a:spcAft>
                <a:spcPts val="600"/>
              </a:spcAft>
            </a:pPr>
            <a:r>
              <a:rPr lang="en-US" sz="2400" b="1" dirty="0" err="1" smtClean="0"/>
              <a:t>JCheckBox</a:t>
            </a:r>
            <a:r>
              <a:rPr lang="en-US" sz="2400" b="1" dirty="0" smtClean="0"/>
              <a:t> / </a:t>
            </a:r>
            <a:r>
              <a:rPr lang="en-US" sz="2400" b="1" dirty="0" err="1" smtClean="0"/>
              <a:t>JRadioButton</a:t>
            </a:r>
            <a:r>
              <a:rPr lang="en-US" sz="2400" dirty="0" smtClean="0"/>
              <a:t>: Selection controls.</a:t>
            </a:r>
          </a:p>
          <a:p>
            <a:pPr>
              <a:spcBef>
                <a:spcPts val="600"/>
              </a:spcBef>
              <a:spcAft>
                <a:spcPts val="600"/>
              </a:spcAft>
            </a:pPr>
            <a:endParaRPr lang="en-US" sz="2400" dirty="0"/>
          </a:p>
        </p:txBody>
      </p:sp>
      <p:sp>
        <p:nvSpPr>
          <p:cNvPr id="4" name="Rectangle 3"/>
          <p:cNvSpPr/>
          <p:nvPr/>
        </p:nvSpPr>
        <p:spPr>
          <a:xfrm>
            <a:off x="785786" y="4714884"/>
            <a:ext cx="7643866" cy="1200329"/>
          </a:xfrm>
          <a:prstGeom prst="rect">
            <a:avLst/>
          </a:prstGeom>
          <a:ln>
            <a:solidFill>
              <a:schemeClr val="accent1"/>
            </a:solidFill>
          </a:ln>
          <a:effectLst/>
        </p:spPr>
        <p:txBody>
          <a:bodyPr wrap="square">
            <a:spAutoFit/>
          </a:bodyPr>
          <a:lstStyle/>
          <a:p>
            <a:r>
              <a:rPr lang="en-US" sz="2400" b="1" dirty="0" err="1" smtClean="0">
                <a:latin typeface="Courier New" pitchFamily="49" charset="0"/>
                <a:cs typeface="Courier New" pitchFamily="49" charset="0"/>
              </a:rPr>
              <a:t>JLabel</a:t>
            </a:r>
            <a:r>
              <a:rPr lang="en-US" sz="2400" b="1" dirty="0" smtClean="0">
                <a:latin typeface="Courier New" pitchFamily="49" charset="0"/>
                <a:cs typeface="Courier New" pitchFamily="49" charset="0"/>
              </a:rPr>
              <a:t> label = new </a:t>
            </a:r>
            <a:r>
              <a:rPr lang="en-US" sz="2400" b="1" dirty="0" err="1" smtClean="0">
                <a:solidFill>
                  <a:srgbClr val="5832F8"/>
                </a:solidFill>
                <a:latin typeface="Courier New" pitchFamily="49" charset="0"/>
                <a:cs typeface="Courier New" pitchFamily="49" charset="0"/>
              </a:rPr>
              <a:t>JLabel</a:t>
            </a:r>
            <a:r>
              <a:rPr lang="en-US" sz="2400" b="1" dirty="0" smtClean="0">
                <a:latin typeface="Courier New" pitchFamily="49" charset="0"/>
                <a:cs typeface="Courier New" pitchFamily="49" charset="0"/>
              </a:rPr>
              <a:t>("Username:");</a:t>
            </a:r>
          </a:p>
          <a:p>
            <a:r>
              <a:rPr lang="en-US" sz="2400" b="1" dirty="0" err="1" smtClean="0">
                <a:latin typeface="Courier New" pitchFamily="49" charset="0"/>
                <a:cs typeface="Courier New" pitchFamily="49" charset="0"/>
              </a:rPr>
              <a:t>JTextField</a:t>
            </a:r>
            <a:r>
              <a:rPr lang="en-US" sz="2400" b="1" dirty="0" smtClean="0">
                <a:latin typeface="Courier New" pitchFamily="49" charset="0"/>
                <a:cs typeface="Courier New" pitchFamily="49" charset="0"/>
              </a:rPr>
              <a:t> text = new </a:t>
            </a:r>
            <a:r>
              <a:rPr lang="en-US" sz="2400" b="1" dirty="0" err="1" smtClean="0">
                <a:solidFill>
                  <a:srgbClr val="5832F8"/>
                </a:solidFill>
                <a:latin typeface="Courier New" pitchFamily="49" charset="0"/>
                <a:cs typeface="Courier New" pitchFamily="49" charset="0"/>
              </a:rPr>
              <a:t>JTextField</a:t>
            </a:r>
            <a:r>
              <a:rPr lang="en-US" sz="2400" b="1" dirty="0" smtClean="0">
                <a:latin typeface="Courier New" pitchFamily="49" charset="0"/>
                <a:cs typeface="Courier New" pitchFamily="49" charset="0"/>
              </a:rPr>
              <a:t>(20);</a:t>
            </a:r>
          </a:p>
          <a:p>
            <a:r>
              <a:rPr lang="en-US" sz="2400" b="1" dirty="0" err="1" smtClean="0">
                <a:latin typeface="Courier New" pitchFamily="49" charset="0"/>
                <a:cs typeface="Courier New" pitchFamily="49" charset="0"/>
              </a:rPr>
              <a:t>JButton</a:t>
            </a:r>
            <a:r>
              <a:rPr lang="en-US" sz="2400" b="1" dirty="0" smtClean="0">
                <a:latin typeface="Courier New" pitchFamily="49" charset="0"/>
                <a:cs typeface="Courier New" pitchFamily="49" charset="0"/>
              </a:rPr>
              <a:t> </a:t>
            </a:r>
            <a:r>
              <a:rPr lang="en-US" sz="2400" b="1" dirty="0" err="1" smtClean="0">
                <a:latin typeface="Courier New" pitchFamily="49" charset="0"/>
                <a:cs typeface="Courier New" pitchFamily="49" charset="0"/>
              </a:rPr>
              <a:t>btn</a:t>
            </a:r>
            <a:r>
              <a:rPr lang="en-US" sz="2400" b="1" dirty="0" smtClean="0">
                <a:latin typeface="Courier New" pitchFamily="49" charset="0"/>
                <a:cs typeface="Courier New" pitchFamily="49" charset="0"/>
              </a:rPr>
              <a:t> = new </a:t>
            </a:r>
            <a:r>
              <a:rPr lang="en-US" sz="2400" b="1" dirty="0" err="1" smtClean="0">
                <a:solidFill>
                  <a:srgbClr val="5832F8"/>
                </a:solidFill>
                <a:latin typeface="Courier New" pitchFamily="49" charset="0"/>
                <a:cs typeface="Courier New" pitchFamily="49" charset="0"/>
              </a:rPr>
              <a:t>JButton</a:t>
            </a:r>
            <a:r>
              <a:rPr lang="en-US" sz="2400" b="1" dirty="0" smtClean="0">
                <a:latin typeface="Courier New" pitchFamily="49" charset="0"/>
                <a:cs typeface="Courier New" pitchFamily="49" charset="0"/>
              </a:rPr>
              <a:t>("Submit");</a:t>
            </a:r>
            <a:endParaRPr lang="en-US" sz="2400" b="1" dirty="0">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8229600" cy="1000132"/>
          </a:xfrm>
        </p:spPr>
        <p:txBody>
          <a:bodyPr>
            <a:normAutofit fontScale="90000"/>
          </a:bodyPr>
          <a:lstStyle/>
          <a:p>
            <a:r>
              <a:rPr lang="en-US" b="1" dirty="0" smtClean="0"/>
              <a:t>Swing Login Form component Layout.</a:t>
            </a:r>
            <a:endParaRPr lang="en-US" b="1" dirty="0"/>
          </a:p>
        </p:txBody>
      </p:sp>
      <p:pic>
        <p:nvPicPr>
          <p:cNvPr id="4" name="Content Placeholder 3" descr="javaswing.png"/>
          <p:cNvPicPr>
            <a:picLocks noGrp="1" noChangeAspect="1"/>
          </p:cNvPicPr>
          <p:nvPr>
            <p:ph idx="1"/>
          </p:nvPr>
        </p:nvPicPr>
        <p:blipFill>
          <a:blip r:embed="rId2"/>
          <a:srcRect l="2235" t="13574" r="8520" b="9084"/>
          <a:stretch>
            <a:fillRect/>
          </a:stretch>
        </p:blipFill>
        <p:spPr>
          <a:xfrm>
            <a:off x="357158" y="1000108"/>
            <a:ext cx="8487966" cy="5857892"/>
          </a:xfr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smtClean="0"/>
              <a:t>Screenshot of a simple login form showing swing components.</a:t>
            </a:r>
            <a:endParaRPr lang="en-US" sz="4000" b="1" dirty="0"/>
          </a:p>
        </p:txBody>
      </p:sp>
      <p:pic>
        <p:nvPicPr>
          <p:cNvPr id="1026" name="Picture 2"/>
          <p:cNvPicPr>
            <a:picLocks noGrp="1" noChangeAspect="1" noChangeArrowheads="1"/>
          </p:cNvPicPr>
          <p:nvPr>
            <p:ph idx="1"/>
          </p:nvPr>
        </p:nvPicPr>
        <p:blipFill>
          <a:blip r:embed="rId3"/>
          <a:srcRect l="19787" t="12973" r="19787" b="23297"/>
          <a:stretch>
            <a:fillRect/>
          </a:stretch>
        </p:blipFill>
        <p:spPr bwMode="auto">
          <a:xfrm>
            <a:off x="714348" y="1785926"/>
            <a:ext cx="7940899" cy="457203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4290"/>
            <a:ext cx="8229600" cy="1143000"/>
          </a:xfrm>
        </p:spPr>
        <p:txBody>
          <a:bodyPr>
            <a:normAutofit/>
          </a:bodyPr>
          <a:lstStyle/>
          <a:p>
            <a:r>
              <a:rPr lang="en-US" b="1" dirty="0" smtClean="0"/>
              <a:t>Managing Component Placement</a:t>
            </a:r>
            <a:endParaRPr lang="en-US" b="1" dirty="0"/>
          </a:p>
        </p:txBody>
      </p:sp>
      <p:sp>
        <p:nvSpPr>
          <p:cNvPr id="3" name="Content Placeholder 2"/>
          <p:cNvSpPr>
            <a:spLocks noGrp="1"/>
          </p:cNvSpPr>
          <p:nvPr>
            <p:ph idx="1"/>
          </p:nvPr>
        </p:nvSpPr>
        <p:spPr/>
        <p:txBody>
          <a:bodyPr>
            <a:normAutofit/>
          </a:bodyPr>
          <a:lstStyle/>
          <a:p>
            <a:pPr>
              <a:spcBef>
                <a:spcPts val="600"/>
              </a:spcBef>
              <a:spcAft>
                <a:spcPts val="600"/>
              </a:spcAft>
            </a:pPr>
            <a:r>
              <a:rPr lang="en-US" sz="2400" b="1" dirty="0" smtClean="0"/>
              <a:t>Why?</a:t>
            </a:r>
            <a:r>
              <a:rPr lang="en-US" sz="2400" dirty="0" smtClean="0"/>
              <a:t> Hard-coding coordinates (</a:t>
            </a:r>
            <a:r>
              <a:rPr lang="en-US" sz="2400" dirty="0" err="1" smtClean="0"/>
              <a:t>setBounds</a:t>
            </a:r>
            <a:r>
              <a:rPr lang="en-US" sz="2400" dirty="0" smtClean="0"/>
              <a:t>) is bad practice (doesn't scale, ignores OS font sizes).</a:t>
            </a:r>
          </a:p>
          <a:p>
            <a:pPr>
              <a:spcBef>
                <a:spcPts val="600"/>
              </a:spcBef>
              <a:spcAft>
                <a:spcPts val="600"/>
              </a:spcAft>
            </a:pPr>
            <a:r>
              <a:rPr lang="en-US" sz="2400" b="1" dirty="0" smtClean="0"/>
              <a:t>Layout Managers</a:t>
            </a:r>
            <a:r>
              <a:rPr lang="en-US" sz="2400" dirty="0" smtClean="0"/>
              <a:t> automatically arrange components.</a:t>
            </a:r>
          </a:p>
          <a:p>
            <a:pPr>
              <a:spcBef>
                <a:spcPts val="600"/>
              </a:spcBef>
              <a:spcAft>
                <a:spcPts val="600"/>
              </a:spcAft>
            </a:pPr>
            <a:r>
              <a:rPr lang="en-US" sz="2400" b="1" dirty="0" smtClean="0"/>
              <a:t>Common Layouts:</a:t>
            </a:r>
            <a:endParaRPr lang="en-US" sz="2400" dirty="0" smtClean="0"/>
          </a:p>
          <a:p>
            <a:pPr lvl="1">
              <a:spcBef>
                <a:spcPts val="600"/>
              </a:spcBef>
              <a:spcAft>
                <a:spcPts val="600"/>
              </a:spcAft>
            </a:pPr>
            <a:r>
              <a:rPr lang="en-US" sz="2400" b="1" dirty="0" err="1" smtClean="0"/>
              <a:t>BorderLayout</a:t>
            </a:r>
            <a:r>
              <a:rPr lang="en-US" sz="2400" dirty="0" smtClean="0"/>
              <a:t>: North, South, East, West, Center (Default for </a:t>
            </a:r>
            <a:r>
              <a:rPr lang="en-US" sz="2400" dirty="0" err="1" smtClean="0"/>
              <a:t>JFrame</a:t>
            </a:r>
            <a:r>
              <a:rPr lang="en-US" sz="2400" dirty="0" smtClean="0"/>
              <a:t>).</a:t>
            </a:r>
          </a:p>
          <a:p>
            <a:pPr lvl="1">
              <a:spcBef>
                <a:spcPts val="600"/>
              </a:spcBef>
              <a:spcAft>
                <a:spcPts val="600"/>
              </a:spcAft>
            </a:pPr>
            <a:r>
              <a:rPr lang="en-US" sz="2400" b="1" dirty="0" err="1" smtClean="0"/>
              <a:t>FlowLayout</a:t>
            </a:r>
            <a:r>
              <a:rPr lang="en-US" sz="2400" dirty="0" smtClean="0"/>
              <a:t>: Left-to-right, wraps lines (Default for </a:t>
            </a:r>
            <a:r>
              <a:rPr lang="en-US" sz="2400" dirty="0" err="1" smtClean="0"/>
              <a:t>JPanel</a:t>
            </a:r>
            <a:r>
              <a:rPr lang="en-US" sz="2400" dirty="0" smtClean="0"/>
              <a:t>).</a:t>
            </a:r>
          </a:p>
          <a:p>
            <a:pPr lvl="1">
              <a:spcBef>
                <a:spcPts val="600"/>
              </a:spcBef>
              <a:spcAft>
                <a:spcPts val="600"/>
              </a:spcAft>
            </a:pPr>
            <a:r>
              <a:rPr lang="en-US" sz="2400" b="1" dirty="0" err="1" smtClean="0"/>
              <a:t>GridLayout</a:t>
            </a:r>
            <a:r>
              <a:rPr lang="en-US" sz="2400" dirty="0" smtClean="0"/>
              <a:t>: Grid of equal-sized cells.</a:t>
            </a:r>
          </a:p>
          <a:p>
            <a:pPr lvl="1">
              <a:spcBef>
                <a:spcPts val="600"/>
              </a:spcBef>
              <a:spcAft>
                <a:spcPts val="600"/>
              </a:spcAft>
            </a:pPr>
            <a:r>
              <a:rPr lang="en-US" sz="2400" b="1" dirty="0" err="1" smtClean="0"/>
              <a:t>BoxLayout</a:t>
            </a:r>
            <a:r>
              <a:rPr lang="en-US" sz="2400" dirty="0" smtClean="0"/>
              <a:t>: Single row or column.</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14"/>
            <a:ext cx="8229600" cy="1143000"/>
          </a:xfrm>
        </p:spPr>
        <p:txBody>
          <a:bodyPr/>
          <a:lstStyle/>
          <a:p>
            <a:r>
              <a:rPr lang="en-US" b="1" dirty="0" smtClean="0"/>
              <a:t>Layout Manager</a:t>
            </a:r>
            <a:endParaRPr lang="en-US" b="1" dirty="0"/>
          </a:p>
        </p:txBody>
      </p:sp>
      <p:sp>
        <p:nvSpPr>
          <p:cNvPr id="3" name="Content Placeholder 2"/>
          <p:cNvSpPr>
            <a:spLocks noGrp="1"/>
          </p:cNvSpPr>
          <p:nvPr>
            <p:ph idx="1"/>
          </p:nvPr>
        </p:nvSpPr>
        <p:spPr>
          <a:xfrm>
            <a:off x="457200" y="1285860"/>
            <a:ext cx="8472518" cy="5429288"/>
          </a:xfrm>
        </p:spPr>
        <p:txBody>
          <a:bodyPr>
            <a:noAutofit/>
          </a:bodyPr>
          <a:lstStyle/>
          <a:p>
            <a:r>
              <a:rPr lang="en-US" sz="2400" b="1" dirty="0" err="1" smtClean="0"/>
              <a:t>BorderLayout:</a:t>
            </a:r>
            <a:r>
              <a:rPr lang="en-US" sz="2400" dirty="0" err="1" smtClean="0"/>
              <a:t>java</a:t>
            </a:r>
            <a:endParaRPr lang="en-US" sz="2400" dirty="0" smtClean="0"/>
          </a:p>
          <a:p>
            <a:endParaRPr lang="en-US" sz="1050" dirty="0" smtClean="0"/>
          </a:p>
          <a:p>
            <a:pPr lvl="1" fontAlgn="ctr">
              <a:buNone/>
            </a:pPr>
            <a:r>
              <a:rPr lang="en-US" sz="2000" b="1" dirty="0" err="1" smtClean="0">
                <a:latin typeface="Courier New" pitchFamily="49" charset="0"/>
                <a:cs typeface="Courier New" pitchFamily="49" charset="0"/>
              </a:rPr>
              <a:t>frame.setLayout</a:t>
            </a:r>
            <a:r>
              <a:rPr lang="en-US" sz="2000" b="1" dirty="0" smtClean="0">
                <a:latin typeface="Courier New" pitchFamily="49" charset="0"/>
                <a:cs typeface="Courier New" pitchFamily="49" charset="0"/>
              </a:rPr>
              <a:t>(new </a:t>
            </a:r>
            <a:r>
              <a:rPr lang="en-US" sz="2000" b="1" dirty="0" err="1" smtClean="0">
                <a:latin typeface="Courier New" pitchFamily="49" charset="0"/>
                <a:cs typeface="Courier New" pitchFamily="49" charset="0"/>
              </a:rPr>
              <a:t>BorderLayout</a:t>
            </a:r>
            <a:r>
              <a:rPr lang="en-US" sz="2000" b="1" dirty="0" smtClean="0">
                <a:latin typeface="Courier New" pitchFamily="49" charset="0"/>
                <a:cs typeface="Courier New" pitchFamily="49" charset="0"/>
              </a:rPr>
              <a:t>());</a:t>
            </a:r>
          </a:p>
          <a:p>
            <a:pPr lvl="1" fontAlgn="ctr">
              <a:buNone/>
            </a:pPr>
            <a:r>
              <a:rPr lang="en-US" sz="2000" b="1" dirty="0" err="1" smtClean="0">
                <a:latin typeface="Courier New" pitchFamily="49" charset="0"/>
                <a:cs typeface="Courier New" pitchFamily="49" charset="0"/>
              </a:rPr>
              <a:t>frame.add</a:t>
            </a:r>
            <a:r>
              <a:rPr lang="en-US" sz="2000" b="1" dirty="0" smtClean="0">
                <a:latin typeface="Courier New" pitchFamily="49" charset="0"/>
                <a:cs typeface="Courier New" pitchFamily="49" charset="0"/>
              </a:rPr>
              <a:t>(new </a:t>
            </a:r>
            <a:r>
              <a:rPr lang="en-US" sz="2000" b="1" dirty="0" err="1" smtClean="0">
                <a:latin typeface="Courier New" pitchFamily="49" charset="0"/>
                <a:cs typeface="Courier New" pitchFamily="49" charset="0"/>
              </a:rPr>
              <a:t>JButton</a:t>
            </a:r>
            <a:r>
              <a:rPr lang="en-US" sz="2000" b="1" dirty="0" smtClean="0">
                <a:latin typeface="Courier New" pitchFamily="49" charset="0"/>
                <a:cs typeface="Courier New" pitchFamily="49" charset="0"/>
              </a:rPr>
              <a:t>("North"), </a:t>
            </a:r>
            <a:r>
              <a:rPr lang="en-US" sz="2000" b="1" dirty="0" err="1" smtClean="0">
                <a:latin typeface="Courier New" pitchFamily="49" charset="0"/>
                <a:cs typeface="Courier New" pitchFamily="49" charset="0"/>
              </a:rPr>
              <a:t>BorderLayout.NORTH</a:t>
            </a:r>
            <a:r>
              <a:rPr lang="en-US" sz="2000" b="1" dirty="0" smtClean="0">
                <a:latin typeface="Courier New" pitchFamily="49" charset="0"/>
                <a:cs typeface="Courier New" pitchFamily="49" charset="0"/>
              </a:rPr>
              <a:t>);</a:t>
            </a:r>
          </a:p>
          <a:p>
            <a:pPr lvl="1" fontAlgn="ctr">
              <a:buNone/>
            </a:pPr>
            <a:r>
              <a:rPr lang="en-US" sz="2000" b="1" dirty="0" err="1" smtClean="0">
                <a:latin typeface="Courier New" pitchFamily="49" charset="0"/>
                <a:cs typeface="Courier New" pitchFamily="49" charset="0"/>
              </a:rPr>
              <a:t>frame.add</a:t>
            </a:r>
            <a:r>
              <a:rPr lang="en-US" sz="2000" b="1" dirty="0" smtClean="0">
                <a:latin typeface="Courier New" pitchFamily="49" charset="0"/>
                <a:cs typeface="Courier New" pitchFamily="49" charset="0"/>
              </a:rPr>
              <a:t>(new </a:t>
            </a:r>
            <a:r>
              <a:rPr lang="en-US" sz="2000" b="1" dirty="0" err="1" smtClean="0">
                <a:latin typeface="Courier New" pitchFamily="49" charset="0"/>
                <a:cs typeface="Courier New" pitchFamily="49" charset="0"/>
              </a:rPr>
              <a:t>JButton</a:t>
            </a:r>
            <a:r>
              <a:rPr lang="en-US" sz="2000" b="1" dirty="0" smtClean="0">
                <a:latin typeface="Courier New" pitchFamily="49" charset="0"/>
                <a:cs typeface="Courier New" pitchFamily="49" charset="0"/>
              </a:rPr>
              <a:t>("Center"), </a:t>
            </a:r>
            <a:r>
              <a:rPr lang="en-US" sz="2000" b="1" dirty="0" err="1" smtClean="0">
                <a:latin typeface="Courier New" pitchFamily="49" charset="0"/>
                <a:cs typeface="Courier New" pitchFamily="49" charset="0"/>
              </a:rPr>
              <a:t>BorderLayout.CENTER</a:t>
            </a:r>
            <a:r>
              <a:rPr lang="en-US" sz="2000" b="1" dirty="0" smtClean="0">
                <a:latin typeface="Courier New" pitchFamily="49" charset="0"/>
                <a:cs typeface="Courier New" pitchFamily="49" charset="0"/>
              </a:rPr>
              <a:t>); </a:t>
            </a:r>
          </a:p>
          <a:p>
            <a:pPr fontAlgn="ctr"/>
            <a:endParaRPr lang="en-US" sz="600" b="1" dirty="0" smtClean="0"/>
          </a:p>
          <a:p>
            <a:pPr fontAlgn="ctr"/>
            <a:r>
              <a:rPr lang="en-US" sz="2400" b="1" dirty="0" err="1" smtClean="0"/>
              <a:t>GridLayout:</a:t>
            </a:r>
            <a:r>
              <a:rPr lang="en-US" sz="2400" dirty="0" err="1" smtClean="0"/>
              <a:t>java</a:t>
            </a:r>
            <a:endParaRPr lang="en-US" sz="2400" dirty="0" smtClean="0"/>
          </a:p>
          <a:p>
            <a:pPr fontAlgn="ctr"/>
            <a:endParaRPr lang="en-US" sz="1050" dirty="0" smtClean="0"/>
          </a:p>
          <a:p>
            <a:pPr lvl="1" fontAlgn="ctr"/>
            <a:r>
              <a:rPr lang="en-US" sz="2000" b="1" dirty="0" err="1" smtClean="0">
                <a:latin typeface="Courier New" pitchFamily="49" charset="0"/>
                <a:cs typeface="Courier New" pitchFamily="49" charset="0"/>
              </a:rPr>
              <a:t>JPanel</a:t>
            </a:r>
            <a:r>
              <a:rPr lang="en-US" sz="2000" b="1" dirty="0" smtClean="0">
                <a:latin typeface="Courier New" pitchFamily="49" charset="0"/>
                <a:cs typeface="Courier New" pitchFamily="49" charset="0"/>
              </a:rPr>
              <a:t> panel = new </a:t>
            </a:r>
            <a:r>
              <a:rPr lang="en-US" sz="2000" b="1" dirty="0" err="1" smtClean="0">
                <a:latin typeface="Courier New" pitchFamily="49" charset="0"/>
                <a:cs typeface="Courier New" pitchFamily="49" charset="0"/>
              </a:rPr>
              <a:t>JPanel</a:t>
            </a:r>
            <a:r>
              <a:rPr lang="en-US" sz="2000" b="1" dirty="0" smtClean="0">
                <a:latin typeface="Courier New" pitchFamily="49" charset="0"/>
                <a:cs typeface="Courier New" pitchFamily="49" charset="0"/>
              </a:rPr>
              <a:t>(new </a:t>
            </a:r>
            <a:r>
              <a:rPr lang="en-US" sz="2000" b="1" dirty="0" err="1" smtClean="0">
                <a:latin typeface="Courier New" pitchFamily="49" charset="0"/>
                <a:cs typeface="Courier New" pitchFamily="49" charset="0"/>
              </a:rPr>
              <a:t>GridLayout</a:t>
            </a:r>
            <a:r>
              <a:rPr lang="en-US" sz="2000" b="1" dirty="0" smtClean="0">
                <a:latin typeface="Courier New" pitchFamily="49" charset="0"/>
                <a:cs typeface="Courier New" pitchFamily="49" charset="0"/>
              </a:rPr>
              <a:t>(2, 2)); // 2 rows, 2 cols</a:t>
            </a:r>
          </a:p>
          <a:p>
            <a:pPr lvl="1" fontAlgn="ctr"/>
            <a:r>
              <a:rPr lang="en-US" sz="2000" b="1" dirty="0" err="1" smtClean="0">
                <a:latin typeface="Courier New" pitchFamily="49" charset="0"/>
                <a:cs typeface="Courier New" pitchFamily="49" charset="0"/>
              </a:rPr>
              <a:t>panel.add</a:t>
            </a:r>
            <a:r>
              <a:rPr lang="en-US" sz="2000" b="1" dirty="0" smtClean="0">
                <a:latin typeface="Courier New" pitchFamily="49" charset="0"/>
                <a:cs typeface="Courier New" pitchFamily="49" charset="0"/>
              </a:rPr>
              <a:t>(new </a:t>
            </a:r>
            <a:r>
              <a:rPr lang="en-US" sz="2000" b="1" dirty="0" err="1" smtClean="0">
                <a:latin typeface="Courier New" pitchFamily="49" charset="0"/>
                <a:cs typeface="Courier New" pitchFamily="49" charset="0"/>
              </a:rPr>
              <a:t>JButton</a:t>
            </a:r>
            <a:r>
              <a:rPr lang="en-US" sz="2000" b="1" dirty="0" smtClean="0">
                <a:latin typeface="Courier New" pitchFamily="49" charset="0"/>
                <a:cs typeface="Courier New" pitchFamily="49" charset="0"/>
              </a:rPr>
              <a:t>("1"));</a:t>
            </a:r>
          </a:p>
          <a:p>
            <a:pPr lvl="1" fontAlgn="ctr"/>
            <a:r>
              <a:rPr lang="en-US" sz="2000" b="1" dirty="0" err="1" smtClean="0">
                <a:latin typeface="Courier New" pitchFamily="49" charset="0"/>
                <a:cs typeface="Courier New" pitchFamily="49" charset="0"/>
              </a:rPr>
              <a:t>panel.add</a:t>
            </a:r>
            <a:r>
              <a:rPr lang="en-US" sz="2000" b="1" dirty="0" smtClean="0">
                <a:latin typeface="Courier New" pitchFamily="49" charset="0"/>
                <a:cs typeface="Courier New" pitchFamily="49" charset="0"/>
              </a:rPr>
              <a:t>(new </a:t>
            </a:r>
            <a:r>
              <a:rPr lang="en-US" sz="2000" b="1" dirty="0" err="1" smtClean="0">
                <a:latin typeface="Courier New" pitchFamily="49" charset="0"/>
                <a:cs typeface="Courier New" pitchFamily="49" charset="0"/>
              </a:rPr>
              <a:t>JButton</a:t>
            </a:r>
            <a:r>
              <a:rPr lang="en-US" sz="2000" b="1" dirty="0" smtClean="0">
                <a:latin typeface="Courier New" pitchFamily="49" charset="0"/>
                <a:cs typeface="Courier New" pitchFamily="49" charset="0"/>
              </a:rPr>
              <a:t>("2")); </a:t>
            </a:r>
          </a:p>
          <a:p>
            <a:pPr fontAlgn="ctr"/>
            <a:endParaRPr lang="en-US" sz="700" b="1" dirty="0" smtClean="0"/>
          </a:p>
          <a:p>
            <a:pPr fontAlgn="ctr"/>
            <a:r>
              <a:rPr lang="en-US" sz="2400" b="1" dirty="0" smtClean="0"/>
              <a:t>Nested Layouts:</a:t>
            </a:r>
            <a:endParaRPr lang="en-US" sz="2400" dirty="0" smtClean="0"/>
          </a:p>
          <a:p>
            <a:pPr lvl="1"/>
            <a:r>
              <a:rPr lang="en-US" sz="2400" dirty="0" smtClean="0"/>
              <a:t>Combine panels with different layouts to create complex UIs.</a:t>
            </a:r>
          </a:p>
          <a:p>
            <a:endParaRPr lang="en-US" sz="24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Diagram showing the 5 regions of </a:t>
            </a:r>
            <a:r>
              <a:rPr lang="en-US" b="1" dirty="0" err="1" smtClean="0"/>
              <a:t>BorderLayout</a:t>
            </a:r>
            <a:r>
              <a:rPr lang="en-US" b="1" dirty="0" smtClean="0"/>
              <a:t> and a 2x2 grid.</a:t>
            </a:r>
            <a:endParaRPr lang="en-US" b="1" dirty="0"/>
          </a:p>
        </p:txBody>
      </p:sp>
      <p:pic>
        <p:nvPicPr>
          <p:cNvPr id="2050" name="Picture 2"/>
          <p:cNvPicPr>
            <a:picLocks noGrp="1" noChangeAspect="1" noChangeArrowheads="1"/>
          </p:cNvPicPr>
          <p:nvPr>
            <p:ph idx="1"/>
          </p:nvPr>
        </p:nvPicPr>
        <p:blipFill>
          <a:blip r:embed="rId2"/>
          <a:srcRect/>
          <a:stretch>
            <a:fillRect/>
          </a:stretch>
        </p:blipFill>
        <p:spPr bwMode="auto">
          <a:xfrm>
            <a:off x="670560" y="1733391"/>
            <a:ext cx="7802880" cy="425958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42852"/>
            <a:ext cx="8229600" cy="796908"/>
          </a:xfrm>
        </p:spPr>
        <p:txBody>
          <a:bodyPr>
            <a:normAutofit/>
          </a:bodyPr>
          <a:lstStyle/>
          <a:p>
            <a:r>
              <a:rPr lang="en-US" b="1" dirty="0" smtClean="0"/>
              <a:t>The Delegation Event Model</a:t>
            </a:r>
            <a:endParaRPr lang="en-US" dirty="0"/>
          </a:p>
        </p:txBody>
      </p:sp>
      <p:sp>
        <p:nvSpPr>
          <p:cNvPr id="3" name="Content Placeholder 2"/>
          <p:cNvSpPr>
            <a:spLocks noGrp="1"/>
          </p:cNvSpPr>
          <p:nvPr>
            <p:ph idx="1"/>
          </p:nvPr>
        </p:nvSpPr>
        <p:spPr>
          <a:xfrm>
            <a:off x="500034" y="1214423"/>
            <a:ext cx="8229600" cy="2786082"/>
          </a:xfrm>
        </p:spPr>
        <p:txBody>
          <a:bodyPr>
            <a:normAutofit/>
          </a:bodyPr>
          <a:lstStyle/>
          <a:p>
            <a:r>
              <a:rPr lang="en-US" sz="2400" b="1" dirty="0" smtClean="0"/>
              <a:t>How Events Work</a:t>
            </a:r>
          </a:p>
          <a:p>
            <a:pPr lvl="1"/>
            <a:r>
              <a:rPr lang="en-US" sz="2400" b="1" dirty="0" smtClean="0"/>
              <a:t>Source:</a:t>
            </a:r>
            <a:r>
              <a:rPr lang="en-US" sz="2400" dirty="0" smtClean="0"/>
              <a:t> The component (e.g., </a:t>
            </a:r>
            <a:r>
              <a:rPr lang="en-US" sz="2400" dirty="0" err="1" smtClean="0"/>
              <a:t>JButton</a:t>
            </a:r>
            <a:r>
              <a:rPr lang="en-US" sz="2400" dirty="0" smtClean="0"/>
              <a:t>).</a:t>
            </a:r>
          </a:p>
          <a:p>
            <a:pPr lvl="1"/>
            <a:r>
              <a:rPr lang="en-US" sz="2400" b="1" dirty="0" smtClean="0"/>
              <a:t>Event:</a:t>
            </a:r>
            <a:r>
              <a:rPr lang="en-US" sz="2400" dirty="0" smtClean="0"/>
              <a:t> An object describing the change (e.g., </a:t>
            </a:r>
            <a:r>
              <a:rPr lang="en-US" sz="2400" dirty="0" err="1" smtClean="0"/>
              <a:t>ActionEvent</a:t>
            </a:r>
            <a:r>
              <a:rPr lang="en-US" sz="2400" dirty="0" smtClean="0"/>
              <a:t>).</a:t>
            </a:r>
          </a:p>
          <a:p>
            <a:pPr lvl="1"/>
            <a:r>
              <a:rPr lang="en-US" sz="2400" b="1" dirty="0" smtClean="0"/>
              <a:t>Listener:</a:t>
            </a:r>
            <a:r>
              <a:rPr lang="en-US" sz="2400" dirty="0" smtClean="0"/>
              <a:t> An interface that waits for the event (e.g., </a:t>
            </a:r>
            <a:r>
              <a:rPr lang="en-US" sz="2400" dirty="0" err="1" smtClean="0"/>
              <a:t>ActionListener</a:t>
            </a:r>
            <a:r>
              <a:rPr lang="en-US" sz="2400" dirty="0" smtClean="0"/>
              <a:t>).</a:t>
            </a:r>
          </a:p>
          <a:p>
            <a:pPr lvl="1"/>
            <a:r>
              <a:rPr lang="en-US" sz="2400" b="1" dirty="0" smtClean="0"/>
              <a:t>Registration:</a:t>
            </a:r>
            <a:r>
              <a:rPr lang="en-US" sz="2400" dirty="0" smtClean="0"/>
              <a:t> </a:t>
            </a:r>
            <a:r>
              <a:rPr lang="en-US" sz="2400" dirty="0" err="1" smtClean="0"/>
              <a:t>component.addListener</a:t>
            </a:r>
            <a:r>
              <a:rPr lang="en-US" sz="2400" dirty="0" smtClean="0"/>
              <a:t>(this)</a:t>
            </a:r>
          </a:p>
          <a:p>
            <a:endParaRPr lang="en-US" sz="2400" dirty="0"/>
          </a:p>
        </p:txBody>
      </p:sp>
      <p:sp>
        <p:nvSpPr>
          <p:cNvPr id="4" name="Content Placeholder 2"/>
          <p:cNvSpPr txBox="1">
            <a:spLocks/>
          </p:cNvSpPr>
          <p:nvPr/>
        </p:nvSpPr>
        <p:spPr>
          <a:xfrm>
            <a:off x="500034" y="4071918"/>
            <a:ext cx="8229600" cy="2428916"/>
          </a:xfrm>
          <a:prstGeom prst="rect">
            <a:avLst/>
          </a:prstGeom>
        </p:spPr>
        <p:txBody>
          <a:bodyPr vert="horz" lIns="91440" tIns="45720" rIns="91440" bIns="45720" rtlCol="0">
            <a:normAutofit fontScale="92500" lnSpcReduction="10000"/>
          </a:bodyPr>
          <a:lstStyle/>
          <a:p>
            <a:pPr marL="457200" indent="-457200">
              <a:spcBef>
                <a:spcPts val="600"/>
              </a:spcBef>
              <a:spcAft>
                <a:spcPts val="600"/>
              </a:spcAft>
            </a:pPr>
            <a:r>
              <a:rPr lang="en-US" sz="2400" b="1" dirty="0" smtClean="0"/>
              <a:t>Flow:</a:t>
            </a:r>
            <a:endParaRPr lang="en-US" sz="2400" dirty="0" smtClean="0"/>
          </a:p>
          <a:p>
            <a:pPr marL="457200" indent="-457200">
              <a:spcBef>
                <a:spcPts val="600"/>
              </a:spcBef>
              <a:spcAft>
                <a:spcPts val="600"/>
              </a:spcAft>
              <a:buFont typeface="Arial" pitchFamily="34" charset="0"/>
              <a:buChar char="•"/>
            </a:pPr>
            <a:r>
              <a:rPr lang="en-US" sz="2400" dirty="0" smtClean="0"/>
              <a:t>User clicks button.</a:t>
            </a:r>
          </a:p>
          <a:p>
            <a:pPr marL="457200" indent="-457200">
              <a:spcBef>
                <a:spcPts val="600"/>
              </a:spcBef>
              <a:spcAft>
                <a:spcPts val="600"/>
              </a:spcAft>
              <a:buFont typeface="Arial" pitchFamily="34" charset="0"/>
              <a:buChar char="•"/>
            </a:pPr>
            <a:r>
              <a:rPr lang="en-US" sz="2400" dirty="0" smtClean="0"/>
              <a:t>Button creates </a:t>
            </a:r>
            <a:r>
              <a:rPr lang="en-US" sz="2400" dirty="0" err="1" smtClean="0"/>
              <a:t>ActionEvent</a:t>
            </a:r>
            <a:r>
              <a:rPr lang="en-US" sz="2400" dirty="0" smtClean="0"/>
              <a:t>.</a:t>
            </a:r>
          </a:p>
          <a:p>
            <a:pPr marL="457200" indent="-457200">
              <a:spcBef>
                <a:spcPts val="600"/>
              </a:spcBef>
              <a:spcAft>
                <a:spcPts val="600"/>
              </a:spcAft>
              <a:buFont typeface="Arial" pitchFamily="34" charset="0"/>
              <a:buChar char="•"/>
            </a:pPr>
            <a:r>
              <a:rPr lang="en-US" sz="2400" dirty="0" smtClean="0"/>
              <a:t>Button notifies registered </a:t>
            </a:r>
            <a:r>
              <a:rPr lang="en-US" sz="2400" dirty="0" err="1" smtClean="0"/>
              <a:t>ActionListener</a:t>
            </a:r>
            <a:r>
              <a:rPr lang="en-US" sz="2400" dirty="0" smtClean="0"/>
              <a:t>.</a:t>
            </a:r>
          </a:p>
          <a:p>
            <a:pPr marL="457200" indent="-457200">
              <a:spcBef>
                <a:spcPts val="600"/>
              </a:spcBef>
              <a:spcAft>
                <a:spcPts val="600"/>
              </a:spcAft>
              <a:buFont typeface="Arial" pitchFamily="34" charset="0"/>
              <a:buChar char="•"/>
            </a:pPr>
            <a:r>
              <a:rPr lang="en-US" sz="2400" dirty="0" err="1" smtClean="0"/>
              <a:t>actionPerformed</a:t>
            </a:r>
            <a:r>
              <a:rPr lang="en-US" sz="2400" dirty="0" smtClean="0"/>
              <a:t> method executes.</a:t>
            </a:r>
          </a:p>
          <a:p>
            <a:pPr marL="742950" marR="0" lvl="1" indent="-285750" algn="l" defTabSz="914400" rtl="0" eaLnBrk="1" fontAlgn="auto" latinLnBrk="0" hangingPunct="1">
              <a:lnSpc>
                <a:spcPct val="100000"/>
              </a:lnSpc>
              <a:spcBef>
                <a:spcPts val="600"/>
              </a:spcBef>
              <a:spcAft>
                <a:spcPts val="600"/>
              </a:spcAft>
              <a:buClrTx/>
              <a:buSzTx/>
              <a:buFont typeface="Arial" pitchFamily="34" charset="0"/>
              <a:buChar char="–"/>
              <a:tabLst/>
              <a:defRPr/>
            </a:pP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ts val="600"/>
              </a:spcBef>
              <a:spcAft>
                <a:spcPts val="600"/>
              </a:spcAft>
              <a:buClrTx/>
              <a:buSzTx/>
              <a:buFont typeface="Arial" pitchFamily="34" charset="0"/>
              <a:buChar char="•"/>
              <a:tabLst/>
              <a:defRPr/>
            </a:pP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Implementing Listeners</a:t>
            </a:r>
            <a:endParaRPr lang="en-US" dirty="0"/>
          </a:p>
        </p:txBody>
      </p:sp>
      <p:sp>
        <p:nvSpPr>
          <p:cNvPr id="3" name="Content Placeholder 2"/>
          <p:cNvSpPr>
            <a:spLocks noGrp="1"/>
          </p:cNvSpPr>
          <p:nvPr>
            <p:ph idx="1"/>
          </p:nvPr>
        </p:nvSpPr>
        <p:spPr>
          <a:xfrm>
            <a:off x="457200" y="1600201"/>
            <a:ext cx="8229600" cy="2400303"/>
          </a:xfrm>
        </p:spPr>
        <p:txBody>
          <a:bodyPr>
            <a:normAutofit/>
          </a:bodyPr>
          <a:lstStyle/>
          <a:p>
            <a:r>
              <a:rPr lang="en-US" sz="2800" dirty="0" smtClean="0"/>
              <a:t>Handling Button Clicks</a:t>
            </a:r>
          </a:p>
          <a:p>
            <a:pPr lvl="1"/>
            <a:r>
              <a:rPr lang="en-US" sz="2400" b="1" dirty="0" smtClean="0"/>
              <a:t>Option 1:</a:t>
            </a:r>
            <a:r>
              <a:rPr lang="en-US" sz="2400" dirty="0" smtClean="0"/>
              <a:t> Class implements </a:t>
            </a:r>
            <a:r>
              <a:rPr lang="en-US" sz="2400" dirty="0" err="1" smtClean="0"/>
              <a:t>ActionListener</a:t>
            </a:r>
            <a:r>
              <a:rPr lang="en-US" sz="2400" dirty="0" smtClean="0"/>
              <a:t>.</a:t>
            </a:r>
          </a:p>
          <a:p>
            <a:pPr lvl="1"/>
            <a:r>
              <a:rPr lang="en-US" sz="2400" b="1" dirty="0" smtClean="0"/>
              <a:t>Option 2:</a:t>
            </a:r>
            <a:r>
              <a:rPr lang="en-US" sz="2400" dirty="0" smtClean="0"/>
              <a:t> Anonymous Inner Class (Common for simple UIs).</a:t>
            </a:r>
          </a:p>
          <a:p>
            <a:pPr lvl="1"/>
            <a:r>
              <a:rPr lang="en-US" sz="2400" b="1" dirty="0" smtClean="0"/>
              <a:t>Option 3:</a:t>
            </a:r>
            <a:r>
              <a:rPr lang="en-US" sz="2400" dirty="0" smtClean="0"/>
              <a:t> Lambda Expression (Java 8+).</a:t>
            </a:r>
          </a:p>
          <a:p>
            <a:endParaRPr lang="en-US" sz="2800" dirty="0"/>
          </a:p>
        </p:txBody>
      </p:sp>
      <p:sp>
        <p:nvSpPr>
          <p:cNvPr id="4" name="Content Placeholder 2"/>
          <p:cNvSpPr txBox="1">
            <a:spLocks/>
          </p:cNvSpPr>
          <p:nvPr/>
        </p:nvSpPr>
        <p:spPr>
          <a:xfrm>
            <a:off x="1071538" y="4214818"/>
            <a:ext cx="7286676" cy="2286016"/>
          </a:xfrm>
          <a:prstGeom prst="rect">
            <a:avLst/>
          </a:prstGeom>
          <a:ln>
            <a:solidFill>
              <a:schemeClr val="accent1"/>
            </a:solidFill>
          </a:ln>
          <a:effectLst/>
          <a:scene3d>
            <a:camera prst="orthographicFront">
              <a:rot lat="0" lon="0" rev="0"/>
            </a:camera>
            <a:lightRig rig="contrasting" dir="t">
              <a:rot lat="0" lon="0" rev="7800000"/>
            </a:lightRig>
          </a:scene3d>
          <a:sp3d>
            <a:bevelT w="139700" h="139700"/>
          </a:sp3d>
        </p:spPr>
        <p:txBody>
          <a:bodyPr vert="horz" lIns="91440" tIns="45720" rIns="91440" bIns="45720" rtlCol="0">
            <a:normAutofit/>
          </a:bodyPr>
          <a:lstStyle/>
          <a:p>
            <a:pPr marL="342900" lvl="0" indent="-342900">
              <a:spcBef>
                <a:spcPct val="20000"/>
              </a:spcBef>
            </a:pPr>
            <a:r>
              <a:rPr lang="en-US" sz="2200" b="1" dirty="0" smtClean="0">
                <a:solidFill>
                  <a:schemeClr val="bg1">
                    <a:lumMod val="65000"/>
                  </a:schemeClr>
                </a:solidFill>
                <a:latin typeface="Courier New" pitchFamily="49" charset="0"/>
                <a:cs typeface="Courier New" pitchFamily="49" charset="0"/>
              </a:rPr>
              <a:t>// Lambda Approach</a:t>
            </a:r>
          </a:p>
          <a:p>
            <a:pPr marL="342900" lvl="0" indent="-342900">
              <a:spcBef>
                <a:spcPct val="20000"/>
              </a:spcBef>
            </a:pPr>
            <a:r>
              <a:rPr lang="en-US" sz="2200" b="1" dirty="0" err="1" smtClean="0">
                <a:latin typeface="Courier New" pitchFamily="49" charset="0"/>
                <a:cs typeface="Courier New" pitchFamily="49" charset="0"/>
              </a:rPr>
              <a:t>button.</a:t>
            </a:r>
            <a:r>
              <a:rPr lang="en-US" sz="2200" b="1" dirty="0" err="1" smtClean="0">
                <a:solidFill>
                  <a:srgbClr val="5832F8"/>
                </a:solidFill>
                <a:latin typeface="Courier New" pitchFamily="49" charset="0"/>
                <a:cs typeface="Courier New" pitchFamily="49" charset="0"/>
              </a:rPr>
              <a:t>addActionListener</a:t>
            </a:r>
            <a:r>
              <a:rPr lang="en-US" sz="2200" b="1" dirty="0" smtClean="0">
                <a:latin typeface="Courier New" pitchFamily="49" charset="0"/>
                <a:cs typeface="Courier New" pitchFamily="49" charset="0"/>
              </a:rPr>
              <a:t>(e -&gt; {</a:t>
            </a:r>
          </a:p>
          <a:p>
            <a:pPr marL="342900" lvl="0" indent="-342900">
              <a:spcBef>
                <a:spcPct val="20000"/>
              </a:spcBef>
            </a:pPr>
            <a:r>
              <a:rPr lang="en-US" sz="2200" b="1" dirty="0" smtClean="0">
                <a:latin typeface="Courier New" pitchFamily="49" charset="0"/>
                <a:cs typeface="Courier New" pitchFamily="49" charset="0"/>
              </a:rPr>
              <a:t>    String text = </a:t>
            </a:r>
            <a:r>
              <a:rPr lang="en-US" sz="2200" b="1" dirty="0" err="1" smtClean="0">
                <a:latin typeface="Courier New" pitchFamily="49" charset="0"/>
                <a:cs typeface="Courier New" pitchFamily="49" charset="0"/>
              </a:rPr>
              <a:t>textField.</a:t>
            </a:r>
            <a:r>
              <a:rPr lang="en-US" sz="2200" b="1" dirty="0" err="1" smtClean="0">
                <a:solidFill>
                  <a:srgbClr val="5832F8"/>
                </a:solidFill>
                <a:latin typeface="Courier New" pitchFamily="49" charset="0"/>
                <a:cs typeface="Courier New" pitchFamily="49" charset="0"/>
              </a:rPr>
              <a:t>getText</a:t>
            </a:r>
            <a:r>
              <a:rPr lang="en-US" sz="2200" b="1" dirty="0" smtClean="0">
                <a:latin typeface="Courier New" pitchFamily="49" charset="0"/>
                <a:cs typeface="Courier New" pitchFamily="49" charset="0"/>
              </a:rPr>
              <a:t>();</a:t>
            </a:r>
          </a:p>
          <a:p>
            <a:pPr marL="342900" lvl="0" indent="-342900">
              <a:spcBef>
                <a:spcPct val="20000"/>
              </a:spcBef>
            </a:pPr>
            <a:r>
              <a:rPr lang="en-US" sz="2200" b="1" dirty="0" smtClean="0">
                <a:latin typeface="Courier New" pitchFamily="49" charset="0"/>
                <a:cs typeface="Courier New" pitchFamily="49" charset="0"/>
              </a:rPr>
              <a:t>    </a:t>
            </a:r>
            <a:r>
              <a:rPr lang="en-US" sz="2200" b="1" dirty="0" err="1" smtClean="0">
                <a:latin typeface="Courier New" pitchFamily="49" charset="0"/>
                <a:cs typeface="Courier New" pitchFamily="49" charset="0"/>
              </a:rPr>
              <a:t>label.</a:t>
            </a:r>
            <a:r>
              <a:rPr lang="en-US" sz="2200" b="1" dirty="0" err="1" smtClean="0">
                <a:solidFill>
                  <a:srgbClr val="5832F8"/>
                </a:solidFill>
                <a:latin typeface="Courier New" pitchFamily="49" charset="0"/>
                <a:cs typeface="Courier New" pitchFamily="49" charset="0"/>
              </a:rPr>
              <a:t>setText</a:t>
            </a:r>
            <a:r>
              <a:rPr lang="en-US" sz="2200" b="1" dirty="0" smtClean="0">
                <a:latin typeface="Courier New" pitchFamily="49" charset="0"/>
                <a:cs typeface="Courier New" pitchFamily="49" charset="0"/>
              </a:rPr>
              <a:t>("Hello " + text);</a:t>
            </a:r>
          </a:p>
          <a:p>
            <a:pPr marL="342900" lvl="0" indent="-342900">
              <a:spcBef>
                <a:spcPct val="20000"/>
              </a:spcBef>
            </a:pPr>
            <a:r>
              <a:rPr lang="en-US" sz="2200" b="1" dirty="0" smtClean="0">
                <a:latin typeface="Courier New" pitchFamily="49" charset="0"/>
                <a:cs typeface="Courier New" pitchFamily="49" charset="0"/>
              </a:rPr>
              <a:t>});</a:t>
            </a:r>
            <a:endParaRPr kumimoji="0" lang="en-US" sz="2200" b="1" i="0" u="none" strike="noStrike" kern="1200" cap="none" spc="0" normalizeH="0" baseline="0" noProof="0" dirty="0">
              <a:ln>
                <a:noFill/>
              </a:ln>
              <a:solidFill>
                <a:schemeClr val="tx1"/>
              </a:solidFill>
              <a:effectLst/>
              <a:uLnTx/>
              <a:uFillTx/>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8229600" cy="928694"/>
          </a:xfrm>
        </p:spPr>
        <p:txBody>
          <a:bodyPr>
            <a:normAutofit/>
          </a:bodyPr>
          <a:lstStyle/>
          <a:p>
            <a:r>
              <a:rPr lang="en-US" b="1" dirty="0" smtClean="0"/>
              <a:t>Menus &amp; Standard Dialogs</a:t>
            </a:r>
            <a:endParaRPr lang="en-US" b="1" dirty="0"/>
          </a:p>
        </p:txBody>
      </p:sp>
      <p:sp>
        <p:nvSpPr>
          <p:cNvPr id="3" name="Content Placeholder 2"/>
          <p:cNvSpPr>
            <a:spLocks noGrp="1"/>
          </p:cNvSpPr>
          <p:nvPr>
            <p:ph idx="1"/>
          </p:nvPr>
        </p:nvSpPr>
        <p:spPr>
          <a:xfrm>
            <a:off x="500034" y="1643050"/>
            <a:ext cx="8229600" cy="2071702"/>
          </a:xfrm>
        </p:spPr>
        <p:txBody>
          <a:bodyPr>
            <a:normAutofit/>
          </a:bodyPr>
          <a:lstStyle/>
          <a:p>
            <a:r>
              <a:rPr lang="en-US" sz="2800" dirty="0" smtClean="0"/>
              <a:t>Menus: </a:t>
            </a:r>
            <a:r>
              <a:rPr lang="en-US" sz="2800" dirty="0" err="1" smtClean="0"/>
              <a:t>JMenuBar</a:t>
            </a:r>
            <a:r>
              <a:rPr lang="en-US" sz="2800" dirty="0" smtClean="0"/>
              <a:t>, </a:t>
            </a:r>
            <a:r>
              <a:rPr lang="en-US" sz="2800" dirty="0" err="1" smtClean="0"/>
              <a:t>JMenu</a:t>
            </a:r>
            <a:r>
              <a:rPr lang="en-US" sz="2800" dirty="0" smtClean="0"/>
              <a:t>, </a:t>
            </a:r>
            <a:r>
              <a:rPr lang="en-US" sz="2800" dirty="0" err="1" smtClean="0"/>
              <a:t>JMenuItem</a:t>
            </a:r>
            <a:r>
              <a:rPr lang="en-US" sz="2800" dirty="0" smtClean="0"/>
              <a:t>.</a:t>
            </a:r>
          </a:p>
          <a:p>
            <a:pPr lvl="1"/>
            <a:r>
              <a:rPr lang="en-US" sz="2400" dirty="0" smtClean="0"/>
              <a:t>Added to </a:t>
            </a:r>
            <a:r>
              <a:rPr lang="en-US" sz="2400" dirty="0" err="1" smtClean="0"/>
              <a:t>JFrame</a:t>
            </a:r>
            <a:r>
              <a:rPr lang="en-US" sz="2400" dirty="0" smtClean="0"/>
              <a:t> via </a:t>
            </a:r>
            <a:r>
              <a:rPr lang="en-US" sz="2400" dirty="0" err="1" smtClean="0"/>
              <a:t>setJMenuBar</a:t>
            </a:r>
            <a:r>
              <a:rPr lang="en-US" sz="2400" dirty="0" smtClean="0"/>
              <a:t>().</a:t>
            </a:r>
          </a:p>
          <a:p>
            <a:r>
              <a:rPr lang="en-US" sz="2800" dirty="0" smtClean="0"/>
              <a:t>Dialogs: </a:t>
            </a:r>
            <a:r>
              <a:rPr lang="en-US" sz="2800" dirty="0" err="1" smtClean="0"/>
              <a:t>JOptionPane</a:t>
            </a:r>
            <a:r>
              <a:rPr lang="en-US" sz="2800" dirty="0" smtClean="0"/>
              <a:t>.</a:t>
            </a:r>
          </a:p>
          <a:p>
            <a:pPr lvl="1"/>
            <a:r>
              <a:rPr lang="en-US" sz="2400" dirty="0" smtClean="0"/>
              <a:t>Quick </a:t>
            </a:r>
            <a:r>
              <a:rPr lang="en-US" sz="2400" dirty="0" err="1" smtClean="0"/>
              <a:t>popups</a:t>
            </a:r>
            <a:r>
              <a:rPr lang="en-US" sz="2400" dirty="0" smtClean="0"/>
              <a:t> for messages or input.</a:t>
            </a:r>
            <a:endParaRPr lang="en-US" sz="2400" dirty="0"/>
          </a:p>
        </p:txBody>
      </p:sp>
      <p:sp>
        <p:nvSpPr>
          <p:cNvPr id="4" name="Rectangle 3"/>
          <p:cNvSpPr/>
          <p:nvPr/>
        </p:nvSpPr>
        <p:spPr>
          <a:xfrm>
            <a:off x="428596" y="4429132"/>
            <a:ext cx="8429684" cy="1231106"/>
          </a:xfrm>
          <a:prstGeom prst="rect">
            <a:avLst/>
          </a:prstGeom>
          <a:ln>
            <a:solidFill>
              <a:schemeClr val="accent1"/>
            </a:solidFill>
          </a:ln>
        </p:spPr>
        <p:txBody>
          <a:bodyPr wrap="square">
            <a:spAutoFit/>
          </a:bodyPr>
          <a:lstStyle/>
          <a:p>
            <a:pPr>
              <a:spcBef>
                <a:spcPts val="600"/>
              </a:spcBef>
              <a:spcAft>
                <a:spcPts val="600"/>
              </a:spcAft>
            </a:pPr>
            <a:r>
              <a:rPr lang="en-US" b="1" dirty="0" err="1" smtClean="0">
                <a:solidFill>
                  <a:srgbClr val="C00000"/>
                </a:solidFill>
                <a:latin typeface="Courier New" pitchFamily="49" charset="0"/>
                <a:cs typeface="Courier New" pitchFamily="49" charset="0"/>
              </a:rPr>
              <a:t>JOptionPane</a:t>
            </a:r>
            <a:r>
              <a:rPr lang="en-US" b="1" dirty="0" err="1" smtClean="0">
                <a:latin typeface="Courier New" pitchFamily="49" charset="0"/>
                <a:cs typeface="Courier New" pitchFamily="49" charset="0"/>
              </a:rPr>
              <a:t>.</a:t>
            </a:r>
            <a:r>
              <a:rPr lang="en-US" b="1" dirty="0" err="1" smtClean="0">
                <a:solidFill>
                  <a:srgbClr val="5832F8"/>
                </a:solidFill>
                <a:latin typeface="Courier New" pitchFamily="49" charset="0"/>
                <a:cs typeface="Courier New" pitchFamily="49" charset="0"/>
              </a:rPr>
              <a:t>showMessageDialog</a:t>
            </a:r>
            <a:r>
              <a:rPr lang="en-US" b="1" dirty="0" smtClean="0">
                <a:latin typeface="Courier New" pitchFamily="49" charset="0"/>
                <a:cs typeface="Courier New" pitchFamily="49" charset="0"/>
              </a:rPr>
              <a:t>(frame, "Save Successful!");</a:t>
            </a:r>
          </a:p>
          <a:p>
            <a:pPr>
              <a:spcBef>
                <a:spcPts val="600"/>
              </a:spcBef>
              <a:spcAft>
                <a:spcPts val="600"/>
              </a:spcAft>
            </a:pPr>
            <a:r>
              <a:rPr lang="en-US" b="1" dirty="0" smtClean="0">
                <a:latin typeface="Courier New" pitchFamily="49" charset="0"/>
                <a:cs typeface="Courier New" pitchFamily="49" charset="0"/>
              </a:rPr>
              <a:t>String input = </a:t>
            </a:r>
            <a:r>
              <a:rPr lang="en-US" b="1" dirty="0" err="1" smtClean="0">
                <a:solidFill>
                  <a:srgbClr val="C00000"/>
                </a:solidFill>
                <a:latin typeface="Courier New" pitchFamily="49" charset="0"/>
                <a:cs typeface="Courier New" pitchFamily="49" charset="0"/>
              </a:rPr>
              <a:t>JOptionPane</a:t>
            </a:r>
            <a:r>
              <a:rPr lang="en-US" b="1" dirty="0" err="1" smtClean="0">
                <a:latin typeface="Courier New" pitchFamily="49" charset="0"/>
                <a:cs typeface="Courier New" pitchFamily="49" charset="0"/>
              </a:rPr>
              <a:t>.</a:t>
            </a:r>
            <a:r>
              <a:rPr lang="en-US" b="1" dirty="0" err="1" smtClean="0">
                <a:solidFill>
                  <a:srgbClr val="5832F8"/>
                </a:solidFill>
                <a:latin typeface="Courier New" pitchFamily="49" charset="0"/>
                <a:cs typeface="Courier New" pitchFamily="49" charset="0"/>
              </a:rPr>
              <a:t>showInputDialog</a:t>
            </a:r>
            <a:r>
              <a:rPr lang="en-US" b="1" dirty="0" smtClean="0">
                <a:latin typeface="Courier New" pitchFamily="49" charset="0"/>
                <a:cs typeface="Courier New" pitchFamily="49" charset="0"/>
              </a:rPr>
              <a:t>("Enter Name:");</a:t>
            </a:r>
          </a:p>
          <a:p>
            <a:pPr>
              <a:spcBef>
                <a:spcPts val="600"/>
              </a:spcBef>
              <a:spcAft>
                <a:spcPts val="600"/>
              </a:spcAft>
            </a:pPr>
            <a:r>
              <a:rPr lang="en-US" b="1" dirty="0" err="1" smtClean="0">
                <a:latin typeface="Courier New" pitchFamily="49" charset="0"/>
                <a:cs typeface="Courier New" pitchFamily="49" charset="0"/>
              </a:rPr>
              <a:t>int</a:t>
            </a:r>
            <a:r>
              <a:rPr lang="en-US" b="1" dirty="0" smtClean="0">
                <a:latin typeface="Courier New" pitchFamily="49" charset="0"/>
                <a:cs typeface="Courier New" pitchFamily="49" charset="0"/>
              </a:rPr>
              <a:t> confirm = </a:t>
            </a:r>
            <a:r>
              <a:rPr lang="en-US" b="1" dirty="0" err="1" smtClean="0">
                <a:solidFill>
                  <a:srgbClr val="C00000"/>
                </a:solidFill>
                <a:latin typeface="Courier New" pitchFamily="49" charset="0"/>
                <a:cs typeface="Courier New" pitchFamily="49" charset="0"/>
              </a:rPr>
              <a:t>JOptionPane</a:t>
            </a:r>
            <a:r>
              <a:rPr lang="en-US" b="1" dirty="0" err="1" smtClean="0">
                <a:latin typeface="Courier New" pitchFamily="49" charset="0"/>
                <a:cs typeface="Courier New" pitchFamily="49" charset="0"/>
              </a:rPr>
              <a:t>.</a:t>
            </a:r>
            <a:r>
              <a:rPr lang="en-US" b="1" dirty="0" err="1" smtClean="0">
                <a:solidFill>
                  <a:srgbClr val="5832F8"/>
                </a:solidFill>
                <a:latin typeface="Courier New" pitchFamily="49" charset="0"/>
                <a:cs typeface="Courier New" pitchFamily="49" charset="0"/>
              </a:rPr>
              <a:t>showConfirmDialog</a:t>
            </a:r>
            <a:r>
              <a:rPr lang="en-US" b="1" dirty="0" smtClean="0">
                <a:latin typeface="Courier New" pitchFamily="49" charset="0"/>
                <a:cs typeface="Courier New" pitchFamily="49" charset="0"/>
              </a:rPr>
              <a:t>(frame, "Exit?");</a:t>
            </a:r>
            <a:endParaRPr lang="en-US" b="1" dirty="0">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14"/>
            <a:ext cx="8229600" cy="1143000"/>
          </a:xfrm>
        </p:spPr>
        <p:txBody>
          <a:bodyPr>
            <a:normAutofit/>
          </a:bodyPr>
          <a:lstStyle/>
          <a:p>
            <a:r>
              <a:rPr lang="en-US" b="1" dirty="0" smtClean="0"/>
              <a:t>Project Structure</a:t>
            </a:r>
            <a:endParaRPr lang="en-US" dirty="0"/>
          </a:p>
        </p:txBody>
      </p:sp>
      <p:sp>
        <p:nvSpPr>
          <p:cNvPr id="3" name="Content Placeholder 2"/>
          <p:cNvSpPr>
            <a:spLocks noGrp="1"/>
          </p:cNvSpPr>
          <p:nvPr>
            <p:ph idx="1"/>
          </p:nvPr>
        </p:nvSpPr>
        <p:spPr>
          <a:xfrm>
            <a:off x="457200" y="1285860"/>
            <a:ext cx="8229600" cy="1543047"/>
          </a:xfrm>
        </p:spPr>
        <p:txBody>
          <a:bodyPr/>
          <a:lstStyle/>
          <a:p>
            <a:pPr>
              <a:buNone/>
            </a:pPr>
            <a:r>
              <a:rPr lang="en-US" sz="2800" b="1" dirty="0" smtClean="0"/>
              <a:t>Organizing a GUI Project</a:t>
            </a:r>
          </a:p>
          <a:p>
            <a:r>
              <a:rPr lang="en-US" sz="2400" dirty="0" smtClean="0"/>
              <a:t>Don't put all classes in the default package.</a:t>
            </a:r>
          </a:p>
          <a:p>
            <a:r>
              <a:rPr lang="en-US" sz="2400" b="1" dirty="0" smtClean="0"/>
              <a:t>Recommended Structure</a:t>
            </a:r>
            <a:endParaRPr lang="en-US" sz="2400" dirty="0" smtClean="0"/>
          </a:p>
          <a:p>
            <a:endParaRPr lang="en-US" dirty="0"/>
          </a:p>
        </p:txBody>
      </p:sp>
      <p:sp>
        <p:nvSpPr>
          <p:cNvPr id="4" name="Rectangle 3"/>
          <p:cNvSpPr/>
          <p:nvPr/>
        </p:nvSpPr>
        <p:spPr>
          <a:xfrm>
            <a:off x="928662" y="2786058"/>
            <a:ext cx="7858180" cy="2246769"/>
          </a:xfrm>
          <a:prstGeom prst="rect">
            <a:avLst/>
          </a:prstGeom>
        </p:spPr>
        <p:txBody>
          <a:bodyPr wrap="square">
            <a:spAutoFit/>
          </a:bodyPr>
          <a:lstStyle/>
          <a:p>
            <a:r>
              <a:rPr lang="en-US" sz="2000" b="1" dirty="0" err="1" smtClean="0">
                <a:latin typeface="Courier New" pitchFamily="49" charset="0"/>
                <a:cs typeface="Courier New" pitchFamily="49" charset="0"/>
              </a:rPr>
              <a:t>src</a:t>
            </a:r>
            <a:r>
              <a:rPr lang="en-US" sz="2000" b="1" dirty="0" smtClean="0">
                <a:latin typeface="Courier New" pitchFamily="49" charset="0"/>
                <a:cs typeface="Courier New" pitchFamily="49" charset="0"/>
              </a:rPr>
              <a:t>/</a:t>
            </a:r>
          </a:p>
          <a:p>
            <a:r>
              <a:rPr lang="en-US" sz="2000" b="1" dirty="0" smtClean="0">
                <a:latin typeface="Courier New" pitchFamily="49" charset="0"/>
                <a:cs typeface="Courier New" pitchFamily="49" charset="0"/>
              </a:rPr>
              <a:t>└── com/</a:t>
            </a:r>
          </a:p>
          <a:p>
            <a:r>
              <a:rPr lang="en-US" sz="2000" b="1" dirty="0" smtClean="0">
                <a:latin typeface="Courier New" pitchFamily="49" charset="0"/>
                <a:cs typeface="Courier New" pitchFamily="49" charset="0"/>
              </a:rPr>
              <a:t>    └── </a:t>
            </a:r>
            <a:r>
              <a:rPr lang="en-US" sz="2000" b="1" dirty="0" err="1" smtClean="0">
                <a:latin typeface="Courier New" pitchFamily="49" charset="0"/>
                <a:cs typeface="Courier New" pitchFamily="49" charset="0"/>
              </a:rPr>
              <a:t>myapp</a:t>
            </a:r>
            <a:r>
              <a:rPr lang="en-US" sz="2000" b="1" dirty="0" smtClean="0">
                <a:latin typeface="Courier New" pitchFamily="49" charset="0"/>
                <a:cs typeface="Courier New" pitchFamily="49" charset="0"/>
              </a:rPr>
              <a:t>/</a:t>
            </a:r>
          </a:p>
          <a:p>
            <a:r>
              <a:rPr lang="en-US" sz="2000" b="1" dirty="0" smtClean="0">
                <a:latin typeface="Courier New" pitchFamily="49" charset="0"/>
                <a:cs typeface="Courier New" pitchFamily="49" charset="0"/>
              </a:rPr>
              <a:t>        ├── Main.java    (Entry point)</a:t>
            </a:r>
          </a:p>
          <a:p>
            <a:r>
              <a:rPr lang="en-US" sz="2000" b="1" dirty="0" smtClean="0">
                <a:latin typeface="Courier New" pitchFamily="49" charset="0"/>
                <a:cs typeface="Courier New" pitchFamily="49" charset="0"/>
              </a:rPr>
              <a:t>        ├── view/        (</a:t>
            </a:r>
            <a:r>
              <a:rPr lang="en-US" sz="2000" b="1" dirty="0" err="1" smtClean="0">
                <a:latin typeface="Courier New" pitchFamily="49" charset="0"/>
                <a:cs typeface="Courier New" pitchFamily="49" charset="0"/>
              </a:rPr>
              <a:t>JFrames</a:t>
            </a:r>
            <a:r>
              <a:rPr lang="en-US" sz="2000" b="1" dirty="0" smtClean="0">
                <a:latin typeface="Courier New" pitchFamily="49" charset="0"/>
                <a:cs typeface="Courier New" pitchFamily="49" charset="0"/>
              </a:rPr>
              <a:t>, </a:t>
            </a:r>
            <a:r>
              <a:rPr lang="en-US" sz="2000" b="1" dirty="0" err="1" smtClean="0">
                <a:latin typeface="Courier New" pitchFamily="49" charset="0"/>
                <a:cs typeface="Courier New" pitchFamily="49" charset="0"/>
              </a:rPr>
              <a:t>JPanels</a:t>
            </a:r>
            <a:r>
              <a:rPr lang="en-US" sz="2000" b="1" dirty="0" smtClean="0">
                <a:latin typeface="Courier New" pitchFamily="49" charset="0"/>
                <a:cs typeface="Courier New" pitchFamily="49" charset="0"/>
              </a:rPr>
              <a:t>)</a:t>
            </a:r>
          </a:p>
          <a:p>
            <a:r>
              <a:rPr lang="en-US" sz="2000" b="1" dirty="0" smtClean="0">
                <a:latin typeface="Courier New" pitchFamily="49" charset="0"/>
                <a:cs typeface="Courier New" pitchFamily="49" charset="0"/>
              </a:rPr>
              <a:t>        ├── controller/  (</a:t>
            </a:r>
            <a:r>
              <a:rPr lang="en-US" sz="2000" b="1" dirty="0" err="1" smtClean="0">
                <a:latin typeface="Courier New" pitchFamily="49" charset="0"/>
                <a:cs typeface="Courier New" pitchFamily="49" charset="0"/>
              </a:rPr>
              <a:t>ActionListeners</a:t>
            </a:r>
            <a:r>
              <a:rPr lang="en-US" sz="2000" b="1" dirty="0" smtClean="0">
                <a:latin typeface="Courier New" pitchFamily="49" charset="0"/>
                <a:cs typeface="Courier New" pitchFamily="49" charset="0"/>
              </a:rPr>
              <a:t>, Logic)</a:t>
            </a:r>
          </a:p>
          <a:p>
            <a:r>
              <a:rPr lang="en-US" sz="2000" b="1" dirty="0" smtClean="0">
                <a:latin typeface="Courier New" pitchFamily="49" charset="0"/>
                <a:cs typeface="Courier New" pitchFamily="49" charset="0"/>
              </a:rPr>
              <a:t>        └── model/       (Data classes)</a:t>
            </a:r>
            <a:endParaRPr lang="en-US" sz="2000" b="1" dirty="0">
              <a:latin typeface="Courier New" pitchFamily="49" charset="0"/>
              <a:cs typeface="Courier New" pitchFamily="49" charset="0"/>
            </a:endParaRPr>
          </a:p>
        </p:txBody>
      </p:sp>
      <p:sp>
        <p:nvSpPr>
          <p:cNvPr id="5" name="Content Placeholder 2"/>
          <p:cNvSpPr txBox="1">
            <a:spLocks/>
          </p:cNvSpPr>
          <p:nvPr/>
        </p:nvSpPr>
        <p:spPr>
          <a:xfrm>
            <a:off x="428596" y="5143512"/>
            <a:ext cx="8229600" cy="1471609"/>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pPr>
            <a:r>
              <a:rPr lang="en-US" sz="2400" b="1" dirty="0" smtClean="0"/>
              <a:t>Benefits</a:t>
            </a:r>
          </a:p>
          <a:p>
            <a:pPr marL="800100" lvl="1" indent="-342900">
              <a:spcBef>
                <a:spcPct val="20000"/>
              </a:spcBef>
              <a:buFont typeface="Wingdings" pitchFamily="2" charset="2"/>
              <a:buChar char="ü"/>
            </a:pPr>
            <a:r>
              <a:rPr lang="en-US" sz="2400" dirty="0" smtClean="0"/>
              <a:t>Separates UI from Logic (MVC Pattern).</a:t>
            </a:r>
          </a:p>
          <a:p>
            <a:pPr marL="800100" lvl="1" indent="-342900">
              <a:spcBef>
                <a:spcPct val="20000"/>
              </a:spcBef>
              <a:buFont typeface="Wingdings" pitchFamily="2" charset="2"/>
              <a:buChar char="ü"/>
            </a:pPr>
            <a:r>
              <a:rPr lang="en-US" sz="2400" dirty="0" smtClean="0"/>
              <a:t>Easier to scale as the app grows.</a:t>
            </a:r>
          </a:p>
          <a:p>
            <a:pPr marL="800100" lvl="1" indent="-342900">
              <a:spcBef>
                <a:spcPct val="20000"/>
              </a:spcBef>
              <a:buFont typeface="Arial" pitchFamily="34" charset="0"/>
              <a:buChar char="•"/>
            </a:pPr>
            <a:endParaRPr kumimoji="0" lang="en-US" sz="2400" b="0" i="0" u="none" strike="noStrike" kern="1200" cap="none" spc="0" normalizeH="0" baseline="0" noProof="0" dirty="0" smtClean="0">
              <a:ln>
                <a:noFill/>
              </a:ln>
              <a:solidFill>
                <a:schemeClr val="tx1"/>
              </a:solidFill>
              <a:effectLst/>
              <a:uLnTx/>
              <a:uFillTx/>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dirty="0">
              <a:ln>
                <a:noFill/>
              </a:ln>
              <a:solidFill>
                <a:schemeClr val="tx1"/>
              </a:solidFill>
              <a:effectLst/>
              <a:uLnTx/>
              <a:uFillTx/>
              <a:ea typeface="+mn-ea"/>
              <a:cs typeface="+mn-cs"/>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8229600" cy="1000132"/>
          </a:xfrm>
        </p:spPr>
        <p:txBody>
          <a:bodyPr>
            <a:normAutofit/>
          </a:bodyPr>
          <a:lstStyle/>
          <a:p>
            <a:r>
              <a:rPr lang="en-US" b="1" dirty="0" smtClean="0"/>
              <a:t>Common Mistakes</a:t>
            </a:r>
            <a:endParaRPr lang="en-US" dirty="0"/>
          </a:p>
        </p:txBody>
      </p:sp>
      <p:sp>
        <p:nvSpPr>
          <p:cNvPr id="3" name="Content Placeholder 2"/>
          <p:cNvSpPr>
            <a:spLocks noGrp="1"/>
          </p:cNvSpPr>
          <p:nvPr>
            <p:ph idx="1"/>
          </p:nvPr>
        </p:nvSpPr>
        <p:spPr>
          <a:xfrm>
            <a:off x="457200" y="1285860"/>
            <a:ext cx="8229600" cy="5214974"/>
          </a:xfrm>
        </p:spPr>
        <p:txBody>
          <a:bodyPr>
            <a:normAutofit fontScale="77500" lnSpcReduction="20000"/>
          </a:bodyPr>
          <a:lstStyle/>
          <a:p>
            <a:pPr>
              <a:spcAft>
                <a:spcPts val="600"/>
              </a:spcAft>
              <a:buNone/>
            </a:pPr>
            <a:r>
              <a:rPr lang="en-US" b="1" dirty="0" smtClean="0"/>
              <a:t>Package Pitfalls to Avoid</a:t>
            </a:r>
          </a:p>
          <a:p>
            <a:pPr>
              <a:spcAft>
                <a:spcPts val="600"/>
              </a:spcAft>
            </a:pPr>
            <a:r>
              <a:rPr lang="en-US" b="1" dirty="0" smtClean="0"/>
              <a:t>❌ The Default Package:</a:t>
            </a:r>
            <a:endParaRPr lang="en-US" dirty="0" smtClean="0"/>
          </a:p>
          <a:p>
            <a:pPr lvl="1">
              <a:spcAft>
                <a:spcPts val="600"/>
              </a:spcAft>
            </a:pPr>
            <a:r>
              <a:rPr lang="en-US" dirty="0" smtClean="0"/>
              <a:t>Never leave out the package declaration in serious projects.</a:t>
            </a:r>
          </a:p>
          <a:p>
            <a:pPr lvl="1">
              <a:spcAft>
                <a:spcPts val="600"/>
              </a:spcAft>
            </a:pPr>
            <a:r>
              <a:rPr lang="en-US" dirty="0" smtClean="0"/>
              <a:t>Classes in the default package cannot be imported by classes in other packages.</a:t>
            </a:r>
          </a:p>
          <a:p>
            <a:pPr>
              <a:spcAft>
                <a:spcPts val="600"/>
              </a:spcAft>
            </a:pPr>
            <a:r>
              <a:rPr lang="en-US" b="1" dirty="0" smtClean="0"/>
              <a:t>❌ Naming Conflicts:</a:t>
            </a:r>
            <a:endParaRPr lang="en-US" dirty="0" smtClean="0"/>
          </a:p>
          <a:p>
            <a:pPr lvl="1">
              <a:spcAft>
                <a:spcPts val="600"/>
              </a:spcAft>
            </a:pPr>
            <a:r>
              <a:rPr lang="en-US" dirty="0" smtClean="0"/>
              <a:t>Do not name your class String, System, or Frame.</a:t>
            </a:r>
          </a:p>
          <a:p>
            <a:pPr>
              <a:spcAft>
                <a:spcPts val="600"/>
              </a:spcAft>
            </a:pPr>
            <a:r>
              <a:rPr lang="en-US" b="1" dirty="0" smtClean="0"/>
              <a:t>❌ Circular Dependencies:</a:t>
            </a:r>
            <a:endParaRPr lang="en-US" dirty="0" smtClean="0"/>
          </a:p>
          <a:p>
            <a:pPr lvl="1">
              <a:spcAft>
                <a:spcPts val="600"/>
              </a:spcAft>
            </a:pPr>
            <a:r>
              <a:rPr lang="en-US" dirty="0" smtClean="0"/>
              <a:t>Package A imports Package B, and Package B imports Package A.</a:t>
            </a:r>
          </a:p>
          <a:p>
            <a:pPr>
              <a:spcAft>
                <a:spcPts val="600"/>
              </a:spcAft>
            </a:pPr>
            <a:r>
              <a:rPr lang="en-US" b="1" dirty="0" smtClean="0"/>
              <a:t>✅ Best Practice:</a:t>
            </a:r>
            <a:endParaRPr lang="en-US" dirty="0" smtClean="0"/>
          </a:p>
          <a:p>
            <a:pPr lvl="1">
              <a:spcAft>
                <a:spcPts val="600"/>
              </a:spcAft>
            </a:pPr>
            <a:r>
              <a:rPr lang="en-US" dirty="0" smtClean="0"/>
              <a:t>Use lowercase for package names (e.g., </a:t>
            </a:r>
            <a:r>
              <a:rPr lang="en-US" dirty="0" err="1" smtClean="0"/>
              <a:t>com.example.app</a:t>
            </a:r>
            <a:r>
              <a:rPr lang="en-US" dirty="0" smtClean="0"/>
              <a:t>).</a:t>
            </a:r>
          </a:p>
          <a:p>
            <a:pPr lvl="1">
              <a:spcAft>
                <a:spcPts val="600"/>
              </a:spcAft>
            </a:pPr>
            <a:r>
              <a:rPr lang="en-US" dirty="0" smtClean="0"/>
              <a:t>Use </a:t>
            </a:r>
            <a:r>
              <a:rPr lang="en-US" dirty="0" err="1" smtClean="0"/>
              <a:t>CamelCase</a:t>
            </a:r>
            <a:r>
              <a:rPr lang="en-US" dirty="0" smtClean="0"/>
              <a:t> for class names.</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42852"/>
            <a:ext cx="8229600" cy="1000132"/>
          </a:xfrm>
        </p:spPr>
        <p:txBody>
          <a:bodyPr>
            <a:normAutofit/>
          </a:bodyPr>
          <a:lstStyle/>
          <a:p>
            <a:r>
              <a:rPr lang="en-US" b="1" dirty="0" smtClean="0"/>
              <a:t>The Event Dispatch Thread (EDT)</a:t>
            </a:r>
            <a:endParaRPr lang="en-US" b="1" dirty="0"/>
          </a:p>
        </p:txBody>
      </p:sp>
      <p:sp>
        <p:nvSpPr>
          <p:cNvPr id="3" name="Content Placeholder 2"/>
          <p:cNvSpPr>
            <a:spLocks noGrp="1"/>
          </p:cNvSpPr>
          <p:nvPr>
            <p:ph idx="1"/>
          </p:nvPr>
        </p:nvSpPr>
        <p:spPr>
          <a:xfrm>
            <a:off x="500034" y="1285861"/>
            <a:ext cx="8229600" cy="3786214"/>
          </a:xfrm>
        </p:spPr>
        <p:txBody>
          <a:bodyPr>
            <a:normAutofit lnSpcReduction="10000"/>
          </a:bodyPr>
          <a:lstStyle/>
          <a:p>
            <a:pPr>
              <a:spcBef>
                <a:spcPts val="600"/>
              </a:spcBef>
              <a:spcAft>
                <a:spcPts val="600"/>
              </a:spcAft>
            </a:pPr>
            <a:r>
              <a:rPr lang="en-US" sz="2400" dirty="0" smtClean="0"/>
              <a:t>Thread Safety in Swing</a:t>
            </a:r>
          </a:p>
          <a:p>
            <a:pPr lvl="1">
              <a:spcBef>
                <a:spcPts val="600"/>
              </a:spcBef>
              <a:spcAft>
                <a:spcPts val="600"/>
              </a:spcAft>
            </a:pPr>
            <a:r>
              <a:rPr lang="en-US" sz="2400" dirty="0" smtClean="0"/>
              <a:t>Swing is NOT thread-safe.</a:t>
            </a:r>
          </a:p>
          <a:p>
            <a:pPr lvl="1">
              <a:spcBef>
                <a:spcPts val="600"/>
              </a:spcBef>
              <a:spcAft>
                <a:spcPts val="600"/>
              </a:spcAft>
            </a:pPr>
            <a:r>
              <a:rPr lang="en-US" sz="2400" dirty="0" smtClean="0"/>
              <a:t>All UI updates must happen on the Event Dispatch Thread.</a:t>
            </a:r>
          </a:p>
          <a:p>
            <a:pPr lvl="1">
              <a:spcBef>
                <a:spcPts val="600"/>
              </a:spcBef>
              <a:spcAft>
                <a:spcPts val="600"/>
              </a:spcAft>
            </a:pPr>
            <a:r>
              <a:rPr lang="en-US" sz="2400" dirty="0" smtClean="0"/>
              <a:t>Problem: Long-running tasks (DB calls, downloads) freeze the UI if done on EDT.</a:t>
            </a:r>
          </a:p>
          <a:p>
            <a:pPr lvl="1">
              <a:spcBef>
                <a:spcPts val="600"/>
              </a:spcBef>
              <a:spcAft>
                <a:spcPts val="600"/>
              </a:spcAft>
            </a:pPr>
            <a:r>
              <a:rPr lang="en-US" sz="2400" dirty="0" smtClean="0"/>
              <a:t>Solution:</a:t>
            </a:r>
          </a:p>
          <a:p>
            <a:pPr lvl="2">
              <a:spcBef>
                <a:spcPts val="600"/>
              </a:spcBef>
              <a:spcAft>
                <a:spcPts val="600"/>
              </a:spcAft>
            </a:pPr>
            <a:r>
              <a:rPr lang="en-US" dirty="0" smtClean="0"/>
              <a:t>Start UI on EDT: </a:t>
            </a:r>
            <a:r>
              <a:rPr lang="en-US" dirty="0" err="1" smtClean="0"/>
              <a:t>SwingUtilities.invokeLater</a:t>
            </a:r>
            <a:r>
              <a:rPr lang="en-US" dirty="0" smtClean="0"/>
              <a:t>(...).</a:t>
            </a:r>
          </a:p>
          <a:p>
            <a:pPr lvl="2">
              <a:spcBef>
                <a:spcPts val="600"/>
              </a:spcBef>
              <a:spcAft>
                <a:spcPts val="600"/>
              </a:spcAft>
            </a:pPr>
            <a:r>
              <a:rPr lang="en-US" dirty="0" smtClean="0"/>
              <a:t>Run heavy tasks in background threads (</a:t>
            </a:r>
            <a:r>
              <a:rPr lang="en-US" dirty="0" err="1" smtClean="0"/>
              <a:t>SwingWorker</a:t>
            </a:r>
            <a:r>
              <a:rPr lang="en-US" dirty="0" smtClean="0"/>
              <a:t>).</a:t>
            </a:r>
            <a:endParaRPr lang="en-US" dirty="0"/>
          </a:p>
        </p:txBody>
      </p:sp>
      <p:sp>
        <p:nvSpPr>
          <p:cNvPr id="4" name="Rectangle 3"/>
          <p:cNvSpPr/>
          <p:nvPr/>
        </p:nvSpPr>
        <p:spPr>
          <a:xfrm>
            <a:off x="1142976" y="5286388"/>
            <a:ext cx="7358114" cy="1015663"/>
          </a:xfrm>
          <a:prstGeom prst="rect">
            <a:avLst/>
          </a:prstGeom>
          <a:ln>
            <a:solidFill>
              <a:schemeClr val="accent1"/>
            </a:solidFill>
          </a:ln>
        </p:spPr>
        <p:txBody>
          <a:bodyPr wrap="square">
            <a:spAutoFit/>
          </a:bodyPr>
          <a:lstStyle/>
          <a:p>
            <a:r>
              <a:rPr lang="en-US" sz="2000" b="1" dirty="0" err="1" smtClean="0">
                <a:latin typeface="Courier New" pitchFamily="49" charset="0"/>
                <a:cs typeface="Courier New" pitchFamily="49" charset="0"/>
              </a:rPr>
              <a:t>SwingUtilities.</a:t>
            </a:r>
            <a:r>
              <a:rPr lang="en-US" sz="2000" b="1" dirty="0" err="1" smtClean="0">
                <a:solidFill>
                  <a:srgbClr val="5832F8"/>
                </a:solidFill>
                <a:latin typeface="Courier New" pitchFamily="49" charset="0"/>
                <a:cs typeface="Courier New" pitchFamily="49" charset="0"/>
              </a:rPr>
              <a:t>invokeLater</a:t>
            </a:r>
            <a:r>
              <a:rPr lang="en-US" sz="2000" b="1" dirty="0" smtClean="0">
                <a:latin typeface="Courier New" pitchFamily="49" charset="0"/>
                <a:cs typeface="Courier New" pitchFamily="49" charset="0"/>
              </a:rPr>
              <a:t>(() -&gt; {</a:t>
            </a:r>
          </a:p>
          <a:p>
            <a:r>
              <a:rPr lang="en-US" sz="2000" b="1" dirty="0" smtClean="0">
                <a:latin typeface="Courier New" pitchFamily="49" charset="0"/>
                <a:cs typeface="Courier New" pitchFamily="49" charset="0"/>
              </a:rPr>
              <a:t>    new </a:t>
            </a:r>
            <a:r>
              <a:rPr lang="en-US" sz="2000" b="1" dirty="0" err="1" smtClean="0">
                <a:solidFill>
                  <a:srgbClr val="5832F8"/>
                </a:solidFill>
                <a:latin typeface="Courier New" pitchFamily="49" charset="0"/>
                <a:cs typeface="Courier New" pitchFamily="49" charset="0"/>
              </a:rPr>
              <a:t>MyApp</a:t>
            </a:r>
            <a:r>
              <a:rPr lang="en-US" sz="2000" b="1" dirty="0" smtClean="0">
                <a:latin typeface="Courier New" pitchFamily="49" charset="0"/>
                <a:cs typeface="Courier New" pitchFamily="49" charset="0"/>
              </a:rPr>
              <a:t>().</a:t>
            </a:r>
            <a:r>
              <a:rPr lang="en-US" sz="2000" b="1" dirty="0" err="1" smtClean="0">
                <a:solidFill>
                  <a:srgbClr val="5832F8"/>
                </a:solidFill>
                <a:latin typeface="Courier New" pitchFamily="49" charset="0"/>
                <a:cs typeface="Courier New" pitchFamily="49" charset="0"/>
              </a:rPr>
              <a:t>createAndShowGUI</a:t>
            </a:r>
            <a:r>
              <a:rPr lang="en-US" sz="2000" b="1" dirty="0" smtClean="0">
                <a:latin typeface="Courier New" pitchFamily="49" charset="0"/>
                <a:cs typeface="Courier New" pitchFamily="49" charset="0"/>
              </a:rPr>
              <a:t>();</a:t>
            </a:r>
          </a:p>
          <a:p>
            <a:r>
              <a:rPr lang="en-US" sz="2000" b="1" dirty="0" smtClean="0">
                <a:latin typeface="Courier New" pitchFamily="49" charset="0"/>
                <a:cs typeface="Courier New" pitchFamily="49" charset="0"/>
              </a:rPr>
              <a:t>});</a:t>
            </a:r>
            <a:endParaRPr lang="en-US" sz="2000" b="1" dirty="0">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8229600" cy="1143000"/>
          </a:xfrm>
        </p:spPr>
        <p:txBody>
          <a:bodyPr>
            <a:normAutofit/>
          </a:bodyPr>
          <a:lstStyle/>
          <a:p>
            <a:r>
              <a:rPr lang="en-US" b="1" dirty="0" smtClean="0"/>
              <a:t>Pluggable Look and Feel</a:t>
            </a:r>
            <a:endParaRPr lang="en-US" b="1" dirty="0"/>
          </a:p>
        </p:txBody>
      </p:sp>
      <p:sp>
        <p:nvSpPr>
          <p:cNvPr id="3" name="Content Placeholder 2"/>
          <p:cNvSpPr>
            <a:spLocks noGrp="1"/>
          </p:cNvSpPr>
          <p:nvPr>
            <p:ph idx="1"/>
          </p:nvPr>
        </p:nvSpPr>
        <p:spPr>
          <a:xfrm>
            <a:off x="457200" y="1600201"/>
            <a:ext cx="8229600" cy="2471742"/>
          </a:xfrm>
        </p:spPr>
        <p:txBody>
          <a:bodyPr>
            <a:normAutofit/>
          </a:bodyPr>
          <a:lstStyle/>
          <a:p>
            <a:pPr>
              <a:spcBef>
                <a:spcPts val="600"/>
              </a:spcBef>
              <a:spcAft>
                <a:spcPts val="600"/>
              </a:spcAft>
            </a:pPr>
            <a:r>
              <a:rPr lang="en-US" sz="2400" dirty="0" smtClean="0"/>
              <a:t>Swing allows changing the UI skin at runtime.</a:t>
            </a:r>
          </a:p>
          <a:p>
            <a:pPr>
              <a:spcBef>
                <a:spcPts val="600"/>
              </a:spcBef>
              <a:spcAft>
                <a:spcPts val="600"/>
              </a:spcAft>
            </a:pPr>
            <a:r>
              <a:rPr lang="en-US" sz="2400" b="1" dirty="0" smtClean="0"/>
              <a:t>System Look:</a:t>
            </a:r>
            <a:r>
              <a:rPr lang="en-US" sz="2400" dirty="0" smtClean="0"/>
              <a:t> Matches the OS.</a:t>
            </a:r>
          </a:p>
          <a:p>
            <a:pPr>
              <a:spcBef>
                <a:spcPts val="600"/>
              </a:spcBef>
              <a:spcAft>
                <a:spcPts val="600"/>
              </a:spcAft>
            </a:pPr>
            <a:r>
              <a:rPr lang="en-US" sz="2400" b="1" dirty="0" smtClean="0"/>
              <a:t>Nimbus:</a:t>
            </a:r>
            <a:r>
              <a:rPr lang="en-US" sz="2400" dirty="0" smtClean="0"/>
              <a:t> Modern Java look (included in JDK).</a:t>
            </a:r>
          </a:p>
          <a:p>
            <a:pPr>
              <a:spcBef>
                <a:spcPts val="600"/>
              </a:spcBef>
              <a:spcAft>
                <a:spcPts val="600"/>
              </a:spcAft>
            </a:pPr>
            <a:r>
              <a:rPr lang="en-US" sz="2400" b="1" dirty="0" err="1" smtClean="0"/>
              <a:t>CrossPlatform</a:t>
            </a:r>
            <a:r>
              <a:rPr lang="en-US" sz="2400" b="1" dirty="0" smtClean="0"/>
              <a:t>:</a:t>
            </a:r>
            <a:r>
              <a:rPr lang="en-US" sz="2400" dirty="0" smtClean="0"/>
              <a:t> Java's default (Metal).</a:t>
            </a:r>
            <a:endParaRPr lang="en-US" sz="2400" dirty="0"/>
          </a:p>
        </p:txBody>
      </p:sp>
      <p:sp>
        <p:nvSpPr>
          <p:cNvPr id="4" name="Rectangle 3"/>
          <p:cNvSpPr/>
          <p:nvPr/>
        </p:nvSpPr>
        <p:spPr>
          <a:xfrm>
            <a:off x="642910" y="4000504"/>
            <a:ext cx="7358114" cy="1200329"/>
          </a:xfrm>
          <a:prstGeom prst="rect">
            <a:avLst/>
          </a:prstGeom>
          <a:ln>
            <a:solidFill>
              <a:schemeClr val="accent1"/>
            </a:solidFill>
          </a:ln>
        </p:spPr>
        <p:txBody>
          <a:bodyPr wrap="square">
            <a:spAutoFit/>
          </a:bodyPr>
          <a:lstStyle/>
          <a:p>
            <a:r>
              <a:rPr lang="en-US" b="1" dirty="0" smtClean="0">
                <a:latin typeface="Courier New" pitchFamily="49" charset="0"/>
                <a:cs typeface="Courier New" pitchFamily="49" charset="0"/>
              </a:rPr>
              <a:t>try {</a:t>
            </a:r>
          </a:p>
          <a:p>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UIManager.</a:t>
            </a:r>
            <a:r>
              <a:rPr lang="en-US" b="1" dirty="0" err="1" smtClean="0">
                <a:solidFill>
                  <a:srgbClr val="5832F8"/>
                </a:solidFill>
                <a:latin typeface="Courier New" pitchFamily="49" charset="0"/>
                <a:cs typeface="Courier New" pitchFamily="49" charset="0"/>
              </a:rPr>
              <a:t>setLookAndFeel</a:t>
            </a:r>
            <a:r>
              <a:rPr lang="en-US" b="1" dirty="0" smtClean="0">
                <a:latin typeface="Courier New" pitchFamily="49" charset="0"/>
                <a:cs typeface="Courier New" pitchFamily="49" charset="0"/>
              </a:rPr>
              <a:t>(</a:t>
            </a:r>
          </a:p>
          <a:p>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UIManager.</a:t>
            </a:r>
            <a:r>
              <a:rPr lang="en-US" b="1" dirty="0" err="1" smtClean="0">
                <a:solidFill>
                  <a:srgbClr val="5832F8"/>
                </a:solidFill>
                <a:latin typeface="Courier New" pitchFamily="49" charset="0"/>
                <a:cs typeface="Courier New" pitchFamily="49" charset="0"/>
              </a:rPr>
              <a:t>getSystemLookAndFeelClassName</a:t>
            </a:r>
            <a:r>
              <a:rPr lang="en-US" b="1" dirty="0" smtClean="0">
                <a:latin typeface="Courier New" pitchFamily="49" charset="0"/>
                <a:cs typeface="Courier New" pitchFamily="49" charset="0"/>
              </a:rPr>
              <a:t>());</a:t>
            </a:r>
          </a:p>
          <a:p>
            <a:r>
              <a:rPr lang="en-US" b="1" dirty="0" smtClean="0">
                <a:latin typeface="Courier New" pitchFamily="49" charset="0"/>
                <a:cs typeface="Courier New" pitchFamily="49" charset="0"/>
              </a:rPr>
              <a:t>} catch (Exception e) { </a:t>
            </a:r>
            <a:r>
              <a:rPr lang="en-US" b="1" dirty="0" err="1" smtClean="0">
                <a:latin typeface="Courier New" pitchFamily="49" charset="0"/>
                <a:cs typeface="Courier New" pitchFamily="49" charset="0"/>
              </a:rPr>
              <a:t>e.</a:t>
            </a:r>
            <a:r>
              <a:rPr lang="en-US" b="1" dirty="0" err="1" smtClean="0">
                <a:solidFill>
                  <a:srgbClr val="5832F8"/>
                </a:solidFill>
                <a:latin typeface="Courier New" pitchFamily="49" charset="0"/>
                <a:cs typeface="Courier New" pitchFamily="49" charset="0"/>
              </a:rPr>
              <a:t>printStackTrace</a:t>
            </a:r>
            <a:r>
              <a:rPr lang="en-US" b="1" dirty="0" smtClean="0">
                <a:latin typeface="Courier New" pitchFamily="49" charset="0"/>
                <a:cs typeface="Courier New" pitchFamily="49" charset="0"/>
              </a:rPr>
              <a:t>(); }</a:t>
            </a:r>
            <a:endParaRPr lang="en-US" b="1" dirty="0">
              <a:latin typeface="Courier New" pitchFamily="49" charset="0"/>
              <a:cs typeface="Courier New" pitchFamily="49" charset="0"/>
            </a:endParaRPr>
          </a:p>
        </p:txBody>
      </p:sp>
      <p:sp>
        <p:nvSpPr>
          <p:cNvPr id="5" name="Content Placeholder 2"/>
          <p:cNvSpPr txBox="1">
            <a:spLocks/>
          </p:cNvSpPr>
          <p:nvPr/>
        </p:nvSpPr>
        <p:spPr>
          <a:xfrm>
            <a:off x="428596" y="5786454"/>
            <a:ext cx="8229600" cy="542916"/>
          </a:xfrm>
          <a:prstGeom prst="rect">
            <a:avLst/>
          </a:prstGeom>
        </p:spPr>
        <p:txBody>
          <a:bodyPr vert="horz" lIns="91440" tIns="45720" rIns="91440" bIns="45720" rtlCol="0">
            <a:normAutofit/>
          </a:bodyPr>
          <a:lstStyle/>
          <a:p>
            <a:pPr marL="342900" lvl="0" indent="-342900">
              <a:spcBef>
                <a:spcPts val="600"/>
              </a:spcBef>
              <a:spcAft>
                <a:spcPts val="600"/>
              </a:spcAft>
              <a:buFont typeface="Arial" pitchFamily="34" charset="0"/>
              <a:buChar char="•"/>
            </a:pPr>
            <a:r>
              <a:rPr lang="en-US" sz="2400" dirty="0" smtClean="0"/>
              <a:t>Java's Must be set before creating any components.</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8229600" cy="857256"/>
          </a:xfrm>
        </p:spPr>
        <p:txBody>
          <a:bodyPr>
            <a:normAutofit/>
          </a:bodyPr>
          <a:lstStyle/>
          <a:p>
            <a:r>
              <a:rPr lang="en-US" b="1" dirty="0" smtClean="0"/>
              <a:t>Putting It All Together</a:t>
            </a:r>
            <a:endParaRPr lang="en-US" b="1" dirty="0"/>
          </a:p>
        </p:txBody>
      </p:sp>
      <p:sp>
        <p:nvSpPr>
          <p:cNvPr id="3" name="Content Placeholder 2"/>
          <p:cNvSpPr>
            <a:spLocks noGrp="1"/>
          </p:cNvSpPr>
          <p:nvPr>
            <p:ph idx="1"/>
          </p:nvPr>
        </p:nvSpPr>
        <p:spPr>
          <a:xfrm>
            <a:off x="485804" y="1285860"/>
            <a:ext cx="8229600" cy="4714908"/>
          </a:xfrm>
        </p:spPr>
        <p:txBody>
          <a:bodyPr>
            <a:normAutofit/>
          </a:bodyPr>
          <a:lstStyle/>
          <a:p>
            <a:pPr>
              <a:spcBef>
                <a:spcPts val="600"/>
              </a:spcBef>
              <a:spcAft>
                <a:spcPts val="600"/>
              </a:spcAft>
            </a:pPr>
            <a:r>
              <a:rPr lang="en-US" sz="2400" dirty="0" smtClean="0"/>
              <a:t>Task: Create a Temperature Converter.</a:t>
            </a:r>
          </a:p>
          <a:p>
            <a:pPr>
              <a:spcBef>
                <a:spcPts val="600"/>
              </a:spcBef>
              <a:spcAft>
                <a:spcPts val="600"/>
              </a:spcAft>
            </a:pPr>
            <a:r>
              <a:rPr lang="en-US" sz="2400" dirty="0" smtClean="0"/>
              <a:t>Requirements:</a:t>
            </a:r>
          </a:p>
          <a:p>
            <a:pPr marL="914400" lvl="1" indent="-514350">
              <a:spcBef>
                <a:spcPts val="600"/>
              </a:spcBef>
              <a:spcAft>
                <a:spcPts val="600"/>
              </a:spcAft>
              <a:buFont typeface="+mj-lt"/>
              <a:buAutoNum type="arabicPeriod"/>
            </a:pPr>
            <a:r>
              <a:rPr lang="en-US" sz="2400" dirty="0" err="1" smtClean="0"/>
              <a:t>JFrame</a:t>
            </a:r>
            <a:r>
              <a:rPr lang="en-US" sz="2400" dirty="0" smtClean="0"/>
              <a:t> titled "Converter".</a:t>
            </a:r>
          </a:p>
          <a:p>
            <a:pPr marL="914400" lvl="1" indent="-514350">
              <a:spcBef>
                <a:spcPts val="600"/>
              </a:spcBef>
              <a:spcAft>
                <a:spcPts val="600"/>
              </a:spcAft>
              <a:buFont typeface="+mj-lt"/>
              <a:buAutoNum type="arabicPeriod"/>
            </a:pPr>
            <a:r>
              <a:rPr lang="en-US" sz="2400" dirty="0" err="1" smtClean="0"/>
              <a:t>JTextField</a:t>
            </a:r>
            <a:r>
              <a:rPr lang="en-US" sz="2400" dirty="0" smtClean="0"/>
              <a:t> for input.</a:t>
            </a:r>
          </a:p>
          <a:p>
            <a:pPr marL="914400" lvl="1" indent="-514350">
              <a:spcBef>
                <a:spcPts val="600"/>
              </a:spcBef>
              <a:spcAft>
                <a:spcPts val="600"/>
              </a:spcAft>
              <a:buFont typeface="+mj-lt"/>
              <a:buAutoNum type="arabicPeriod"/>
            </a:pPr>
            <a:r>
              <a:rPr lang="en-US" sz="2400" dirty="0" smtClean="0"/>
              <a:t>Two </a:t>
            </a:r>
            <a:r>
              <a:rPr lang="en-US" sz="2400" dirty="0" err="1" smtClean="0"/>
              <a:t>JButtons</a:t>
            </a:r>
            <a:r>
              <a:rPr lang="en-US" sz="2400" dirty="0" smtClean="0"/>
              <a:t> (C to F, F to C).</a:t>
            </a:r>
          </a:p>
          <a:p>
            <a:pPr marL="914400" lvl="1" indent="-514350">
              <a:spcBef>
                <a:spcPts val="600"/>
              </a:spcBef>
              <a:spcAft>
                <a:spcPts val="600"/>
              </a:spcAft>
              <a:buFont typeface="+mj-lt"/>
              <a:buAutoNum type="arabicPeriod"/>
            </a:pPr>
            <a:r>
              <a:rPr lang="en-US" sz="2400" dirty="0" err="1" smtClean="0"/>
              <a:t>JLabel</a:t>
            </a:r>
            <a:r>
              <a:rPr lang="en-US" sz="2400" dirty="0" smtClean="0"/>
              <a:t> to show result.</a:t>
            </a:r>
          </a:p>
          <a:p>
            <a:pPr marL="914400" lvl="1" indent="-514350">
              <a:spcBef>
                <a:spcPts val="600"/>
              </a:spcBef>
              <a:spcAft>
                <a:spcPts val="600"/>
              </a:spcAft>
              <a:buFont typeface="+mj-lt"/>
              <a:buAutoNum type="arabicPeriod"/>
            </a:pPr>
            <a:r>
              <a:rPr lang="en-US" sz="2400" dirty="0" smtClean="0"/>
              <a:t>Use </a:t>
            </a:r>
            <a:r>
              <a:rPr lang="en-US" sz="2400" dirty="0" err="1" smtClean="0"/>
              <a:t>BorderLayout</a:t>
            </a:r>
            <a:r>
              <a:rPr lang="en-US" sz="2400" dirty="0" smtClean="0"/>
              <a:t>.</a:t>
            </a:r>
          </a:p>
          <a:p>
            <a:pPr marL="914400" lvl="1" indent="-514350">
              <a:spcBef>
                <a:spcPts val="600"/>
              </a:spcBef>
              <a:spcAft>
                <a:spcPts val="600"/>
              </a:spcAft>
              <a:buFont typeface="+mj-lt"/>
              <a:buAutoNum type="arabicPeriod"/>
            </a:pPr>
            <a:r>
              <a:rPr lang="en-US" sz="2400" dirty="0" smtClean="0"/>
              <a:t>Handle invalid input (try-catch).</a:t>
            </a:r>
          </a:p>
          <a:p>
            <a:pPr marL="914400" lvl="1" indent="-514350">
              <a:spcBef>
                <a:spcPts val="600"/>
              </a:spcBef>
              <a:spcAft>
                <a:spcPts val="600"/>
              </a:spcAft>
              <a:buFont typeface="+mj-lt"/>
              <a:buAutoNum type="arabicPeriod"/>
            </a:pPr>
            <a:r>
              <a:rPr lang="en-US" sz="2400" dirty="0" smtClean="0"/>
              <a:t>Launch on EDT.</a:t>
            </a:r>
            <a:endParaRPr lang="en-US" sz="24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46"/>
          </a:xfrm>
        </p:spPr>
        <p:txBody>
          <a:bodyPr>
            <a:normAutofit/>
          </a:bodyPr>
          <a:lstStyle/>
          <a:p>
            <a:r>
              <a:rPr lang="en-US" b="1" dirty="0" smtClean="0"/>
              <a:t>Summary &amp; Next Steps</a:t>
            </a:r>
            <a:endParaRPr lang="en-US" b="1" dirty="0"/>
          </a:p>
        </p:txBody>
      </p:sp>
      <p:sp>
        <p:nvSpPr>
          <p:cNvPr id="3" name="Content Placeholder 2"/>
          <p:cNvSpPr>
            <a:spLocks noGrp="1"/>
          </p:cNvSpPr>
          <p:nvPr>
            <p:ph idx="1"/>
          </p:nvPr>
        </p:nvSpPr>
        <p:spPr>
          <a:xfrm>
            <a:off x="457200" y="1357298"/>
            <a:ext cx="8229600" cy="5143536"/>
          </a:xfrm>
        </p:spPr>
        <p:txBody>
          <a:bodyPr>
            <a:normAutofit fontScale="92500" lnSpcReduction="10000"/>
          </a:bodyPr>
          <a:lstStyle/>
          <a:p>
            <a:pPr>
              <a:spcBef>
                <a:spcPts val="600"/>
              </a:spcBef>
              <a:spcAft>
                <a:spcPts val="600"/>
              </a:spcAft>
            </a:pPr>
            <a:r>
              <a:rPr lang="en-US" sz="2400" b="1" dirty="0" smtClean="0">
                <a:effectLst>
                  <a:outerShdw blurRad="38100" dist="38100" dir="2700000" algn="tl">
                    <a:srgbClr val="000000">
                      <a:alpha val="43137"/>
                    </a:srgbClr>
                  </a:outerShdw>
                </a:effectLst>
              </a:rPr>
              <a:t>Summary</a:t>
            </a:r>
            <a:r>
              <a:rPr lang="en-US" sz="2400" dirty="0" smtClean="0"/>
              <a:t>:</a:t>
            </a:r>
          </a:p>
          <a:p>
            <a:pPr lvl="1">
              <a:spcBef>
                <a:spcPts val="600"/>
              </a:spcBef>
              <a:spcAft>
                <a:spcPts val="600"/>
              </a:spcAft>
            </a:pPr>
            <a:r>
              <a:rPr lang="en-US" sz="2400" dirty="0" smtClean="0"/>
              <a:t>Swing is lightweight and mature.</a:t>
            </a:r>
          </a:p>
          <a:p>
            <a:pPr lvl="1">
              <a:spcBef>
                <a:spcPts val="600"/>
              </a:spcBef>
              <a:spcAft>
                <a:spcPts val="600"/>
              </a:spcAft>
            </a:pPr>
            <a:r>
              <a:rPr lang="en-US" sz="2400" dirty="0" smtClean="0"/>
              <a:t>Use Layout Managers, not absolute positioning.</a:t>
            </a:r>
          </a:p>
          <a:p>
            <a:pPr lvl="1">
              <a:spcBef>
                <a:spcPts val="600"/>
              </a:spcBef>
              <a:spcAft>
                <a:spcPts val="600"/>
              </a:spcAft>
            </a:pPr>
            <a:r>
              <a:rPr lang="en-US" sz="2400" dirty="0" smtClean="0"/>
              <a:t>Respect the Event Dispatch Thread.</a:t>
            </a:r>
          </a:p>
          <a:p>
            <a:pPr lvl="1">
              <a:spcBef>
                <a:spcPts val="600"/>
              </a:spcBef>
              <a:spcAft>
                <a:spcPts val="600"/>
              </a:spcAft>
            </a:pPr>
            <a:r>
              <a:rPr lang="en-US" sz="2400" dirty="0" smtClean="0"/>
              <a:t>Use Listeners for interaction.</a:t>
            </a:r>
          </a:p>
          <a:p>
            <a:pPr>
              <a:spcBef>
                <a:spcPts val="600"/>
              </a:spcBef>
              <a:spcAft>
                <a:spcPts val="600"/>
              </a:spcAft>
            </a:pPr>
            <a:r>
              <a:rPr lang="en-US" sz="2400" b="1" dirty="0" smtClean="0">
                <a:effectLst>
                  <a:outerShdw blurRad="38100" dist="38100" dir="2700000" algn="tl">
                    <a:srgbClr val="000000">
                      <a:alpha val="43137"/>
                    </a:srgbClr>
                  </a:outerShdw>
                </a:effectLst>
              </a:rPr>
              <a:t>Modern Alternatives</a:t>
            </a:r>
            <a:r>
              <a:rPr lang="en-US" sz="2400" dirty="0" smtClean="0"/>
              <a:t>:</a:t>
            </a:r>
          </a:p>
          <a:p>
            <a:pPr lvl="1">
              <a:spcBef>
                <a:spcPts val="600"/>
              </a:spcBef>
              <a:spcAft>
                <a:spcPts val="600"/>
              </a:spcAft>
            </a:pPr>
            <a:r>
              <a:rPr lang="en-US" sz="2400" dirty="0" err="1" smtClean="0"/>
              <a:t>JavaFX</a:t>
            </a:r>
            <a:r>
              <a:rPr lang="en-US" sz="2400" dirty="0" smtClean="0"/>
              <a:t>: Newer standard for Java desktop.</a:t>
            </a:r>
          </a:p>
          <a:p>
            <a:pPr lvl="1">
              <a:spcBef>
                <a:spcPts val="600"/>
              </a:spcBef>
              <a:spcAft>
                <a:spcPts val="600"/>
              </a:spcAft>
            </a:pPr>
            <a:r>
              <a:rPr lang="en-US" sz="2400" dirty="0" smtClean="0"/>
              <a:t>Web Technologies: Electron, React, etc. (Industry trend).</a:t>
            </a:r>
          </a:p>
          <a:p>
            <a:pPr>
              <a:spcBef>
                <a:spcPts val="600"/>
              </a:spcBef>
              <a:spcAft>
                <a:spcPts val="600"/>
              </a:spcAft>
            </a:pPr>
            <a:r>
              <a:rPr lang="en-US" sz="2400" b="1" dirty="0" smtClean="0">
                <a:effectLst>
                  <a:outerShdw blurRad="38100" dist="38100" dir="2700000" algn="tl">
                    <a:srgbClr val="000000">
                      <a:alpha val="43137"/>
                    </a:srgbClr>
                  </a:outerShdw>
                </a:effectLst>
              </a:rPr>
              <a:t>Resources</a:t>
            </a:r>
            <a:r>
              <a:rPr lang="en-US" sz="2400" dirty="0" smtClean="0"/>
              <a:t>:</a:t>
            </a:r>
          </a:p>
          <a:p>
            <a:pPr lvl="1">
              <a:spcBef>
                <a:spcPts val="600"/>
              </a:spcBef>
              <a:spcAft>
                <a:spcPts val="600"/>
              </a:spcAft>
            </a:pPr>
            <a:r>
              <a:rPr lang="en-US" sz="2400" dirty="0" smtClean="0"/>
              <a:t>Oracle Swing Tutorial docs.</a:t>
            </a:r>
          </a:p>
          <a:p>
            <a:pPr lvl="1">
              <a:spcBef>
                <a:spcPts val="600"/>
              </a:spcBef>
              <a:spcAft>
                <a:spcPts val="600"/>
              </a:spcAft>
            </a:pPr>
            <a:r>
              <a:rPr lang="en-US" sz="2400" dirty="0" smtClean="0"/>
              <a:t>"Core Java Volume II" (</a:t>
            </a:r>
            <a:r>
              <a:rPr lang="en-US" sz="2400" dirty="0" err="1" smtClean="0"/>
              <a:t>Horstmann</a:t>
            </a:r>
            <a:r>
              <a:rPr lang="en-US" sz="2400" dirty="0" smtClean="0"/>
              <a:t>).</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978</TotalTime>
  <Words>2150</Words>
  <Application>Microsoft Office PowerPoint</Application>
  <PresentationFormat>On-screen Show (4:3)</PresentationFormat>
  <Paragraphs>281</Paragraphs>
  <Slides>24</Slides>
  <Notes>18</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Packages and GUI Programming with Swing</vt:lpstr>
      <vt:lpstr>What We Will Learn</vt:lpstr>
      <vt:lpstr>Understanding Java Packages</vt:lpstr>
      <vt:lpstr>Avoiding Naming Conflicts</vt:lpstr>
      <vt:lpstr>The import Statement</vt:lpstr>
      <vt:lpstr>GUI: History: AWT vs. Swing</vt:lpstr>
      <vt:lpstr>Controlling Access (Encapsulation)</vt:lpstr>
      <vt:lpstr>The Swing Architecture</vt:lpstr>
      <vt:lpstr>Creating a Window (JFrame)</vt:lpstr>
      <vt:lpstr>Common Swing Components</vt:lpstr>
      <vt:lpstr>Swing Login Form component Layout.</vt:lpstr>
      <vt:lpstr>Screenshot of a simple login form showing swing components.</vt:lpstr>
      <vt:lpstr>Managing Component Placement</vt:lpstr>
      <vt:lpstr>Layout Manager</vt:lpstr>
      <vt:lpstr>Diagram showing the 5 regions of BorderLayout and a 2x2 grid.</vt:lpstr>
      <vt:lpstr>The Delegation Event Model</vt:lpstr>
      <vt:lpstr>Implementing Listeners</vt:lpstr>
      <vt:lpstr>Menus &amp; Standard Dialogs</vt:lpstr>
      <vt:lpstr>Project Structure</vt:lpstr>
      <vt:lpstr>Common Mistakes</vt:lpstr>
      <vt:lpstr>The Event Dispatch Thread (EDT)</vt:lpstr>
      <vt:lpstr>Pluggable Look and Feel</vt:lpstr>
      <vt:lpstr>Putting It All Together</vt:lpstr>
      <vt:lpstr>Summary &amp; Next Steps</vt:lpstr>
    </vt:vector>
  </TitlesOfParts>
  <Company>HP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Java and Object-Oriented Programming </dc:title>
  <dc:creator>tmik</dc:creator>
  <cp:lastModifiedBy>tmik</cp:lastModifiedBy>
  <cp:revision>300</cp:revision>
  <dcterms:created xsi:type="dcterms:W3CDTF">2026-02-15T10:58:32Z</dcterms:created>
  <dcterms:modified xsi:type="dcterms:W3CDTF">2026-03-15T10:47:57Z</dcterms:modified>
</cp:coreProperties>
</file>