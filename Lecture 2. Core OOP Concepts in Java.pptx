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74" r:id="rId9"/>
    <p:sldId id="262" r:id="rId10"/>
    <p:sldId id="263" r:id="rId11"/>
    <p:sldId id="275" r:id="rId12"/>
    <p:sldId id="265" r:id="rId13"/>
    <p:sldId id="276" r:id="rId14"/>
    <p:sldId id="264" r:id="rId15"/>
    <p:sldId id="277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994" autoAdjust="0"/>
    <p:restoredTop sz="94660"/>
  </p:normalViewPr>
  <p:slideViewPr>
    <p:cSldViewPr>
      <p:cViewPr varScale="1">
        <p:scale>
          <a:sx n="80" d="100"/>
          <a:sy n="80" d="100"/>
        </p:scale>
        <p:origin x="-179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Benefit: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We prevent </a:t>
            </a:r>
            <a:r>
              <a:rPr lang="en-US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account.balance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-1000; which would break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Abstraction &amp; Encapsulation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Inheritance (Is-A Relationship)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Usage (ADT style)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37"/>
            <a:ext cx="7772400" cy="2171714"/>
          </a:xfrm>
        </p:spPr>
        <p:txBody>
          <a:bodyPr>
            <a:noAutofit/>
          </a:bodyPr>
          <a:lstStyle/>
          <a:p>
            <a:r>
              <a:rPr lang="en-US" b="1" dirty="0" smtClean="0"/>
              <a:t>Core OOP Concepts in Java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i="1" dirty="0" smtClean="0"/>
              <a:t>Abstraction, Encapsulation, and Inheritance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00132"/>
          </a:xfrm>
        </p:spPr>
        <p:txBody>
          <a:bodyPr>
            <a:noAutofit/>
          </a:bodyPr>
          <a:lstStyle/>
          <a:p>
            <a:r>
              <a:rPr lang="en-US" sz="6600" b="1" dirty="0" smtClean="0"/>
              <a:t>Learning Objectives</a:t>
            </a:r>
            <a:endParaRPr lang="en-US" sz="6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0"/>
            <a:ext cx="8715436" cy="53578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 smtClean="0"/>
              <a:t>By the end of this session, students will be able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Differentiate</a:t>
            </a:r>
            <a:r>
              <a:rPr lang="en-US" sz="2800" dirty="0" smtClean="0"/>
              <a:t> between Data Abstraction (concept) and Abstract Data Types (implementation).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Implement</a:t>
            </a:r>
            <a:r>
              <a:rPr lang="en-US" sz="2800" dirty="0" smtClean="0"/>
              <a:t> robust Encapsulation in Java using access modifiers and </a:t>
            </a:r>
            <a:r>
              <a:rPr lang="en-US" sz="2800" dirty="0" err="1" smtClean="0"/>
              <a:t>accessor</a:t>
            </a:r>
            <a:r>
              <a:rPr lang="en-US" sz="2800" dirty="0" smtClean="0"/>
              <a:t> methods.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Construct</a:t>
            </a:r>
            <a:r>
              <a:rPr lang="en-US" sz="2800" dirty="0" smtClean="0"/>
              <a:t> class hierarchies using Inheritance (extends) and understand constructor chaining.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Analyze</a:t>
            </a:r>
            <a:r>
              <a:rPr lang="en-US" sz="2800" dirty="0" smtClean="0"/>
              <a:t> the trade-offs of inheritance vs. composition in Java design.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Apply</a:t>
            </a:r>
            <a:r>
              <a:rPr lang="en-US" sz="2800" dirty="0" smtClean="0"/>
              <a:t> these three pillars to create maintainable, modular Java applications.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OOP in the Java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Java is fundamentally Object-Oriented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Everything (except primitives) is an Object.</a:t>
            </a:r>
          </a:p>
          <a:p>
            <a:r>
              <a:rPr lang="en-US" dirty="0" smtClean="0"/>
              <a:t>Code is organized into </a:t>
            </a:r>
            <a:r>
              <a:rPr lang="en-US" b="1" dirty="0" smtClean="0"/>
              <a:t>Classes</a:t>
            </a:r>
            <a:r>
              <a:rPr lang="en-US" dirty="0" smtClean="0"/>
              <a:t> and </a:t>
            </a:r>
            <a:r>
              <a:rPr lang="en-US" b="1" dirty="0" smtClean="0"/>
              <a:t>Packages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JVM (Java Virtual Machine) manages memory for these objects (Heap vs. Stack).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OOP in the Java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736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Java is fundamentally Object-Oriented</a:t>
            </a:r>
          </a:p>
          <a:p>
            <a:r>
              <a:rPr lang="en-US" dirty="0" smtClean="0"/>
              <a:t>Everything (except primitives) is an Object.</a:t>
            </a:r>
          </a:p>
          <a:p>
            <a:r>
              <a:rPr lang="en-US" dirty="0" smtClean="0"/>
              <a:t>Code is organized into </a:t>
            </a:r>
            <a:r>
              <a:rPr lang="en-US" b="1" dirty="0" smtClean="0"/>
              <a:t>Classes</a:t>
            </a:r>
            <a:r>
              <a:rPr lang="en-US" dirty="0" smtClean="0"/>
              <a:t> and </a:t>
            </a:r>
            <a:r>
              <a:rPr lang="en-US" b="1" dirty="0" smtClean="0"/>
              <a:t>Packages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JVM (Java Virtual Machine) manages memory for these objects (Heap vs. Stack).</a:t>
            </a:r>
          </a:p>
          <a:p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71472" y="3500438"/>
            <a:ext cx="8215338" cy="313932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The Three Pillars We Cover Today: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Abstraction: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Hiding complexity.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Encapsulation: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Hiding data state.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Inheritance: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1D1D1F"/>
                </a:solidFill>
                <a:effectLst/>
                <a:cs typeface="Arial" pitchFamily="34" charset="0"/>
              </a:rPr>
              <a:t> Reusing behavior.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Note: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While Polymorphism is crucial, it is a result of correctly implementing these three foundations.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 Abstraction (Concept)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 smtClean="0"/>
              <a:t>Definition: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process of hiding complex implementation details and showing only the essential features of the object to the user.</a:t>
            </a:r>
          </a:p>
          <a:p>
            <a:r>
              <a:rPr lang="en-US" sz="2400" b="1" dirty="0" smtClean="0"/>
              <a:t>Why use Abstraction?</a:t>
            </a:r>
            <a:endParaRPr lang="en-US" sz="2400" dirty="0" smtClean="0"/>
          </a:p>
          <a:p>
            <a:r>
              <a:rPr lang="en-US" sz="2400" dirty="0" smtClean="0"/>
              <a:t>📉 </a:t>
            </a:r>
            <a:r>
              <a:rPr lang="en-US" sz="2400" b="1" dirty="0" smtClean="0"/>
              <a:t>Reduced Complexity:</a:t>
            </a:r>
            <a:r>
              <a:rPr lang="en-US" sz="2400" dirty="0" smtClean="0"/>
              <a:t> Users don't need to know </a:t>
            </a:r>
            <a:r>
              <a:rPr lang="en-US" sz="2400" i="1" dirty="0" smtClean="0"/>
              <a:t>how</a:t>
            </a:r>
            <a:r>
              <a:rPr lang="en-US" sz="2400" dirty="0" smtClean="0"/>
              <a:t> a method works, only </a:t>
            </a:r>
            <a:r>
              <a:rPr lang="en-US" sz="2400" i="1" dirty="0" smtClean="0"/>
              <a:t>what</a:t>
            </a:r>
            <a:r>
              <a:rPr lang="en-US" sz="2400" dirty="0" smtClean="0"/>
              <a:t> it does.</a:t>
            </a:r>
          </a:p>
          <a:p>
            <a:r>
              <a:rPr lang="en-US" sz="2400" dirty="0" smtClean="0"/>
              <a:t>🛡</a:t>
            </a:r>
            <a:r>
              <a:rPr lang="en-US" sz="2400" b="1" dirty="0" smtClean="0"/>
              <a:t>Security:</a:t>
            </a:r>
            <a:r>
              <a:rPr lang="en-US" sz="2400" dirty="0" smtClean="0"/>
              <a:t> Internal logic is protected from external interference.</a:t>
            </a:r>
          </a:p>
          <a:p>
            <a:r>
              <a:rPr lang="en-US" sz="2400" dirty="0" smtClean="0"/>
              <a:t>🔧 </a:t>
            </a:r>
            <a:r>
              <a:rPr lang="en-US" sz="2400" b="1" dirty="0" smtClean="0"/>
              <a:t>Maintainability:</a:t>
            </a:r>
            <a:r>
              <a:rPr lang="en-US" sz="2400" dirty="0" smtClean="0"/>
              <a:t> Implementation can change without affecting client code.</a:t>
            </a:r>
          </a:p>
          <a:p>
            <a:r>
              <a:rPr lang="en-US" sz="2400" b="1" dirty="0" smtClean="0"/>
              <a:t>Real-world Analogy: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Driving a car. You use the steering wheel and pedals (interface), but you don't need to know how the fuel injection system works (implementation).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Abstract Data Types (ADT)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85861"/>
            <a:ext cx="8786874" cy="1285884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Definition: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mathematical model for data types where a type is defined by its behavior (operations) rather than its implementation.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14282" y="2643182"/>
            <a:ext cx="87868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The ADT Specification (Interface)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List&lt;String&gt; names =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&lt;&gt;(); </a:t>
            </a:r>
          </a:p>
          <a:p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User interacts with the abstraction</a:t>
            </a:r>
          </a:p>
          <a:p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names.add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("Alice");</a:t>
            </a:r>
          </a:p>
          <a:p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names.get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(0); </a:t>
            </a:r>
          </a:p>
          <a:p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Implementation (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vs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LinkedList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 is hidden</a:t>
            </a:r>
          </a:p>
          <a:p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We could switch to new </a:t>
            </a:r>
            <a:r>
              <a:rPr lang="en-US" sz="16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LinkedList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&lt;&gt;() without changing client code</a:t>
            </a:r>
            <a:endParaRPr lang="en-US" sz="16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7126" y="4643446"/>
            <a:ext cx="8572592" cy="19288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b="1" dirty="0" smtClean="0"/>
              <a:t>Key Characteristics of an ADT in Java:</a:t>
            </a:r>
            <a:endParaRPr lang="en-US" sz="2400" dirty="0" smtClean="0"/>
          </a:p>
          <a:p>
            <a:r>
              <a:rPr lang="en-US" sz="2400" b="1" dirty="0" smtClean="0"/>
              <a:t>Type Safety:</a:t>
            </a:r>
            <a:r>
              <a:rPr lang="en-US" sz="2400" dirty="0" smtClean="0"/>
              <a:t> Defined by Generics (&lt;String&gt;).</a:t>
            </a:r>
          </a:p>
          <a:p>
            <a:r>
              <a:rPr lang="en-US" sz="2400" b="1" dirty="0" smtClean="0"/>
              <a:t>Operation Set:</a:t>
            </a:r>
            <a:r>
              <a:rPr lang="en-US" sz="2400" dirty="0" smtClean="0"/>
              <a:t> add, remove, get, size.</a:t>
            </a:r>
          </a:p>
          <a:p>
            <a:r>
              <a:rPr lang="en-US" sz="2400" b="1" dirty="0" smtClean="0"/>
              <a:t>Implementation Independence:</a:t>
            </a:r>
            <a:r>
              <a:rPr lang="en-US" sz="2400" dirty="0" smtClean="0"/>
              <a:t> Client code depends on the List abstraction, not the </a:t>
            </a:r>
            <a:r>
              <a:rPr lang="en-US" sz="2400" dirty="0" err="1" smtClean="0"/>
              <a:t>ArrayList</a:t>
            </a:r>
            <a:r>
              <a:rPr lang="en-US" sz="2400" dirty="0" smtClean="0"/>
              <a:t> concrete class.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 b="1" dirty="0" smtClean="0"/>
              <a:t>Encapsulation (The Mechanism)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329642" cy="207170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Definition: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Bundling data (variables) and methods (functions) that operate on the data into a single unit (Class), and restricting direct access to some of an object's components.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3500438"/>
          <a:ext cx="7786741" cy="2928960"/>
        </p:xfrm>
        <a:graphic>
          <a:graphicData uri="http://schemas.openxmlformats.org/drawingml/2006/table">
            <a:tbl>
              <a:tblPr/>
              <a:tblGrid>
                <a:gridCol w="2687113"/>
                <a:gridCol w="1274907"/>
                <a:gridCol w="1274907"/>
                <a:gridCol w="1274907"/>
                <a:gridCol w="1274907"/>
              </a:tblGrid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Modifier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Subclass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Public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Protected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default</a:t>
                      </a: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(no keyword)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private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 b="1" dirty="0" smtClean="0"/>
              <a:t>Encapsulation (The Mechanism)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4714884"/>
            <a:ext cx="7786742" cy="171451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Golden Rule of Encapsulation: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🔒 </a:t>
            </a:r>
            <a:r>
              <a:rPr lang="en-US" sz="2400" b="1" dirty="0" smtClean="0"/>
              <a:t>Fields should be private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🔓 </a:t>
            </a:r>
            <a:r>
              <a:rPr lang="en-US" sz="2400" b="1" dirty="0" smtClean="0"/>
              <a:t>Access should be via public methods (Getters/Setters)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1428736"/>
          <a:ext cx="7786741" cy="2928960"/>
        </p:xfrm>
        <a:graphic>
          <a:graphicData uri="http://schemas.openxmlformats.org/drawingml/2006/table">
            <a:tbl>
              <a:tblPr/>
              <a:tblGrid>
                <a:gridCol w="2687113"/>
                <a:gridCol w="1274907"/>
                <a:gridCol w="1274907"/>
                <a:gridCol w="1274907"/>
                <a:gridCol w="1274907"/>
              </a:tblGrid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Modifier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Subclass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World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Public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Protected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default</a:t>
                      </a:r>
                      <a:r>
                        <a:rPr lang="en-US" sz="24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(no keyword)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792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 smtClean="0">
                          <a:solidFill>
                            <a:srgbClr val="5832F8"/>
                          </a:solidFill>
                          <a:latin typeface="Calibri"/>
                        </a:rPr>
                        <a:t>private</a:t>
                      </a:r>
                      <a:endParaRPr lang="en-US" sz="2400" b="0" i="0" u="none" strike="noStrike" dirty="0">
                        <a:solidFill>
                          <a:srgbClr val="5832F8"/>
                        </a:solidFill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71414"/>
            <a:ext cx="8643998" cy="857256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Encapsulation (Implementation Example)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000108"/>
            <a:ext cx="8229600" cy="5000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Scenario:</a:t>
            </a:r>
            <a:r>
              <a:rPr lang="en-US" sz="2400" dirty="0" smtClean="0"/>
              <a:t> Protecting the state of a </a:t>
            </a:r>
            <a:r>
              <a:rPr lang="en-US" sz="2400" dirty="0" err="1" smtClean="0"/>
              <a:t>BankAccount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57158" y="1643050"/>
            <a:ext cx="850112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BankAccount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private String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accountNumber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1. Private Data (Hidden)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private double balance;</a:t>
            </a:r>
          </a:p>
          <a:p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2. Public Constructor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BankAccount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accountNumber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double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initialBalance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this.accountNumber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accountNumber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this.balance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initialBalance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; // Validation could go here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3. Controlled Access (Getter)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public double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getBalance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return balance; // Read-only access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4. Controlled Modification (Setter/Method)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public void deposit(double amount)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if (amount &gt; 0)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this.balance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+= amount;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} else {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    throw new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("Amount must be positive");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Inheritance (Basics)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928670"/>
            <a:ext cx="857256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Definition: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A mechanism where one class acquires the properties (fields) and behaviors (methods) of another class.</a:t>
            </a:r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r>
              <a:rPr lang="en-US" sz="2400" b="1" dirty="0" smtClean="0"/>
              <a:t>Key Keywords:</a:t>
            </a:r>
            <a:endParaRPr lang="en-US" sz="2400" dirty="0" smtClean="0"/>
          </a:p>
          <a:p>
            <a:pPr lvl="1"/>
            <a:r>
              <a:rPr lang="en-US" sz="2400" dirty="0" smtClean="0"/>
              <a:t>extends: Used for class inheritance.</a:t>
            </a:r>
          </a:p>
          <a:p>
            <a:pPr lvl="1"/>
            <a:r>
              <a:rPr lang="en-US" sz="2400" dirty="0" smtClean="0"/>
              <a:t>super: Refers to the immediate parent class object.</a:t>
            </a:r>
          </a:p>
          <a:p>
            <a:pPr lvl="1"/>
            <a:r>
              <a:rPr lang="en-US" sz="2400" dirty="0" smtClean="0"/>
              <a:t>Object: The root of all Java class hierarchies.</a:t>
            </a:r>
          </a:p>
          <a:p>
            <a:pPr>
              <a:buNone/>
            </a:pPr>
            <a:endParaRPr lang="en-US" sz="1100" b="1" dirty="0" smtClean="0"/>
          </a:p>
          <a:p>
            <a:pPr>
              <a:buNone/>
            </a:pPr>
            <a:r>
              <a:rPr lang="en-US" sz="2400" b="1" dirty="0" smtClean="0"/>
              <a:t>The "Is-A" Relationship:</a:t>
            </a:r>
          </a:p>
          <a:p>
            <a:pPr>
              <a:buNone/>
            </a:pPr>
            <a:r>
              <a:rPr lang="en-US" sz="2400" dirty="0" smtClean="0"/>
              <a:t>Inheritance should only be used when there is a clear </a:t>
            </a:r>
            <a:r>
              <a:rPr lang="en-US" sz="2400" b="1" dirty="0" smtClean="0"/>
              <a:t>IS-A</a:t>
            </a:r>
            <a:r>
              <a:rPr lang="en-US" sz="2400" dirty="0" smtClean="0"/>
              <a:t> relationship.</a:t>
            </a:r>
          </a:p>
          <a:p>
            <a:r>
              <a:rPr lang="en-US" sz="2400" dirty="0" smtClean="0"/>
              <a:t>✅ Dog </a:t>
            </a:r>
            <a:r>
              <a:rPr lang="en-US" sz="2400" b="1" dirty="0" smtClean="0"/>
              <a:t>is a</a:t>
            </a:r>
            <a:r>
              <a:rPr lang="en-US" sz="2400" dirty="0" smtClean="0"/>
              <a:t> Animal.</a:t>
            </a:r>
          </a:p>
          <a:p>
            <a:r>
              <a:rPr lang="en-US" sz="2400" dirty="0" smtClean="0"/>
              <a:t>❌ Car </a:t>
            </a:r>
            <a:r>
              <a:rPr lang="en-US" sz="2400" b="1" dirty="0" smtClean="0"/>
              <a:t>is a</a:t>
            </a:r>
            <a:r>
              <a:rPr lang="en-US" sz="2400" dirty="0" smtClean="0"/>
              <a:t> Engine (Wrong! A Car </a:t>
            </a:r>
            <a:r>
              <a:rPr lang="en-US" sz="2400" i="1" dirty="0" smtClean="0"/>
              <a:t>has an</a:t>
            </a:r>
            <a:r>
              <a:rPr lang="en-US" sz="2400" dirty="0" smtClean="0"/>
              <a:t> Engine → Use Composition).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2"/>
            <a:ext cx="8229600" cy="725470"/>
          </a:xfrm>
        </p:spPr>
        <p:txBody>
          <a:bodyPr>
            <a:noAutofit/>
          </a:bodyPr>
          <a:lstStyle/>
          <a:p>
            <a:r>
              <a:rPr lang="en-US" b="1" dirty="0" smtClean="0"/>
              <a:t>Inheritance (Basics)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2864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Animal 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eat() {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("Eating...");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Dog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Animal 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bark() {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("Barking..."); 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Inheritance &amp;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Concept: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Constructors are </a:t>
            </a:r>
            <a:r>
              <a:rPr lang="en-US" b="1" dirty="0" smtClean="0"/>
              <a:t>not</a:t>
            </a:r>
            <a:r>
              <a:rPr lang="en-US" dirty="0" smtClean="0"/>
              <a:t> inherited, but the parent constructor </a:t>
            </a:r>
            <a:r>
              <a:rPr lang="en-US" b="1" dirty="0" smtClean="0"/>
              <a:t>must</a:t>
            </a:r>
            <a:r>
              <a:rPr lang="en-US" dirty="0" smtClean="0"/>
              <a:t> be called.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 smtClean="0"/>
              <a:t>Constructor Chaining:</a:t>
            </a:r>
            <a:endParaRPr lang="en-US" dirty="0" smtClean="0"/>
          </a:p>
          <a:p>
            <a:r>
              <a:rPr lang="en-US" dirty="0" smtClean="0"/>
              <a:t>If a subclass constructor does not explicitly call super(), Java inserts a no-</a:t>
            </a:r>
            <a:r>
              <a:rPr lang="en-US" dirty="0" err="1" smtClean="0"/>
              <a:t>arg</a:t>
            </a:r>
            <a:r>
              <a:rPr lang="en-US" dirty="0" smtClean="0"/>
              <a:t> super() call automatically.</a:t>
            </a:r>
          </a:p>
          <a:p>
            <a:r>
              <a:rPr lang="en-US" dirty="0" smtClean="0"/>
              <a:t>If the parent class lacks a no-</a:t>
            </a:r>
            <a:r>
              <a:rPr lang="en-US" dirty="0" err="1" smtClean="0"/>
              <a:t>arg</a:t>
            </a:r>
            <a:r>
              <a:rPr lang="en-US" dirty="0" smtClean="0"/>
              <a:t> constructor, the subclass </a:t>
            </a:r>
            <a:r>
              <a:rPr lang="en-US" b="1" dirty="0" smtClean="0"/>
              <a:t>must</a:t>
            </a:r>
            <a:r>
              <a:rPr lang="en-US" dirty="0" smtClean="0"/>
              <a:t> explicitly call a parent constructor.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938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/>
              <a:t>Inheritance &amp;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82" y="1114411"/>
            <a:ext cx="8643998" cy="4697427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Person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String name;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Person(String name)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this.name = name; 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Employee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Person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private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employeeId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public Employee(String name,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id)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(name); </a:t>
            </a:r>
            <a:r>
              <a:rPr lang="en-US" sz="29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MUST call parent constructor first</a:t>
            </a:r>
            <a:endParaRPr lang="en-US" b="1" dirty="0" smtClean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.employeeId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= id;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5929330"/>
            <a:ext cx="84296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Order of Initialization: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/>
              <a:t>Static blocks → Parent Constructor → Child Constructor.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928694"/>
          </a:xfrm>
        </p:spPr>
        <p:txBody>
          <a:bodyPr/>
          <a:lstStyle/>
          <a:p>
            <a:r>
              <a:rPr lang="en-US" b="1" dirty="0" smtClean="0"/>
              <a:t>Class Hierarchy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The Java Class Tree:</a:t>
            </a:r>
            <a:endParaRPr lang="en-US" sz="2400" dirty="0" smtClean="0"/>
          </a:p>
          <a:p>
            <a:r>
              <a:rPr lang="en-US" sz="2400" dirty="0" smtClean="0"/>
              <a:t>Every class implicitly extends </a:t>
            </a:r>
            <a:r>
              <a:rPr lang="en-US" sz="2400" dirty="0" err="1" smtClean="0"/>
              <a:t>java.lang.Object</a:t>
            </a:r>
            <a:r>
              <a:rPr lang="en-US" sz="2400" dirty="0" smtClean="0"/>
              <a:t> if no other class is specified.</a:t>
            </a:r>
          </a:p>
          <a:p>
            <a:r>
              <a:rPr lang="en-US" sz="2400" b="1" dirty="0" smtClean="0"/>
              <a:t>Single Inheritance:</a:t>
            </a:r>
            <a:r>
              <a:rPr lang="en-US" sz="2400" dirty="0" smtClean="0"/>
              <a:t> A Java class can extend only </a:t>
            </a:r>
            <a:r>
              <a:rPr lang="en-US" sz="2400" b="1" dirty="0" smtClean="0"/>
              <a:t>one</a:t>
            </a:r>
            <a:r>
              <a:rPr lang="en-US" sz="2400" dirty="0" smtClean="0"/>
              <a:t> direct parent class.</a:t>
            </a:r>
          </a:p>
          <a:p>
            <a:r>
              <a:rPr lang="en-US" sz="2400" b="1" dirty="0" smtClean="0"/>
              <a:t>Multilevel Inheritance:</a:t>
            </a:r>
            <a:r>
              <a:rPr lang="en-US" sz="2400" dirty="0" smtClean="0"/>
              <a:t> Class C extends B, Class B extends A.</a:t>
            </a:r>
          </a:p>
          <a:p>
            <a:pPr>
              <a:buNone/>
            </a:pPr>
            <a:r>
              <a:rPr lang="en-US" sz="2400" b="1" dirty="0" smtClean="0"/>
              <a:t>Designing Hierarchies:</a:t>
            </a:r>
            <a:endParaRPr lang="en-US" sz="2400" dirty="0" smtClean="0"/>
          </a:p>
          <a:p>
            <a:r>
              <a:rPr lang="en-US" sz="2400" b="1" dirty="0" smtClean="0"/>
              <a:t>Generalization:</a:t>
            </a:r>
            <a:r>
              <a:rPr lang="en-US" sz="2400" dirty="0" smtClean="0"/>
              <a:t> Moving common code up to the parent (</a:t>
            </a:r>
            <a:r>
              <a:rPr lang="en-US" sz="2400" dirty="0" err="1" smtClean="0"/>
              <a:t>Superclass</a:t>
            </a:r>
            <a:r>
              <a:rPr lang="en-US" sz="2400" dirty="0" smtClean="0"/>
              <a:t>).</a:t>
            </a:r>
          </a:p>
          <a:p>
            <a:r>
              <a:rPr lang="en-US" sz="2400" b="1" dirty="0" smtClean="0"/>
              <a:t>Specialization:</a:t>
            </a:r>
            <a:r>
              <a:rPr lang="en-US" sz="2400" dirty="0" smtClean="0"/>
              <a:t> Adding specific features in the child (Subclass).</a:t>
            </a:r>
          </a:p>
          <a:p>
            <a:r>
              <a:rPr lang="en-US" sz="2400" b="1" dirty="0" smtClean="0"/>
              <a:t>Depth vs. Width:</a:t>
            </a:r>
            <a:r>
              <a:rPr lang="en-US" sz="2400" dirty="0" smtClean="0"/>
              <a:t> Prefer wider hierarchies over deep ones (Deep trees are fragile).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928694"/>
          </a:xfrm>
        </p:spPr>
        <p:txBody>
          <a:bodyPr/>
          <a:lstStyle/>
          <a:p>
            <a:r>
              <a:rPr lang="en-US" b="1" dirty="0" smtClean="0"/>
              <a:t>Class Hierarchy Design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1285860"/>
            <a:ext cx="5286412" cy="49117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Visualizing the Hierarchy: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Object</a:t>
            </a:r>
          </a:p>
          <a:p>
            <a:pPr>
              <a:buNone/>
            </a:pPr>
            <a:r>
              <a:rPr lang="en-US" sz="2400" dirty="0" smtClean="0"/>
              <a:t>        ↑</a:t>
            </a:r>
          </a:p>
          <a:p>
            <a:pPr>
              <a:buNone/>
            </a:pPr>
            <a:r>
              <a:rPr lang="en-US" sz="2400" dirty="0" smtClean="0"/>
              <a:t>      Animal (Abstract/Common behavior)</a:t>
            </a:r>
          </a:p>
          <a:p>
            <a:pPr>
              <a:buNone/>
            </a:pPr>
            <a:r>
              <a:rPr lang="en-US" sz="2400" dirty="0" smtClean="0"/>
              <a:t>        ↑</a:t>
            </a:r>
          </a:p>
          <a:p>
            <a:pPr>
              <a:buNone/>
            </a:pPr>
            <a:r>
              <a:rPr lang="en-US" sz="2400" dirty="0" smtClean="0"/>
              <a:t>       Dog  (Specific behavior)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47602"/>
            <a:ext cx="8786874" cy="595316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Integrated Case Study: University 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42918"/>
            <a:ext cx="8715436" cy="5000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Combining Abstraction, Encapsulation, and Inheritance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14282" y="1214422"/>
            <a:ext cx="87154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Person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private String name; 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Encapsulated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Person(String name) { this.name = name; 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String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 { return name; 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Student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Person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studentId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Specific data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Student(String name,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id)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(name); </a:t>
            </a:r>
            <a:r>
              <a:rPr lang="en-US" sz="16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Constructor Chaining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.studentId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id;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enrollCourse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(String course)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 + " enrolled in " + course);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List&lt;Person&gt;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campusMembers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ArrayList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&lt;&gt;();</a:t>
            </a:r>
          </a:p>
          <a:p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campusMembers.add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smtClean="0">
                <a:solidFill>
                  <a:srgbClr val="5832F8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Student("Alice", 101));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142852"/>
            <a:ext cx="8715436" cy="71438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Common Pitfalls in Java OOP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000108"/>
            <a:ext cx="8715436" cy="571504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/>
              <a:t>1. Breaking Encapsulation:</a:t>
            </a:r>
            <a:endParaRPr lang="en-US" dirty="0" smtClean="0"/>
          </a:p>
          <a:p>
            <a:r>
              <a:rPr lang="en-US" dirty="0" smtClean="0"/>
              <a:t>❌ public </a:t>
            </a:r>
            <a:r>
              <a:rPr lang="en-US" dirty="0" err="1" smtClean="0"/>
              <a:t>int</a:t>
            </a:r>
            <a:r>
              <a:rPr lang="en-US" dirty="0" smtClean="0"/>
              <a:t> balance; (Allows invalid state)</a:t>
            </a:r>
          </a:p>
          <a:p>
            <a:r>
              <a:rPr lang="en-US" dirty="0" smtClean="0"/>
              <a:t>✅ private </a:t>
            </a:r>
            <a:r>
              <a:rPr lang="en-US" dirty="0" err="1" smtClean="0"/>
              <a:t>int</a:t>
            </a:r>
            <a:r>
              <a:rPr lang="en-US" dirty="0" smtClean="0"/>
              <a:t> balance; + public void deposit()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 smtClean="0"/>
              <a:t>2. Inheritance Abuse:</a:t>
            </a:r>
            <a:endParaRPr lang="en-US" dirty="0" smtClean="0"/>
          </a:p>
          <a:p>
            <a:r>
              <a:rPr lang="en-US" dirty="0" smtClean="0"/>
              <a:t>❌ class Stack extends Vector (Stack is not a Vector)</a:t>
            </a:r>
          </a:p>
          <a:p>
            <a:r>
              <a:rPr lang="en-US" dirty="0" smtClean="0"/>
              <a:t>✅ class Stack { private Vector data; } (Composition)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 smtClean="0"/>
              <a:t>3. Fragile Base Class Problem:</a:t>
            </a:r>
            <a:endParaRPr lang="en-US" dirty="0" smtClean="0"/>
          </a:p>
          <a:p>
            <a:r>
              <a:rPr lang="en-US" dirty="0" smtClean="0"/>
              <a:t>Changing logic in the Parent class can unintentionally break Child classes.</a:t>
            </a:r>
          </a:p>
          <a:p>
            <a:r>
              <a:rPr lang="en-US" b="1" dirty="0" smtClean="0"/>
              <a:t>Solution:</a:t>
            </a:r>
            <a:r>
              <a:rPr lang="en-US" dirty="0" smtClean="0"/>
              <a:t> Favor composition over inheritance when possible.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 smtClean="0"/>
              <a:t>4. God Classes:</a:t>
            </a:r>
            <a:endParaRPr lang="en-US" dirty="0" smtClean="0"/>
          </a:p>
          <a:p>
            <a:r>
              <a:rPr lang="en-US" dirty="0" smtClean="0"/>
              <a:t>A class that knows too much or does too much (violates abstraction).</a:t>
            </a:r>
          </a:p>
          <a:p>
            <a:r>
              <a:rPr lang="en-US" b="1" dirty="0" smtClean="0"/>
              <a:t>Solution:</a:t>
            </a:r>
            <a:r>
              <a:rPr lang="en-US" dirty="0" smtClean="0"/>
              <a:t> Split into smaller, focused classes.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071570"/>
          </a:xfrm>
        </p:spPr>
        <p:txBody>
          <a:bodyPr>
            <a:normAutofit/>
          </a:bodyPr>
          <a:lstStyle/>
          <a:p>
            <a:r>
              <a:rPr lang="en-US" b="1" dirty="0" smtClean="0"/>
              <a:t>Summary &amp; Key Takeaways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643998" cy="535785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 smtClean="0"/>
              <a:t>Abstraction focuses on what an object does; ADTs (like Java Collections) allow swapping implementations without breaking code.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 smtClean="0"/>
              <a:t>Encapsulation protects object integrity using private fields and public methods with validation.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 smtClean="0"/>
              <a:t>Inheritance promotes code reuse via extends but requires careful design of constructors (super) and hierarchies.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 smtClean="0"/>
              <a:t>Design Rule: Use inheritance for "Is-A" relationships; use composition for "Has-A" relationships.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300" dirty="0" smtClean="0"/>
              <a:t>Java Specific: All classes inherit from Object; single class inheritance is enforced.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en-US" b="1" dirty="0" smtClean="0"/>
              <a:t>Q&amp;A and Discussion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❓ Question: was inheritance used incorrectly?</a:t>
            </a:r>
          </a:p>
          <a:p>
            <a:pPr>
              <a:buNone/>
            </a:pPr>
            <a:r>
              <a:rPr lang="en-US" sz="2400" dirty="0" smtClean="0"/>
              <a:t>   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Square extends Rectangle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❓ </a:t>
            </a:r>
            <a:r>
              <a:rPr lang="en-US" sz="2400" dirty="0" smtClean="0"/>
              <a:t>Question: Why does Java not support multiple class inheritance?</a:t>
            </a:r>
          </a:p>
          <a:p>
            <a:pPr>
              <a:buNone/>
            </a:pPr>
            <a:r>
              <a:rPr lang="en-US" sz="2400" dirty="0" smtClean="0"/>
              <a:t>❓ Question: When should I use protected </a:t>
            </a:r>
            <a:r>
              <a:rPr lang="en-US" sz="2400" dirty="0" err="1" smtClean="0"/>
              <a:t>vs</a:t>
            </a:r>
            <a:r>
              <a:rPr lang="en-US" sz="2400" dirty="0" smtClean="0"/>
              <a:t> private in a parent class?</a:t>
            </a:r>
          </a:p>
          <a:p>
            <a:pPr>
              <a:buNone/>
            </a:pPr>
            <a:r>
              <a:rPr lang="en-US" sz="2400" dirty="0" smtClean="0"/>
              <a:t>❓ Question: How does encapsulation help with unit testing?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💬 Discussion: Share a time when changing a parent class broke your child classes.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1199</Words>
  <Application>Microsoft Office PowerPoint</Application>
  <PresentationFormat>On-screen Show (4:3)</PresentationFormat>
  <Paragraphs>241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Core OOP Concepts in Java</vt:lpstr>
      <vt:lpstr>Learning Objectives</vt:lpstr>
      <vt:lpstr>OOP in the Java Context</vt:lpstr>
      <vt:lpstr>OOP in the Java Context</vt:lpstr>
      <vt:lpstr>Data Abstraction (Concept)</vt:lpstr>
      <vt:lpstr>Abstract Data Types (ADT) in Java</vt:lpstr>
      <vt:lpstr>Encapsulation (The Mechanism)</vt:lpstr>
      <vt:lpstr>Encapsulation (The Mechanism)</vt:lpstr>
      <vt:lpstr>Encapsulation (Implementation Example)</vt:lpstr>
      <vt:lpstr>Inheritance (Basics)</vt:lpstr>
      <vt:lpstr>Inheritance (Basics)</vt:lpstr>
      <vt:lpstr>Inheritance &amp; Constructors</vt:lpstr>
      <vt:lpstr>Inheritance &amp; Constructors</vt:lpstr>
      <vt:lpstr>Class Hierarchy Design</vt:lpstr>
      <vt:lpstr>Class Hierarchy Design</vt:lpstr>
      <vt:lpstr>Integrated Case Study: University System</vt:lpstr>
      <vt:lpstr>Common Pitfalls in Java OOP</vt:lpstr>
      <vt:lpstr>Summary &amp; Key Takeaways</vt:lpstr>
      <vt:lpstr>Q&amp;A and Discussion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90</cp:revision>
  <dcterms:created xsi:type="dcterms:W3CDTF">2026-02-15T10:58:32Z</dcterms:created>
  <dcterms:modified xsi:type="dcterms:W3CDTF">2026-02-22T13:04:55Z</dcterms:modified>
</cp:coreProperties>
</file>