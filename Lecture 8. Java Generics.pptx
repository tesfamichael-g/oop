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32F8"/>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7994" autoAdjust="0"/>
    <p:restoredTop sz="88741" autoAdjust="0"/>
  </p:normalViewPr>
  <p:slideViewPr>
    <p:cSldViewPr>
      <p:cViewPr>
        <p:scale>
          <a:sx n="66" d="100"/>
          <a:sy n="66" d="100"/>
        </p:scale>
        <p:origin x="-2203" y="-259"/>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0B2BA9-4FD0-4DC4-B70B-93231BE247F2}" type="datetimeFigureOut">
              <a:rPr lang="en-US" smtClean="0"/>
              <a:pPr/>
              <a:t>3/12/2026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E36570-A967-4EBE-9949-A932A1A992F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"Generics were introduced in Java 5. Before this, collections could hold anything, leading to runtime errors. Today, we learn how to make the compiler catch those errors for us."</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Diagram showing a box labeled "List" containing mixed shapes (Circle, Square), and a hand trying to pull a Square out expecting a Circle.</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"Imagine a box labeled 'Apples'. If I put an 'Orange' in it, the box doesn't complain. But when I reach in expecting an Apple and bite into an Orange, that's a runtime crash. Generics label the box so the compiler stops me from putting the Orange in."</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Visual Suggestion:</a:t>
            </a:r>
          </a:p>
          <a:p>
            <a:r>
              <a:rPr lang="en-US" dirty="0" smtClean="0"/>
              <a:t>Side-by-side comparison of "Raw Type" vs. "Generic Type" code with green checkmarks/red crosses.</a:t>
            </a:r>
          </a:p>
          <a:p>
            <a:r>
              <a:rPr lang="en-US" dirty="0" smtClean="0"/>
              <a:t>Speaker Notes:</a:t>
            </a:r>
          </a:p>
          <a:p>
            <a:r>
              <a:rPr lang="en-US" dirty="0" smtClean="0"/>
              <a:t>"With generics, the compiler ensures that only Strings go into this list. If you try to add an Integer, the code won't even compile. This shifts errors from Runtime to Compile-time."</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a:t>
            </a:r>
            <a:r>
              <a:rPr lang="en-US" dirty="0" smtClean="0"/>
              <a:t>T</a:t>
            </a:r>
            <a:r>
              <a:rPr lang="en-US" sz="1200" b="0" i="0" kern="1200" dirty="0" smtClean="0">
                <a:solidFill>
                  <a:schemeClr val="tx1"/>
                </a:solidFill>
                <a:latin typeface="+mn-lt"/>
                <a:ea typeface="+mn-ea"/>
                <a:cs typeface="+mn-cs"/>
              </a:rPr>
              <a:t> is a placeholder. When you create </a:t>
            </a:r>
            <a:r>
              <a:rPr lang="en-US" dirty="0" smtClean="0"/>
              <a:t>Box&lt;Integer&gt;</a:t>
            </a:r>
            <a:r>
              <a:rPr lang="en-US" sz="1200" b="0" i="0" kern="1200" dirty="0" smtClean="0">
                <a:solidFill>
                  <a:schemeClr val="tx1"/>
                </a:solidFill>
                <a:latin typeface="+mn-lt"/>
                <a:ea typeface="+mn-ea"/>
                <a:cs typeface="+mn-cs"/>
              </a:rPr>
              <a:t>, everywhere </a:t>
            </a:r>
            <a:r>
              <a:rPr lang="en-US" dirty="0" smtClean="0"/>
              <a:t>T</a:t>
            </a:r>
            <a:r>
              <a:rPr lang="en-US" sz="1200" b="0" i="0" kern="1200" dirty="0" smtClean="0">
                <a:solidFill>
                  <a:schemeClr val="tx1"/>
                </a:solidFill>
                <a:latin typeface="+mn-lt"/>
                <a:ea typeface="+mn-ea"/>
                <a:cs typeface="+mn-cs"/>
              </a:rPr>
              <a:t> appears, it becomes </a:t>
            </a:r>
            <a:r>
              <a:rPr lang="en-US" dirty="0" smtClean="0"/>
              <a:t>Integer</a:t>
            </a:r>
            <a:r>
              <a:rPr lang="en-US" sz="1200" b="0" i="0" kern="1200" dirty="0" smtClean="0">
                <a:solidFill>
                  <a:schemeClr val="tx1"/>
                </a:solidFill>
                <a:latin typeface="+mn-lt"/>
                <a:ea typeface="+mn-ea"/>
                <a:cs typeface="+mn-cs"/>
              </a:rPr>
              <a:t>. You can create </a:t>
            </a:r>
            <a:r>
              <a:rPr lang="en-US" dirty="0" smtClean="0"/>
              <a:t>Box&lt;String&gt;</a:t>
            </a:r>
            <a:r>
              <a:rPr lang="en-US" sz="1200" b="0" i="0" kern="1200" dirty="0" smtClean="0">
                <a:solidFill>
                  <a:schemeClr val="tx1"/>
                </a:solidFill>
                <a:latin typeface="+mn-lt"/>
                <a:ea typeface="+mn-ea"/>
                <a:cs typeface="+mn-cs"/>
              </a:rPr>
              <a:t>, </a:t>
            </a:r>
            <a:r>
              <a:rPr lang="en-US" dirty="0" smtClean="0"/>
              <a:t>Box&lt;Double&gt;</a:t>
            </a:r>
            <a:r>
              <a:rPr lang="en-US" sz="1200" b="0" i="0" kern="1200" dirty="0" smtClean="0">
                <a:solidFill>
                  <a:schemeClr val="tx1"/>
                </a:solidFill>
                <a:latin typeface="+mn-lt"/>
                <a:ea typeface="+mn-ea"/>
                <a:cs typeface="+mn-cs"/>
              </a:rPr>
              <a:t>, etc., from the same class definition."</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"Notice the &lt;T&gt; before void. This tells the compiler 'this method uses a type T'. This is useful for utility methods that operate on arrays or collections of unknown types."</a:t>
            </a:r>
          </a:p>
        </p:txBody>
      </p:sp>
      <p:sp>
        <p:nvSpPr>
          <p:cNvPr id="4" name="Slide Number Placeholder 3"/>
          <p:cNvSpPr>
            <a:spLocks noGrp="1"/>
          </p:cNvSpPr>
          <p:nvPr>
            <p:ph type="sldNum" sz="quarter" idx="10"/>
          </p:nvPr>
        </p:nvSpPr>
        <p:spPr/>
        <p:txBody>
          <a:bodyPr/>
          <a:lstStyle/>
          <a:p>
            <a:fld id="{5DE36570-A967-4EBE-9949-A932A1A992FB}"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Highlight the &lt; &gt; on the right side of the assignment.</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"This makes code much cleaner. The compiler looks at the left side (List&lt;String&gt;) and knows the right side must be </a:t>
            </a:r>
            <a:r>
              <a:rPr lang="en-US" sz="1200" b="0" i="0" kern="1200" dirty="0" err="1" smtClean="0">
                <a:solidFill>
                  <a:schemeClr val="tx1"/>
                </a:solidFill>
                <a:latin typeface="+mn-lt"/>
                <a:ea typeface="+mn-ea"/>
                <a:cs typeface="+mn-cs"/>
              </a:rPr>
              <a:t>ArrayList</a:t>
            </a:r>
            <a:r>
              <a:rPr lang="en-US" sz="1200" b="0" i="0" kern="1200" dirty="0" smtClean="0">
                <a:solidFill>
                  <a:schemeClr val="tx1"/>
                </a:solidFill>
                <a:latin typeface="+mn-lt"/>
                <a:ea typeface="+mn-ea"/>
                <a:cs typeface="+mn-cs"/>
              </a:rPr>
              <a:t>&lt;String&gt;. You only need to type it once."</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"If T was just Object, you couldn't call </a:t>
            </a:r>
            <a:r>
              <a:rPr lang="en-US" sz="1200" b="0" i="0" kern="1200" dirty="0" err="1" smtClean="0">
                <a:solidFill>
                  <a:schemeClr val="tx1"/>
                </a:solidFill>
                <a:latin typeface="+mn-lt"/>
                <a:ea typeface="+mn-ea"/>
                <a:cs typeface="+mn-cs"/>
              </a:rPr>
              <a:t>doubleValue</a:t>
            </a:r>
            <a:r>
              <a:rPr lang="en-US" sz="1200" b="0" i="0" kern="1200" dirty="0" smtClean="0">
                <a:solidFill>
                  <a:schemeClr val="tx1"/>
                </a:solidFill>
                <a:latin typeface="+mn-lt"/>
                <a:ea typeface="+mn-ea"/>
                <a:cs typeface="+mn-cs"/>
              </a:rPr>
              <a:t>(). By bounding T to Number, you guarantee that any type used here has math capabilities."</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Icon of a question mark inside a box.</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"List&lt;?&gt; means 'a list of something'. You can read from it (as Objects), but you can't write to it because the compiler doesn't know if it's a List of Strings or Integers."</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"This is the hardest part of Generics. Remember PECS. If you need to read data out, use extends. If you need to write data in, use super. If you need both, don't use wildcards; use a specific type."</a:t>
            </a:r>
          </a:p>
          <a:p>
            <a:r>
              <a:rPr lang="en-US" dirty="0" smtClean="0"/>
              <a:t>// Producer (Read-only)</a:t>
            </a:r>
          </a:p>
          <a:p>
            <a:r>
              <a:rPr lang="en-US" dirty="0" smtClean="0"/>
              <a:t>void process(List&lt;? extends Number&gt; list) { </a:t>
            </a:r>
          </a:p>
          <a:p>
            <a:r>
              <a:rPr lang="en-US" dirty="0" smtClean="0"/>
              <a:t>    Number n = </a:t>
            </a:r>
            <a:r>
              <a:rPr lang="en-US" dirty="0" err="1" smtClean="0"/>
              <a:t>list.get</a:t>
            </a:r>
            <a:r>
              <a:rPr lang="en-US" dirty="0" smtClean="0"/>
              <a:t>(0); // OK</a:t>
            </a:r>
          </a:p>
          <a:p>
            <a:r>
              <a:rPr lang="en-US" dirty="0" smtClean="0"/>
              <a:t>    // </a:t>
            </a:r>
            <a:r>
              <a:rPr lang="en-US" dirty="0" err="1" smtClean="0"/>
              <a:t>list.add</a:t>
            </a:r>
            <a:r>
              <a:rPr lang="en-US" dirty="0" smtClean="0"/>
              <a:t>(1); // Compile Error</a:t>
            </a:r>
          </a:p>
          <a:p>
            <a:r>
              <a:rPr lang="en-US" dirty="0" smtClean="0"/>
              <a:t>}</a:t>
            </a:r>
          </a:p>
          <a:p>
            <a:endParaRPr lang="en-US" dirty="0" smtClean="0"/>
          </a:p>
          <a:p>
            <a:r>
              <a:rPr lang="en-US" dirty="0" smtClean="0"/>
              <a:t>// Consumer (Write-only)</a:t>
            </a:r>
          </a:p>
          <a:p>
            <a:r>
              <a:rPr lang="en-US" dirty="0" smtClean="0"/>
              <a:t>void </a:t>
            </a:r>
            <a:r>
              <a:rPr lang="en-US" dirty="0" err="1" smtClean="0"/>
              <a:t>addNumbers</a:t>
            </a:r>
            <a:r>
              <a:rPr lang="en-US" dirty="0" smtClean="0"/>
              <a:t>(List&lt;? super Integer&gt; list) {</a:t>
            </a:r>
          </a:p>
          <a:p>
            <a:r>
              <a:rPr lang="en-US" dirty="0" smtClean="0"/>
              <a:t>    </a:t>
            </a:r>
            <a:r>
              <a:rPr lang="en-US" dirty="0" err="1" smtClean="0"/>
              <a:t>list.add</a:t>
            </a:r>
            <a:r>
              <a:rPr lang="en-US" dirty="0" smtClean="0"/>
              <a:t>(10); // OK</a:t>
            </a:r>
          </a:p>
          <a:p>
            <a:r>
              <a:rPr lang="en-US" dirty="0" smtClean="0"/>
              <a:t>    // Integer </a:t>
            </a:r>
            <a:r>
              <a:rPr lang="en-US" dirty="0" err="1" smtClean="0"/>
              <a:t>i</a:t>
            </a:r>
            <a:r>
              <a:rPr lang="en-US" dirty="0" smtClean="0"/>
              <a:t> = </a:t>
            </a:r>
            <a:r>
              <a:rPr lang="en-US" dirty="0" err="1" smtClean="0"/>
              <a:t>list.get</a:t>
            </a:r>
            <a:r>
              <a:rPr lang="en-US" dirty="0" smtClean="0"/>
              <a:t>(0); // Returns Object, not Integer</a:t>
            </a:r>
          </a:p>
          <a:p>
            <a:r>
              <a:rPr lang="en-US" dirty="0" smtClean="0"/>
              <a:t>}</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Diagram showing Source Code (&lt;String&gt;) -&gt; Compiler -&gt; </a:t>
            </a:r>
            <a:r>
              <a:rPr lang="en-US" sz="1200" b="0" i="0" kern="1200" dirty="0" err="1" smtClean="0">
                <a:solidFill>
                  <a:schemeClr val="tx1"/>
                </a:solidFill>
                <a:latin typeface="+mn-lt"/>
                <a:ea typeface="+mn-ea"/>
                <a:cs typeface="+mn-cs"/>
              </a:rPr>
              <a:t>Bytecode</a:t>
            </a:r>
            <a:r>
              <a:rPr lang="en-US" sz="1200" b="0" i="0" kern="1200" dirty="0" smtClean="0">
                <a:solidFill>
                  <a:schemeClr val="tx1"/>
                </a:solidFill>
                <a:latin typeface="+mn-lt"/>
                <a:ea typeface="+mn-ea"/>
                <a:cs typeface="+mn-cs"/>
              </a:rPr>
              <a:t> (Object + casts).</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"Generics exist only to help the compiler. Once compiled, the type information is erased. This is why you can't do new T(). The JVM doesn't know what T is at runtime."</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Visual Suggestion:</a:t>
            </a:r>
          </a:p>
          <a:p>
            <a:r>
              <a:rPr lang="en-US" dirty="0" smtClean="0"/>
              <a:t>Icons representing List (ordered), Set (unique), Map (key-value).</a:t>
            </a:r>
          </a:p>
          <a:p>
            <a:r>
              <a:rPr lang="en-US" dirty="0" smtClean="0"/>
              <a:t>Speaker Notes:</a:t>
            </a:r>
          </a:p>
          <a:p>
            <a:r>
              <a:rPr lang="en-US" dirty="0" smtClean="0"/>
              <a:t>"This is where you will use generics 90% of the time. Never declare a Collection without a type parameter in modern Java. It defeats the purpose of type safety."</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Checklist graphic.</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"Raw types exist for backward compatibility. Don't use them. Also, remember wrappers: </a:t>
            </a:r>
            <a:r>
              <a:rPr lang="en-US" sz="1200" b="0" i="0" kern="1200" dirty="0" err="1" smtClean="0">
                <a:solidFill>
                  <a:schemeClr val="tx1"/>
                </a:solidFill>
                <a:latin typeface="+mn-lt"/>
                <a:ea typeface="+mn-ea"/>
                <a:cs typeface="+mn-cs"/>
              </a:rPr>
              <a:t>int</a:t>
            </a:r>
            <a:r>
              <a:rPr lang="en-US" sz="1200" b="0" i="0" kern="1200" dirty="0" smtClean="0">
                <a:solidFill>
                  <a:schemeClr val="tx1"/>
                </a:solidFill>
                <a:latin typeface="+mn-lt"/>
                <a:ea typeface="+mn-ea"/>
                <a:cs typeface="+mn-cs"/>
              </a:rPr>
              <a:t> becomes Integer, double becomes Double."</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"The </a:t>
            </a:r>
            <a:r>
              <a:rPr lang="en-US" dirty="0" smtClean="0"/>
              <a:t>Pair</a:t>
            </a:r>
            <a:r>
              <a:rPr lang="en-US" sz="1200" b="0" i="0" kern="1200" dirty="0" smtClean="0">
                <a:solidFill>
                  <a:schemeClr val="tx1"/>
                </a:solidFill>
                <a:latin typeface="+mn-lt"/>
                <a:ea typeface="+mn-ea"/>
                <a:cs typeface="+mn-cs"/>
              </a:rPr>
              <a:t> class is a classic example. It forces you to handle two different type parameters. The </a:t>
            </a:r>
            <a:r>
              <a:rPr lang="en-US" dirty="0" smtClean="0"/>
              <a:t>swap</a:t>
            </a:r>
            <a:r>
              <a:rPr lang="en-US" sz="1200" b="0" i="0" kern="1200" dirty="0" smtClean="0">
                <a:solidFill>
                  <a:schemeClr val="tx1"/>
                </a:solidFill>
                <a:latin typeface="+mn-lt"/>
                <a:ea typeface="+mn-ea"/>
                <a:cs typeface="+mn-cs"/>
              </a:rPr>
              <a:t> challenge tests your understanding of returning generic types."</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3931D62-7DF2-4DB4-910C-5841F65C3738}"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931D62-7DF2-4DB4-910C-5841F65C3738}"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931D62-7DF2-4DB4-910C-5841F65C3738}" type="datetimeFigureOut">
              <a:rPr lang="en-US" smtClean="0"/>
              <a:pPr/>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931D62-7DF2-4DB4-910C-5841F65C3738}" type="datetimeFigureOut">
              <a:rPr lang="en-US" smtClean="0"/>
              <a:pPr/>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931D62-7DF2-4DB4-910C-5841F65C3738}" type="datetimeFigureOut">
              <a:rPr lang="en-US" smtClean="0"/>
              <a:pPr/>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931D62-7DF2-4DB4-910C-5841F65C3738}"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931D62-7DF2-4DB4-910C-5841F65C3738}"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931D62-7DF2-4DB4-910C-5841F65C3738}" type="datetimeFigureOut">
              <a:rPr lang="en-US" smtClean="0"/>
              <a:pPr/>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B081F2-7D72-46A6-BEAC-1147620A3BD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642918"/>
            <a:ext cx="8358246" cy="2171714"/>
          </a:xfrm>
        </p:spPr>
        <p:txBody>
          <a:bodyPr>
            <a:noAutofit/>
          </a:bodyPr>
          <a:lstStyle/>
          <a:p>
            <a:r>
              <a:rPr lang="en-US" sz="4800" b="1" dirty="0" smtClean="0"/>
              <a:t>Java </a:t>
            </a:r>
            <a:r>
              <a:rPr lang="en-US" sz="4800" b="1" dirty="0" smtClean="0"/>
              <a:t>Generics</a:t>
            </a:r>
            <a:endParaRPr lang="en-US"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Title 1"/>
          <p:cNvSpPr txBox="1">
            <a:spLocks/>
          </p:cNvSpPr>
          <p:nvPr/>
        </p:nvSpPr>
        <p:spPr>
          <a:xfrm>
            <a:off x="428596" y="3143248"/>
            <a:ext cx="8358246" cy="2171714"/>
          </a:xfrm>
          <a:prstGeom prst="rect">
            <a:avLst/>
          </a:prstGeom>
        </p:spPr>
        <p:txBody>
          <a:bodyPr vert="horz" lIns="91440" tIns="45720" rIns="91440" bIns="45720" rtlCol="0" anchor="ctr">
            <a:noAutofit/>
          </a:bodyPr>
          <a:lstStyle/>
          <a:p>
            <a:pPr lvl="0" algn="ctr">
              <a:spcBef>
                <a:spcPct val="0"/>
              </a:spcBef>
            </a:pPr>
            <a:r>
              <a:rPr lang="en-US" sz="3600" dirty="0" smtClean="0"/>
              <a:t>Writing Type-Safe, Reusable Code</a:t>
            </a:r>
            <a:endParaRPr kumimoji="0" lang="en-US" sz="36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Learning Objectives</a:t>
            </a:r>
            <a:br>
              <a:rPr lang="en-US" b="1" dirty="0" smtClean="0"/>
            </a:br>
            <a:endParaRPr lang="en-US" dirty="0"/>
          </a:p>
        </p:txBody>
      </p:sp>
      <p:sp>
        <p:nvSpPr>
          <p:cNvPr id="3" name="Content Placeholder 2"/>
          <p:cNvSpPr>
            <a:spLocks noGrp="1"/>
          </p:cNvSpPr>
          <p:nvPr>
            <p:ph idx="1"/>
          </p:nvPr>
        </p:nvSpPr>
        <p:spPr>
          <a:xfrm>
            <a:off x="457200" y="1374779"/>
            <a:ext cx="8229600" cy="4911741"/>
          </a:xfrm>
        </p:spPr>
        <p:txBody>
          <a:bodyPr>
            <a:normAutofit fontScale="92500" lnSpcReduction="10000"/>
          </a:bodyPr>
          <a:lstStyle/>
          <a:p>
            <a:pPr>
              <a:spcBef>
                <a:spcPts val="600"/>
              </a:spcBef>
              <a:spcAft>
                <a:spcPts val="600"/>
              </a:spcAft>
            </a:pPr>
            <a:r>
              <a:rPr lang="en-US" dirty="0" smtClean="0"/>
              <a:t>What </a:t>
            </a:r>
            <a:r>
              <a:rPr lang="en-US" dirty="0" smtClean="0"/>
              <a:t>We Will Learn</a:t>
            </a:r>
          </a:p>
          <a:p>
            <a:pPr lvl="1">
              <a:spcBef>
                <a:spcPts val="600"/>
              </a:spcBef>
              <a:spcAft>
                <a:spcPts val="600"/>
              </a:spcAft>
            </a:pPr>
            <a:r>
              <a:rPr lang="en-US" dirty="0" smtClean="0"/>
              <a:t>Understand the problem Generics solve (Type Safety).</a:t>
            </a:r>
          </a:p>
          <a:p>
            <a:pPr lvl="1">
              <a:spcBef>
                <a:spcPts val="600"/>
              </a:spcBef>
              <a:spcAft>
                <a:spcPts val="600"/>
              </a:spcAft>
            </a:pPr>
            <a:r>
              <a:rPr lang="en-US" dirty="0" smtClean="0"/>
              <a:t>Define and implement </a:t>
            </a:r>
            <a:r>
              <a:rPr lang="en-US" b="1" dirty="0" smtClean="0"/>
              <a:t>Generic Classes</a:t>
            </a:r>
            <a:r>
              <a:rPr lang="en-US" dirty="0" smtClean="0"/>
              <a:t>.</a:t>
            </a:r>
          </a:p>
          <a:p>
            <a:pPr lvl="1">
              <a:spcBef>
                <a:spcPts val="600"/>
              </a:spcBef>
              <a:spcAft>
                <a:spcPts val="600"/>
              </a:spcAft>
            </a:pPr>
            <a:r>
              <a:rPr lang="en-US" dirty="0" smtClean="0"/>
              <a:t>Define and implement </a:t>
            </a:r>
            <a:r>
              <a:rPr lang="en-US" b="1" dirty="0" smtClean="0"/>
              <a:t>Generic Methods</a:t>
            </a:r>
            <a:r>
              <a:rPr lang="en-US" dirty="0" smtClean="0"/>
              <a:t>.</a:t>
            </a:r>
          </a:p>
          <a:p>
            <a:pPr lvl="1">
              <a:spcBef>
                <a:spcPts val="600"/>
              </a:spcBef>
              <a:spcAft>
                <a:spcPts val="600"/>
              </a:spcAft>
            </a:pPr>
            <a:r>
              <a:rPr lang="en-US" dirty="0" smtClean="0"/>
              <a:t>Use the </a:t>
            </a:r>
            <a:r>
              <a:rPr lang="en-US" b="1" dirty="0" smtClean="0"/>
              <a:t>Diamond Operator</a:t>
            </a:r>
            <a:r>
              <a:rPr lang="en-US" dirty="0" smtClean="0"/>
              <a:t> (&lt;&gt;).</a:t>
            </a:r>
          </a:p>
          <a:p>
            <a:pPr lvl="1">
              <a:spcBef>
                <a:spcPts val="600"/>
              </a:spcBef>
              <a:spcAft>
                <a:spcPts val="600"/>
              </a:spcAft>
            </a:pPr>
            <a:r>
              <a:rPr lang="en-US" dirty="0" smtClean="0"/>
              <a:t>Understand </a:t>
            </a:r>
            <a:r>
              <a:rPr lang="en-US" b="1" dirty="0" smtClean="0"/>
              <a:t>Bounded Type Parameters</a:t>
            </a:r>
            <a:r>
              <a:rPr lang="en-US" dirty="0" smtClean="0"/>
              <a:t>.</a:t>
            </a:r>
          </a:p>
          <a:p>
            <a:pPr lvl="1">
              <a:spcBef>
                <a:spcPts val="600"/>
              </a:spcBef>
              <a:spcAft>
                <a:spcPts val="600"/>
              </a:spcAft>
            </a:pPr>
            <a:r>
              <a:rPr lang="en-US" dirty="0" smtClean="0"/>
              <a:t>Master </a:t>
            </a:r>
            <a:r>
              <a:rPr lang="en-US" b="1" dirty="0" smtClean="0"/>
              <a:t>Wildcards</a:t>
            </a:r>
            <a:r>
              <a:rPr lang="en-US" dirty="0" smtClean="0"/>
              <a:t> (?, ? extends, ? super).</a:t>
            </a:r>
          </a:p>
          <a:p>
            <a:pPr lvl="1">
              <a:spcBef>
                <a:spcPts val="600"/>
              </a:spcBef>
              <a:spcAft>
                <a:spcPts val="600"/>
              </a:spcAft>
            </a:pPr>
            <a:r>
              <a:rPr lang="en-US" dirty="0" smtClean="0"/>
              <a:t>Understand </a:t>
            </a:r>
            <a:r>
              <a:rPr lang="en-US" b="1" dirty="0" smtClean="0"/>
              <a:t>Type Erasure</a:t>
            </a:r>
            <a:r>
              <a:rPr lang="en-US" dirty="0" smtClean="0"/>
              <a:t> and limitations.</a:t>
            </a:r>
          </a:p>
          <a:p>
            <a:pPr lvl="1">
              <a:spcBef>
                <a:spcPts val="600"/>
              </a:spcBef>
              <a:spcAft>
                <a:spcPts val="600"/>
              </a:spcAft>
            </a:pPr>
            <a:r>
              <a:rPr lang="en-US" dirty="0" smtClean="0"/>
              <a:t>Apply Generics to Collections.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28694"/>
          </a:xfrm>
        </p:spPr>
        <p:txBody>
          <a:bodyPr>
            <a:normAutofit/>
          </a:bodyPr>
          <a:lstStyle/>
          <a:p>
            <a:r>
              <a:rPr lang="en-US" b="1" dirty="0" smtClean="0"/>
              <a:t>The Problem (Pre-Generics</a:t>
            </a:r>
            <a:r>
              <a:rPr lang="en-US" b="1" dirty="0" smtClean="0"/>
              <a:t>)</a:t>
            </a:r>
            <a:endParaRPr lang="en-US" dirty="0"/>
          </a:p>
        </p:txBody>
      </p:sp>
      <p:sp>
        <p:nvSpPr>
          <p:cNvPr id="3" name="Content Placeholder 2"/>
          <p:cNvSpPr>
            <a:spLocks noGrp="1"/>
          </p:cNvSpPr>
          <p:nvPr>
            <p:ph idx="1"/>
          </p:nvPr>
        </p:nvSpPr>
        <p:spPr>
          <a:xfrm>
            <a:off x="457200" y="1260491"/>
            <a:ext cx="8229600" cy="3597269"/>
          </a:xfrm>
        </p:spPr>
        <p:txBody>
          <a:bodyPr>
            <a:normAutofit/>
          </a:bodyPr>
          <a:lstStyle/>
          <a:p>
            <a:r>
              <a:rPr lang="en-US" sz="2400" dirty="0" smtClean="0"/>
              <a:t>Why </a:t>
            </a:r>
            <a:r>
              <a:rPr lang="en-US" sz="2400" dirty="0" smtClean="0"/>
              <a:t>Do We Need Generics?</a:t>
            </a:r>
          </a:p>
          <a:p>
            <a:r>
              <a:rPr lang="en-US" sz="2400" b="1" dirty="0" smtClean="0"/>
              <a:t>Before Java 5:</a:t>
            </a:r>
            <a:r>
              <a:rPr lang="en-US" sz="2400" dirty="0" smtClean="0"/>
              <a:t> Collections held Object references.</a:t>
            </a:r>
          </a:p>
          <a:p>
            <a:r>
              <a:rPr lang="en-US" sz="2400" b="1" dirty="0" smtClean="0"/>
              <a:t>Issues:</a:t>
            </a:r>
            <a:endParaRPr lang="en-US" sz="2400" dirty="0" smtClean="0"/>
          </a:p>
          <a:p>
            <a:pPr lvl="1"/>
            <a:r>
              <a:rPr lang="en-US" sz="2400" b="1" dirty="0" smtClean="0"/>
              <a:t>No Type Safety:</a:t>
            </a:r>
            <a:r>
              <a:rPr lang="en-US" sz="2400" dirty="0" smtClean="0"/>
              <a:t> You could add a String to a list of Integers.</a:t>
            </a:r>
          </a:p>
          <a:p>
            <a:pPr lvl="1"/>
            <a:r>
              <a:rPr lang="en-US" sz="2400" b="1" dirty="0" smtClean="0"/>
              <a:t>Explicit Casting:</a:t>
            </a:r>
            <a:r>
              <a:rPr lang="en-US" sz="2400" dirty="0" smtClean="0"/>
              <a:t> You had to cast objects back to their original type.</a:t>
            </a:r>
          </a:p>
          <a:p>
            <a:pPr lvl="1"/>
            <a:r>
              <a:rPr lang="en-US" sz="2400" b="1" dirty="0" smtClean="0"/>
              <a:t>Runtime Errors:</a:t>
            </a:r>
            <a:r>
              <a:rPr lang="en-US" sz="2400" dirty="0" smtClean="0"/>
              <a:t> Errors appeared only when running the code (</a:t>
            </a:r>
            <a:r>
              <a:rPr lang="en-US" sz="2400" dirty="0" err="1" smtClean="0"/>
              <a:t>ClassCastException</a:t>
            </a:r>
            <a:r>
              <a:rPr lang="en-US" sz="2400" dirty="0" smtClean="0"/>
              <a:t>).</a:t>
            </a:r>
            <a:endParaRPr lang="en-US" sz="2400" dirty="0" smtClean="0"/>
          </a:p>
        </p:txBody>
      </p:sp>
      <p:sp>
        <p:nvSpPr>
          <p:cNvPr id="4" name="Rectangle 3"/>
          <p:cNvSpPr/>
          <p:nvPr/>
        </p:nvSpPr>
        <p:spPr>
          <a:xfrm>
            <a:off x="0" y="4889384"/>
            <a:ext cx="9144000" cy="1754326"/>
          </a:xfrm>
          <a:prstGeom prst="rect">
            <a:avLst/>
          </a:prstGeom>
          <a:ln>
            <a:solidFill>
              <a:schemeClr val="accent1"/>
            </a:solidFill>
          </a:ln>
        </p:spPr>
        <p:txBody>
          <a:bodyPr wrap="square">
            <a:spAutoFit/>
          </a:bodyPr>
          <a:lstStyle/>
          <a:p>
            <a:r>
              <a:rPr lang="en-US" b="1" dirty="0" smtClean="0">
                <a:solidFill>
                  <a:schemeClr val="bg1">
                    <a:lumMod val="50000"/>
                  </a:schemeClr>
                </a:solidFill>
                <a:latin typeface="Courier New" pitchFamily="49" charset="0"/>
                <a:cs typeface="Courier New" pitchFamily="49" charset="0"/>
              </a:rPr>
              <a:t>// Pre-Generics Code</a:t>
            </a:r>
          </a:p>
          <a:p>
            <a:r>
              <a:rPr lang="en-US" b="1" dirty="0" smtClean="0">
                <a:latin typeface="Courier New" pitchFamily="49" charset="0"/>
                <a:cs typeface="Courier New" pitchFamily="49" charset="0"/>
              </a:rPr>
              <a:t>List </a:t>
            </a:r>
            <a:r>
              <a:rPr lang="en-US" b="1" dirty="0" err="1" smtClean="0">
                <a:latin typeface="Courier New" pitchFamily="49" charset="0"/>
                <a:cs typeface="Courier New" pitchFamily="49" charset="0"/>
              </a:rPr>
              <a:t>list</a:t>
            </a:r>
            <a:r>
              <a:rPr lang="en-US" b="1" dirty="0" smtClean="0">
                <a:latin typeface="Courier New" pitchFamily="49" charset="0"/>
                <a:cs typeface="Courier New" pitchFamily="49" charset="0"/>
              </a:rPr>
              <a:t> = new </a:t>
            </a:r>
            <a:r>
              <a:rPr lang="en-US" b="1" dirty="0" err="1" smtClean="0">
                <a:latin typeface="Courier New" pitchFamily="49" charset="0"/>
                <a:cs typeface="Courier New" pitchFamily="49" charset="0"/>
              </a:rPr>
              <a:t>ArrayList</a:t>
            </a:r>
            <a:r>
              <a:rPr lang="en-US" b="1" dirty="0" smtClean="0">
                <a:latin typeface="Courier New" pitchFamily="49" charset="0"/>
                <a:cs typeface="Courier New" pitchFamily="49" charset="0"/>
              </a:rPr>
              <a:t>();</a:t>
            </a:r>
          </a:p>
          <a:p>
            <a:r>
              <a:rPr lang="en-US" b="1" dirty="0" err="1" smtClean="0">
                <a:latin typeface="Courier New" pitchFamily="49" charset="0"/>
                <a:cs typeface="Courier New" pitchFamily="49" charset="0"/>
              </a:rPr>
              <a:t>list.add</a:t>
            </a:r>
            <a:r>
              <a:rPr lang="en-US" b="1" dirty="0" smtClean="0">
                <a:latin typeface="Courier New" pitchFamily="49" charset="0"/>
                <a:cs typeface="Courier New" pitchFamily="49" charset="0"/>
              </a:rPr>
              <a:t>("Hello");</a:t>
            </a:r>
          </a:p>
          <a:p>
            <a:r>
              <a:rPr lang="en-US" b="1" dirty="0" err="1" smtClean="0">
                <a:latin typeface="Courier New" pitchFamily="49" charset="0"/>
                <a:cs typeface="Courier New" pitchFamily="49" charset="0"/>
              </a:rPr>
              <a:t>list.add</a:t>
            </a:r>
            <a:r>
              <a:rPr lang="en-US" b="1" dirty="0" smtClean="0">
                <a:latin typeface="Courier New" pitchFamily="49" charset="0"/>
                <a:cs typeface="Courier New" pitchFamily="49" charset="0"/>
              </a:rPr>
              <a:t>(100); </a:t>
            </a:r>
            <a:r>
              <a:rPr lang="en-US" b="1" dirty="0" smtClean="0">
                <a:solidFill>
                  <a:schemeClr val="bg1">
                    <a:lumMod val="50000"/>
                  </a:schemeClr>
                </a:solidFill>
                <a:latin typeface="Courier New" pitchFamily="49" charset="0"/>
                <a:cs typeface="Courier New" pitchFamily="49" charset="0"/>
              </a:rPr>
              <a:t>// Compiles, but logic error</a:t>
            </a:r>
          </a:p>
          <a:p>
            <a:endParaRPr lang="en-US" b="1" dirty="0" smtClean="0">
              <a:latin typeface="Courier New" pitchFamily="49" charset="0"/>
              <a:cs typeface="Courier New" pitchFamily="49" charset="0"/>
            </a:endParaRPr>
          </a:p>
          <a:p>
            <a:r>
              <a:rPr lang="en-US" b="1" dirty="0" smtClean="0">
                <a:latin typeface="Courier New" pitchFamily="49" charset="0"/>
                <a:cs typeface="Courier New" pitchFamily="49" charset="0"/>
              </a:rPr>
              <a:t>String s = (String) </a:t>
            </a:r>
            <a:r>
              <a:rPr lang="en-US" b="1" dirty="0" err="1" smtClean="0">
                <a:latin typeface="Courier New" pitchFamily="49" charset="0"/>
                <a:cs typeface="Courier New" pitchFamily="49" charset="0"/>
              </a:rPr>
              <a:t>list.get</a:t>
            </a:r>
            <a:r>
              <a:rPr lang="en-US" b="1" dirty="0" smtClean="0">
                <a:latin typeface="Courier New" pitchFamily="49" charset="0"/>
                <a:cs typeface="Courier New" pitchFamily="49" charset="0"/>
              </a:rPr>
              <a:t>(1); </a:t>
            </a:r>
            <a:r>
              <a:rPr lang="en-US" b="1" dirty="0" smtClean="0">
                <a:solidFill>
                  <a:schemeClr val="bg1">
                    <a:lumMod val="50000"/>
                  </a:schemeClr>
                </a:solidFill>
                <a:latin typeface="Courier New" pitchFamily="49" charset="0"/>
                <a:cs typeface="Courier New" pitchFamily="49" charset="0"/>
              </a:rPr>
              <a:t>//</a:t>
            </a:r>
            <a:r>
              <a:rPr lang="en-US" b="1" dirty="0" err="1" smtClean="0">
                <a:solidFill>
                  <a:schemeClr val="bg1">
                    <a:lumMod val="50000"/>
                  </a:schemeClr>
                </a:solidFill>
                <a:latin typeface="Courier New" pitchFamily="49" charset="0"/>
                <a:cs typeface="Courier New" pitchFamily="49" charset="0"/>
              </a:rPr>
              <a:t>ClassCastException</a:t>
            </a:r>
            <a:r>
              <a:rPr lang="en-US" b="1" dirty="0" smtClean="0">
                <a:solidFill>
                  <a:schemeClr val="bg1">
                    <a:lumMod val="50000"/>
                  </a:schemeClr>
                </a:solidFill>
                <a:latin typeface="Courier New" pitchFamily="49" charset="0"/>
                <a:cs typeface="Courier New" pitchFamily="49" charset="0"/>
              </a:rPr>
              <a:t> </a:t>
            </a:r>
            <a:r>
              <a:rPr lang="en-US" b="1" dirty="0" smtClean="0">
                <a:solidFill>
                  <a:schemeClr val="bg1">
                    <a:lumMod val="50000"/>
                  </a:schemeClr>
                </a:solidFill>
                <a:latin typeface="Courier New" pitchFamily="49" charset="0"/>
                <a:cs typeface="Courier New" pitchFamily="49" charset="0"/>
              </a:rPr>
              <a:t>at Runtime!</a:t>
            </a:r>
            <a:endParaRPr lang="en-US" b="1" dirty="0">
              <a:solidFill>
                <a:schemeClr val="bg1">
                  <a:lumMod val="50000"/>
                </a:schemeClr>
              </a:solidFill>
              <a:latin typeface="Courier New" pitchFamily="49" charset="0"/>
              <a:cs typeface="Courier New" pitchFamily="49"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Introduction to </a:t>
            </a:r>
            <a:r>
              <a:rPr lang="en-US" b="1" dirty="0" smtClean="0"/>
              <a:t>Generics</a:t>
            </a:r>
            <a:endParaRPr lang="en-US" dirty="0"/>
          </a:p>
        </p:txBody>
      </p:sp>
      <p:sp>
        <p:nvSpPr>
          <p:cNvPr id="3" name="Content Placeholder 2"/>
          <p:cNvSpPr>
            <a:spLocks noGrp="1"/>
          </p:cNvSpPr>
          <p:nvPr>
            <p:ph idx="1"/>
          </p:nvPr>
        </p:nvSpPr>
        <p:spPr>
          <a:xfrm>
            <a:off x="457200" y="1600200"/>
            <a:ext cx="8229600" cy="2471741"/>
          </a:xfrm>
        </p:spPr>
        <p:txBody>
          <a:bodyPr>
            <a:normAutofit lnSpcReduction="10000"/>
          </a:bodyPr>
          <a:lstStyle/>
          <a:p>
            <a:pPr>
              <a:spcBef>
                <a:spcPts val="600"/>
              </a:spcBef>
              <a:spcAft>
                <a:spcPts val="600"/>
              </a:spcAft>
            </a:pPr>
            <a:r>
              <a:rPr lang="en-US" sz="2400" dirty="0" smtClean="0"/>
              <a:t>What </a:t>
            </a:r>
            <a:r>
              <a:rPr lang="en-US" sz="2400" dirty="0" smtClean="0"/>
              <a:t>Are Generics?</a:t>
            </a:r>
          </a:p>
          <a:p>
            <a:pPr lvl="1">
              <a:spcBef>
                <a:spcPts val="600"/>
              </a:spcBef>
              <a:spcAft>
                <a:spcPts val="600"/>
              </a:spcAft>
            </a:pPr>
            <a:r>
              <a:rPr lang="en-US" sz="2400" b="1" dirty="0" smtClean="0"/>
              <a:t>Definition:</a:t>
            </a:r>
            <a:r>
              <a:rPr lang="en-US" sz="2400" dirty="0" smtClean="0"/>
              <a:t> A way to parameterize types.</a:t>
            </a:r>
          </a:p>
          <a:p>
            <a:pPr lvl="1">
              <a:spcBef>
                <a:spcPts val="600"/>
              </a:spcBef>
              <a:spcAft>
                <a:spcPts val="600"/>
              </a:spcAft>
            </a:pPr>
            <a:r>
              <a:rPr lang="en-US" sz="2400" b="1" dirty="0" smtClean="0"/>
              <a:t>Benefit:</a:t>
            </a:r>
            <a:r>
              <a:rPr lang="en-US" sz="2400" dirty="0" smtClean="0"/>
              <a:t> Compile-time type checking.</a:t>
            </a:r>
          </a:p>
          <a:p>
            <a:pPr lvl="1">
              <a:spcBef>
                <a:spcPts val="600"/>
              </a:spcBef>
              <a:spcAft>
                <a:spcPts val="600"/>
              </a:spcAft>
            </a:pPr>
            <a:r>
              <a:rPr lang="en-US" sz="2400" b="1" dirty="0" smtClean="0"/>
              <a:t>Syntax:</a:t>
            </a:r>
            <a:r>
              <a:rPr lang="en-US" sz="2400" dirty="0" smtClean="0"/>
              <a:t> Angle brackets &lt; &gt;.</a:t>
            </a:r>
          </a:p>
          <a:p>
            <a:pPr lvl="1">
              <a:spcBef>
                <a:spcPts val="600"/>
              </a:spcBef>
              <a:spcAft>
                <a:spcPts val="600"/>
              </a:spcAft>
            </a:pPr>
            <a:r>
              <a:rPr lang="en-US" sz="2400" b="1" dirty="0" smtClean="0"/>
              <a:t>Convention:</a:t>
            </a:r>
            <a:r>
              <a:rPr lang="en-US" sz="2400" dirty="0" smtClean="0"/>
              <a:t> Use T (Type), E (Element), K (Key), V (Value).</a:t>
            </a:r>
            <a:endParaRPr lang="en-US" sz="2400" dirty="0"/>
          </a:p>
        </p:txBody>
      </p:sp>
      <p:sp>
        <p:nvSpPr>
          <p:cNvPr id="4" name="Rectangle 3"/>
          <p:cNvSpPr/>
          <p:nvPr/>
        </p:nvSpPr>
        <p:spPr>
          <a:xfrm>
            <a:off x="1000100" y="4276090"/>
            <a:ext cx="7358114" cy="1938992"/>
          </a:xfrm>
          <a:prstGeom prst="rect">
            <a:avLst/>
          </a:prstGeom>
          <a:ln>
            <a:solidFill>
              <a:schemeClr val="accent1"/>
            </a:solidFill>
          </a:ln>
        </p:spPr>
        <p:txBody>
          <a:bodyPr wrap="square">
            <a:spAutoFit/>
          </a:bodyPr>
          <a:lstStyle/>
          <a:p>
            <a:r>
              <a:rPr lang="en-US" sz="2000" b="1" dirty="0" smtClean="0">
                <a:solidFill>
                  <a:schemeClr val="bg1">
                    <a:lumMod val="50000"/>
                  </a:schemeClr>
                </a:solidFill>
                <a:latin typeface="Courier New" pitchFamily="49" charset="0"/>
                <a:cs typeface="Courier New" pitchFamily="49" charset="0"/>
              </a:rPr>
              <a:t>// Generics Code</a:t>
            </a:r>
          </a:p>
          <a:p>
            <a:r>
              <a:rPr lang="en-US" sz="2000" b="1" dirty="0" smtClean="0">
                <a:latin typeface="Courier New" pitchFamily="49" charset="0"/>
                <a:cs typeface="Courier New" pitchFamily="49" charset="0"/>
              </a:rPr>
              <a:t>List&lt;String&gt; list = new </a:t>
            </a:r>
            <a:r>
              <a:rPr lang="en-US" sz="2000" b="1" dirty="0" err="1" smtClean="0">
                <a:latin typeface="Courier New" pitchFamily="49" charset="0"/>
                <a:cs typeface="Courier New" pitchFamily="49" charset="0"/>
              </a:rPr>
              <a:t>ArrayList</a:t>
            </a:r>
            <a:r>
              <a:rPr lang="en-US" sz="2000" b="1" dirty="0" smtClean="0">
                <a:latin typeface="Courier New" pitchFamily="49" charset="0"/>
                <a:cs typeface="Courier New" pitchFamily="49" charset="0"/>
              </a:rPr>
              <a:t>&lt;&gt;();</a:t>
            </a:r>
          </a:p>
          <a:p>
            <a:r>
              <a:rPr lang="en-US" sz="2000" b="1" dirty="0" err="1" smtClean="0">
                <a:latin typeface="Courier New" pitchFamily="49" charset="0"/>
                <a:cs typeface="Courier New" pitchFamily="49" charset="0"/>
              </a:rPr>
              <a:t>list.add</a:t>
            </a:r>
            <a:r>
              <a:rPr lang="en-US" sz="2000" b="1" dirty="0" smtClean="0">
                <a:latin typeface="Courier New" pitchFamily="49" charset="0"/>
                <a:cs typeface="Courier New" pitchFamily="49" charset="0"/>
              </a:rPr>
              <a:t>("Hello");</a:t>
            </a:r>
          </a:p>
          <a:p>
            <a:r>
              <a:rPr lang="en-US" sz="2000" b="1" dirty="0" err="1" smtClean="0">
                <a:latin typeface="Courier New" pitchFamily="49" charset="0"/>
                <a:cs typeface="Courier New" pitchFamily="49" charset="0"/>
              </a:rPr>
              <a:t>list.add</a:t>
            </a:r>
            <a:r>
              <a:rPr lang="en-US" sz="2000" b="1" dirty="0" smtClean="0">
                <a:latin typeface="Courier New" pitchFamily="49" charset="0"/>
                <a:cs typeface="Courier New" pitchFamily="49" charset="0"/>
              </a:rPr>
              <a:t>(100); </a:t>
            </a:r>
            <a:r>
              <a:rPr lang="en-US" sz="2000" b="1" dirty="0" smtClean="0">
                <a:solidFill>
                  <a:schemeClr val="bg1">
                    <a:lumMod val="50000"/>
                  </a:schemeClr>
                </a:solidFill>
                <a:latin typeface="Courier New" pitchFamily="49" charset="0"/>
                <a:cs typeface="Courier New" pitchFamily="49" charset="0"/>
              </a:rPr>
              <a:t>// COMPILER ERROR!</a:t>
            </a:r>
          </a:p>
          <a:p>
            <a:endParaRPr lang="en-US" sz="2000" b="1" dirty="0" smtClean="0">
              <a:latin typeface="Courier New" pitchFamily="49" charset="0"/>
              <a:cs typeface="Courier New" pitchFamily="49" charset="0"/>
            </a:endParaRPr>
          </a:p>
          <a:p>
            <a:r>
              <a:rPr lang="en-US" sz="2000" b="1" dirty="0" smtClean="0">
                <a:latin typeface="Courier New" pitchFamily="49" charset="0"/>
                <a:cs typeface="Courier New" pitchFamily="49" charset="0"/>
              </a:rPr>
              <a:t>String s = </a:t>
            </a:r>
            <a:r>
              <a:rPr lang="en-US" sz="2000" b="1" dirty="0" err="1" smtClean="0">
                <a:latin typeface="Courier New" pitchFamily="49" charset="0"/>
                <a:cs typeface="Courier New" pitchFamily="49" charset="0"/>
              </a:rPr>
              <a:t>list.get</a:t>
            </a:r>
            <a:r>
              <a:rPr lang="en-US" sz="2000" b="1" dirty="0" smtClean="0">
                <a:latin typeface="Courier New" pitchFamily="49" charset="0"/>
                <a:cs typeface="Courier New" pitchFamily="49" charset="0"/>
              </a:rPr>
              <a:t>(0); </a:t>
            </a:r>
            <a:r>
              <a:rPr lang="en-US" sz="2000" b="1" dirty="0" smtClean="0">
                <a:solidFill>
                  <a:schemeClr val="bg1">
                    <a:lumMod val="50000"/>
                  </a:schemeClr>
                </a:solidFill>
                <a:latin typeface="Courier New" pitchFamily="49" charset="0"/>
                <a:cs typeface="Courier New" pitchFamily="49" charset="0"/>
              </a:rPr>
              <a:t>// No casting needed!</a:t>
            </a:r>
            <a:endParaRPr lang="en-US" sz="2000" b="1" dirty="0">
              <a:solidFill>
                <a:schemeClr val="bg1">
                  <a:lumMod val="50000"/>
                </a:schemeClr>
              </a:solidFill>
              <a:latin typeface="Courier New" pitchFamily="49" charset="0"/>
              <a:cs typeface="Courier New"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1143000"/>
          </a:xfrm>
        </p:spPr>
        <p:txBody>
          <a:bodyPr>
            <a:normAutofit/>
          </a:bodyPr>
          <a:lstStyle/>
          <a:p>
            <a:r>
              <a:rPr lang="en-US" b="1" dirty="0" smtClean="0"/>
              <a:t>Generic </a:t>
            </a:r>
            <a:r>
              <a:rPr lang="en-US" b="1" dirty="0" smtClean="0"/>
              <a:t>Classes</a:t>
            </a:r>
            <a:endParaRPr lang="en-US" dirty="0"/>
          </a:p>
        </p:txBody>
      </p:sp>
      <p:sp>
        <p:nvSpPr>
          <p:cNvPr id="3" name="Content Placeholder 2"/>
          <p:cNvSpPr>
            <a:spLocks noGrp="1"/>
          </p:cNvSpPr>
          <p:nvPr>
            <p:ph idx="1"/>
          </p:nvPr>
        </p:nvSpPr>
        <p:spPr>
          <a:xfrm>
            <a:off x="457200" y="928670"/>
            <a:ext cx="8258204" cy="1785951"/>
          </a:xfrm>
        </p:spPr>
        <p:txBody>
          <a:bodyPr>
            <a:noAutofit/>
          </a:bodyPr>
          <a:lstStyle/>
          <a:p>
            <a:r>
              <a:rPr lang="en-US" sz="2400" dirty="0" smtClean="0"/>
              <a:t>Creating </a:t>
            </a:r>
            <a:r>
              <a:rPr lang="en-US" sz="2400" dirty="0" smtClean="0"/>
              <a:t>a Generic Class</a:t>
            </a:r>
          </a:p>
          <a:p>
            <a:pPr lvl="1"/>
            <a:r>
              <a:rPr lang="en-US" sz="2400" dirty="0" smtClean="0"/>
              <a:t>Allows a class to operate on objects of various types while providing type safety.</a:t>
            </a:r>
          </a:p>
          <a:p>
            <a:pPr lvl="1"/>
            <a:r>
              <a:rPr lang="en-US" sz="2400" b="1" dirty="0" smtClean="0"/>
              <a:t>Syntax:</a:t>
            </a:r>
            <a:r>
              <a:rPr lang="en-US" sz="2400" dirty="0" smtClean="0"/>
              <a:t> </a:t>
            </a:r>
            <a:r>
              <a:rPr lang="en-US" sz="2400" b="1" dirty="0" smtClean="0">
                <a:latin typeface="Courier New" pitchFamily="49" charset="0"/>
                <a:cs typeface="Courier New" pitchFamily="49" charset="0"/>
              </a:rPr>
              <a:t>class </a:t>
            </a:r>
            <a:r>
              <a:rPr lang="en-US" sz="2400" b="1" dirty="0" err="1" smtClean="0">
                <a:latin typeface="Courier New" pitchFamily="49" charset="0"/>
                <a:cs typeface="Courier New" pitchFamily="49" charset="0"/>
              </a:rPr>
              <a:t>ClassName</a:t>
            </a:r>
            <a:r>
              <a:rPr lang="en-US" sz="2400" b="1" dirty="0" smtClean="0">
                <a:latin typeface="Courier New" pitchFamily="49" charset="0"/>
                <a:cs typeface="Courier New" pitchFamily="49" charset="0"/>
              </a:rPr>
              <a:t>&lt;T&gt; { ... }</a:t>
            </a:r>
            <a:endParaRPr lang="en-US" sz="2400" b="1" dirty="0">
              <a:latin typeface="Courier New" pitchFamily="49" charset="0"/>
              <a:cs typeface="Courier New" pitchFamily="49" charset="0"/>
            </a:endParaRPr>
          </a:p>
        </p:txBody>
      </p:sp>
      <p:sp>
        <p:nvSpPr>
          <p:cNvPr id="4" name="Rectangle 3"/>
          <p:cNvSpPr/>
          <p:nvPr/>
        </p:nvSpPr>
        <p:spPr>
          <a:xfrm>
            <a:off x="1214414" y="2656716"/>
            <a:ext cx="7286676" cy="4154984"/>
          </a:xfrm>
          <a:prstGeom prst="rect">
            <a:avLst/>
          </a:prstGeom>
          <a:ln>
            <a:solidFill>
              <a:schemeClr val="accent1"/>
            </a:solidFill>
          </a:ln>
        </p:spPr>
        <p:txBody>
          <a:bodyPr wrap="square">
            <a:spAutoFit/>
          </a:bodyPr>
          <a:lstStyle/>
          <a:p>
            <a:r>
              <a:rPr lang="en-US" sz="1600" b="1" dirty="0" smtClean="0">
                <a:latin typeface="Courier New" pitchFamily="49" charset="0"/>
                <a:cs typeface="Courier New" pitchFamily="49" charset="0"/>
              </a:rPr>
              <a:t>public class Box&lt;T&gt; {</a:t>
            </a:r>
          </a:p>
          <a:p>
            <a:r>
              <a:rPr lang="en-US" sz="1600" b="1" dirty="0" smtClean="0">
                <a:latin typeface="Courier New" pitchFamily="49" charset="0"/>
                <a:cs typeface="Courier New" pitchFamily="49" charset="0"/>
              </a:rPr>
              <a:t>    private T content;</a:t>
            </a:r>
          </a:p>
          <a:p>
            <a:endParaRPr lang="en-US" sz="1600" b="1" dirty="0" smtClean="0">
              <a:latin typeface="Courier New" pitchFamily="49" charset="0"/>
              <a:cs typeface="Courier New" pitchFamily="49" charset="0"/>
            </a:endParaRPr>
          </a:p>
          <a:p>
            <a:r>
              <a:rPr lang="en-US" sz="1600" b="1" dirty="0" smtClean="0">
                <a:latin typeface="Courier New" pitchFamily="49" charset="0"/>
                <a:cs typeface="Courier New" pitchFamily="49" charset="0"/>
              </a:rPr>
              <a:t>    public void set(T content) {</a:t>
            </a:r>
          </a:p>
          <a:p>
            <a:r>
              <a:rPr lang="en-US" sz="1600" b="1" dirty="0" smtClean="0">
                <a:latin typeface="Courier New" pitchFamily="49" charset="0"/>
                <a:cs typeface="Courier New" pitchFamily="49" charset="0"/>
              </a:rPr>
              <a:t>        </a:t>
            </a:r>
            <a:r>
              <a:rPr lang="en-US" sz="1600" b="1" dirty="0" err="1" smtClean="0">
                <a:latin typeface="Courier New" pitchFamily="49" charset="0"/>
                <a:cs typeface="Courier New" pitchFamily="49" charset="0"/>
              </a:rPr>
              <a:t>this.content</a:t>
            </a:r>
            <a:r>
              <a:rPr lang="en-US" sz="1600" b="1" dirty="0" smtClean="0">
                <a:latin typeface="Courier New" pitchFamily="49" charset="0"/>
                <a:cs typeface="Courier New" pitchFamily="49" charset="0"/>
              </a:rPr>
              <a:t> = content;</a:t>
            </a:r>
          </a:p>
          <a:p>
            <a:r>
              <a:rPr lang="en-US" sz="1600" b="1" dirty="0" smtClean="0">
                <a:latin typeface="Courier New" pitchFamily="49" charset="0"/>
                <a:cs typeface="Courier New" pitchFamily="49" charset="0"/>
              </a:rPr>
              <a:t>    }</a:t>
            </a:r>
          </a:p>
          <a:p>
            <a:endParaRPr lang="en-US" sz="1600" b="1" dirty="0" smtClean="0">
              <a:latin typeface="Courier New" pitchFamily="49" charset="0"/>
              <a:cs typeface="Courier New" pitchFamily="49" charset="0"/>
            </a:endParaRPr>
          </a:p>
          <a:p>
            <a:r>
              <a:rPr lang="en-US" sz="1600" b="1" dirty="0" smtClean="0">
                <a:latin typeface="Courier New" pitchFamily="49" charset="0"/>
                <a:cs typeface="Courier New" pitchFamily="49" charset="0"/>
              </a:rPr>
              <a:t>    public T get() {</a:t>
            </a:r>
          </a:p>
          <a:p>
            <a:r>
              <a:rPr lang="en-US" sz="1600" b="1" dirty="0" smtClean="0">
                <a:latin typeface="Courier New" pitchFamily="49" charset="0"/>
                <a:cs typeface="Courier New" pitchFamily="49" charset="0"/>
              </a:rPr>
              <a:t>        return content;</a:t>
            </a:r>
          </a:p>
          <a:p>
            <a:r>
              <a:rPr lang="en-US" sz="1600" b="1" dirty="0" smtClean="0">
                <a:latin typeface="Courier New" pitchFamily="49" charset="0"/>
                <a:cs typeface="Courier New" pitchFamily="49" charset="0"/>
              </a:rPr>
              <a:t>    }</a:t>
            </a:r>
          </a:p>
          <a:p>
            <a:r>
              <a:rPr lang="en-US" sz="1600" b="1" dirty="0" smtClean="0">
                <a:latin typeface="Courier New" pitchFamily="49" charset="0"/>
                <a:cs typeface="Courier New" pitchFamily="49" charset="0"/>
              </a:rPr>
              <a:t>}</a:t>
            </a:r>
          </a:p>
          <a:p>
            <a:endParaRPr lang="en-US" sz="1600" b="1" dirty="0" smtClean="0">
              <a:latin typeface="Courier New" pitchFamily="49" charset="0"/>
              <a:cs typeface="Courier New" pitchFamily="49" charset="0"/>
            </a:endParaRPr>
          </a:p>
          <a:p>
            <a:r>
              <a:rPr lang="en-US" sz="1600" b="1" dirty="0" smtClean="0">
                <a:latin typeface="Courier New" pitchFamily="49" charset="0"/>
                <a:cs typeface="Courier New" pitchFamily="49" charset="0"/>
              </a:rPr>
              <a:t>// Usage</a:t>
            </a:r>
          </a:p>
          <a:p>
            <a:r>
              <a:rPr lang="en-US" sz="1600" b="1" dirty="0" smtClean="0">
                <a:latin typeface="Courier New" pitchFamily="49" charset="0"/>
                <a:cs typeface="Courier New" pitchFamily="49" charset="0"/>
              </a:rPr>
              <a:t>Box&lt;Integer&gt; </a:t>
            </a:r>
            <a:r>
              <a:rPr lang="en-US" sz="1600" b="1" dirty="0" err="1" smtClean="0">
                <a:latin typeface="Courier New" pitchFamily="49" charset="0"/>
                <a:cs typeface="Courier New" pitchFamily="49" charset="0"/>
              </a:rPr>
              <a:t>intBox</a:t>
            </a:r>
            <a:r>
              <a:rPr lang="en-US" sz="1600" b="1" dirty="0" smtClean="0">
                <a:latin typeface="Courier New" pitchFamily="49" charset="0"/>
                <a:cs typeface="Courier New" pitchFamily="49" charset="0"/>
              </a:rPr>
              <a:t> = new Box&lt;&gt;();</a:t>
            </a:r>
          </a:p>
          <a:p>
            <a:r>
              <a:rPr lang="en-US" sz="1600" b="1" dirty="0" err="1" smtClean="0">
                <a:latin typeface="Courier New" pitchFamily="49" charset="0"/>
                <a:cs typeface="Courier New" pitchFamily="49" charset="0"/>
              </a:rPr>
              <a:t>intBox.set</a:t>
            </a:r>
            <a:r>
              <a:rPr lang="en-US" sz="1600" b="1" dirty="0" smtClean="0">
                <a:latin typeface="Courier New" pitchFamily="49" charset="0"/>
                <a:cs typeface="Courier New" pitchFamily="49" charset="0"/>
              </a:rPr>
              <a:t>(10);</a:t>
            </a:r>
          </a:p>
          <a:p>
            <a:r>
              <a:rPr lang="en-US" sz="1600" b="1" dirty="0" smtClean="0">
                <a:latin typeface="Courier New" pitchFamily="49" charset="0"/>
                <a:cs typeface="Courier New" pitchFamily="49" charset="0"/>
              </a:rPr>
              <a:t>Integer </a:t>
            </a:r>
            <a:r>
              <a:rPr lang="en-US" sz="1600" b="1" dirty="0" err="1" smtClean="0">
                <a:latin typeface="Courier New" pitchFamily="49" charset="0"/>
                <a:cs typeface="Courier New" pitchFamily="49" charset="0"/>
              </a:rPr>
              <a:t>i</a:t>
            </a:r>
            <a:r>
              <a:rPr lang="en-US" sz="1600" b="1" dirty="0" smtClean="0">
                <a:latin typeface="Courier New" pitchFamily="49" charset="0"/>
                <a:cs typeface="Courier New" pitchFamily="49" charset="0"/>
              </a:rPr>
              <a:t> = </a:t>
            </a:r>
            <a:r>
              <a:rPr lang="en-US" sz="1600" b="1" dirty="0" err="1" smtClean="0">
                <a:latin typeface="Courier New" pitchFamily="49" charset="0"/>
                <a:cs typeface="Courier New" pitchFamily="49" charset="0"/>
              </a:rPr>
              <a:t>intBox.get</a:t>
            </a:r>
            <a:r>
              <a:rPr lang="en-US" sz="1600" b="1" dirty="0" smtClean="0">
                <a:latin typeface="Courier New" pitchFamily="49" charset="0"/>
                <a:cs typeface="Courier New" pitchFamily="49" charset="0"/>
              </a:rPr>
              <a:t>();</a:t>
            </a:r>
            <a:endParaRPr lang="en-US" sz="1600" b="1" dirty="0">
              <a:latin typeface="Courier New" pitchFamily="49" charset="0"/>
              <a:cs typeface="Courier New"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
            <a:ext cx="8229600" cy="1143000"/>
          </a:xfrm>
        </p:spPr>
        <p:txBody>
          <a:bodyPr>
            <a:normAutofit/>
          </a:bodyPr>
          <a:lstStyle/>
          <a:p>
            <a:r>
              <a:rPr lang="en-US" b="1" dirty="0" smtClean="0"/>
              <a:t>Generic </a:t>
            </a:r>
            <a:r>
              <a:rPr lang="en-US" b="1" dirty="0" smtClean="0"/>
              <a:t>Methods</a:t>
            </a:r>
            <a:endParaRPr lang="en-US" dirty="0"/>
          </a:p>
        </p:txBody>
      </p:sp>
      <p:sp>
        <p:nvSpPr>
          <p:cNvPr id="3" name="Content Placeholder 2"/>
          <p:cNvSpPr>
            <a:spLocks noGrp="1"/>
          </p:cNvSpPr>
          <p:nvPr>
            <p:ph idx="1"/>
          </p:nvPr>
        </p:nvSpPr>
        <p:spPr>
          <a:xfrm>
            <a:off x="457200" y="1071546"/>
            <a:ext cx="8229600" cy="1614485"/>
          </a:xfrm>
        </p:spPr>
        <p:txBody>
          <a:bodyPr>
            <a:noAutofit/>
          </a:bodyPr>
          <a:lstStyle/>
          <a:p>
            <a:r>
              <a:rPr lang="en-US" sz="2400" dirty="0" smtClean="0"/>
              <a:t>Creating </a:t>
            </a:r>
            <a:r>
              <a:rPr lang="en-US" sz="2400" dirty="0" smtClean="0"/>
              <a:t>Generic Methods</a:t>
            </a:r>
          </a:p>
          <a:p>
            <a:pPr lvl="1"/>
            <a:r>
              <a:rPr lang="en-US" sz="2000" dirty="0" smtClean="0"/>
              <a:t>Methods can have their own type parameters, independent of the class.</a:t>
            </a:r>
          </a:p>
          <a:p>
            <a:pPr lvl="1"/>
            <a:r>
              <a:rPr lang="en-US" sz="2000" b="1" dirty="0" smtClean="0"/>
              <a:t>Syntax:</a:t>
            </a:r>
            <a:r>
              <a:rPr lang="en-US" sz="2000" dirty="0" smtClean="0"/>
              <a:t> &lt;T&gt; before the return type.</a:t>
            </a:r>
          </a:p>
          <a:p>
            <a:endParaRPr lang="en-US" sz="2400" dirty="0"/>
          </a:p>
        </p:txBody>
      </p:sp>
      <p:sp>
        <p:nvSpPr>
          <p:cNvPr id="4" name="Rectangle 3"/>
          <p:cNvSpPr/>
          <p:nvPr/>
        </p:nvSpPr>
        <p:spPr>
          <a:xfrm>
            <a:off x="1285884" y="2673392"/>
            <a:ext cx="7215206" cy="3970318"/>
          </a:xfrm>
          <a:prstGeom prst="rect">
            <a:avLst/>
          </a:prstGeom>
          <a:ln>
            <a:solidFill>
              <a:schemeClr val="accent1"/>
            </a:solidFill>
          </a:ln>
        </p:spPr>
        <p:txBody>
          <a:bodyPr wrap="square">
            <a:spAutoFit/>
          </a:bodyPr>
          <a:lstStyle/>
          <a:p>
            <a:r>
              <a:rPr lang="en-US" b="1" dirty="0" smtClean="0">
                <a:latin typeface="Courier New" pitchFamily="49" charset="0"/>
                <a:cs typeface="Courier New" pitchFamily="49" charset="0"/>
              </a:rPr>
              <a:t>public class </a:t>
            </a:r>
            <a:r>
              <a:rPr lang="en-US" b="1" dirty="0" err="1" smtClean="0">
                <a:latin typeface="Courier New" pitchFamily="49" charset="0"/>
                <a:cs typeface="Courier New" pitchFamily="49" charset="0"/>
              </a:rPr>
              <a:t>Util</a:t>
            </a:r>
            <a:r>
              <a:rPr lang="en-US" b="1" dirty="0" smtClean="0">
                <a:latin typeface="Courier New" pitchFamily="49" charset="0"/>
                <a:cs typeface="Courier New" pitchFamily="49" charset="0"/>
              </a:rPr>
              <a:t> {</a:t>
            </a:r>
          </a:p>
          <a:p>
            <a:r>
              <a:rPr lang="en-US" b="1" dirty="0" smtClean="0">
                <a:latin typeface="Courier New" pitchFamily="49" charset="0"/>
                <a:cs typeface="Courier New" pitchFamily="49" charset="0"/>
              </a:rPr>
              <a:t>    </a:t>
            </a:r>
            <a:r>
              <a:rPr lang="en-US" b="1" dirty="0" smtClean="0">
                <a:solidFill>
                  <a:schemeClr val="bg1">
                    <a:lumMod val="50000"/>
                  </a:schemeClr>
                </a:solidFill>
                <a:latin typeface="Courier New" pitchFamily="49" charset="0"/>
                <a:cs typeface="Courier New" pitchFamily="49" charset="0"/>
              </a:rPr>
              <a:t>// Generic method</a:t>
            </a:r>
          </a:p>
          <a:p>
            <a:r>
              <a:rPr lang="en-US" b="1" dirty="0" smtClean="0">
                <a:latin typeface="Courier New" pitchFamily="49" charset="0"/>
                <a:cs typeface="Courier New" pitchFamily="49" charset="0"/>
              </a:rPr>
              <a:t>    public static &lt;T&gt; void </a:t>
            </a:r>
            <a:r>
              <a:rPr lang="en-US" b="1" dirty="0" err="1" smtClean="0">
                <a:latin typeface="Courier New" pitchFamily="49" charset="0"/>
                <a:cs typeface="Courier New" pitchFamily="49" charset="0"/>
              </a:rPr>
              <a:t>printArray</a:t>
            </a:r>
            <a:r>
              <a:rPr lang="en-US" b="1" dirty="0" smtClean="0">
                <a:latin typeface="Courier New" pitchFamily="49" charset="0"/>
                <a:cs typeface="Courier New" pitchFamily="49" charset="0"/>
              </a:rPr>
              <a:t>(T[] array</a:t>
            </a:r>
            <a:r>
              <a:rPr lang="en-US" b="1" dirty="0" smtClean="0">
                <a:latin typeface="Courier New" pitchFamily="49" charset="0"/>
                <a:cs typeface="Courier New" pitchFamily="49" charset="0"/>
              </a:rPr>
              <a:t>){</a:t>
            </a:r>
            <a:endParaRPr lang="en-US" b="1" dirty="0" smtClean="0">
              <a:latin typeface="Courier New" pitchFamily="49" charset="0"/>
              <a:cs typeface="Courier New" pitchFamily="49" charset="0"/>
            </a:endParaRPr>
          </a:p>
          <a:p>
            <a:r>
              <a:rPr lang="en-US" b="1" dirty="0" smtClean="0">
                <a:latin typeface="Courier New" pitchFamily="49" charset="0"/>
                <a:cs typeface="Courier New" pitchFamily="49" charset="0"/>
              </a:rPr>
              <a:t>        for (T element : array) {</a:t>
            </a:r>
          </a:p>
          <a:p>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System.out.println</a:t>
            </a:r>
            <a:r>
              <a:rPr lang="en-US" b="1" dirty="0" smtClean="0">
                <a:latin typeface="Courier New" pitchFamily="49" charset="0"/>
                <a:cs typeface="Courier New" pitchFamily="49" charset="0"/>
              </a:rPr>
              <a:t>(element);</a:t>
            </a:r>
          </a:p>
          <a:p>
            <a:r>
              <a:rPr lang="en-US" b="1" dirty="0" smtClean="0">
                <a:latin typeface="Courier New" pitchFamily="49" charset="0"/>
                <a:cs typeface="Courier New" pitchFamily="49" charset="0"/>
              </a:rPr>
              <a:t>        }</a:t>
            </a:r>
          </a:p>
          <a:p>
            <a:r>
              <a:rPr lang="en-US" b="1" dirty="0" smtClean="0">
                <a:latin typeface="Courier New" pitchFamily="49" charset="0"/>
                <a:cs typeface="Courier New" pitchFamily="49" charset="0"/>
              </a:rPr>
              <a:t>    }</a:t>
            </a:r>
          </a:p>
          <a:p>
            <a:r>
              <a:rPr lang="en-US" b="1" dirty="0" smtClean="0">
                <a:latin typeface="Courier New" pitchFamily="49" charset="0"/>
                <a:cs typeface="Courier New" pitchFamily="49" charset="0"/>
              </a:rPr>
              <a:t>}</a:t>
            </a:r>
          </a:p>
          <a:p>
            <a:endParaRPr lang="en-US" b="1" dirty="0" smtClean="0">
              <a:latin typeface="Courier New" pitchFamily="49" charset="0"/>
              <a:cs typeface="Courier New" pitchFamily="49" charset="0"/>
            </a:endParaRPr>
          </a:p>
          <a:p>
            <a:r>
              <a:rPr lang="en-US" b="1" dirty="0" smtClean="0">
                <a:latin typeface="Courier New" pitchFamily="49" charset="0"/>
                <a:cs typeface="Courier New" pitchFamily="49" charset="0"/>
              </a:rPr>
              <a:t>// Usage</a:t>
            </a:r>
          </a:p>
          <a:p>
            <a:r>
              <a:rPr lang="en-US" b="1" dirty="0" smtClean="0">
                <a:latin typeface="Courier New" pitchFamily="49" charset="0"/>
                <a:cs typeface="Courier New" pitchFamily="49" charset="0"/>
              </a:rPr>
              <a:t>Integer[] </a:t>
            </a:r>
            <a:r>
              <a:rPr lang="en-US" b="1" dirty="0" err="1" smtClean="0">
                <a:latin typeface="Courier New" pitchFamily="49" charset="0"/>
                <a:cs typeface="Courier New" pitchFamily="49" charset="0"/>
              </a:rPr>
              <a:t>intArr</a:t>
            </a:r>
            <a:r>
              <a:rPr lang="en-US" b="1" dirty="0" smtClean="0">
                <a:latin typeface="Courier New" pitchFamily="49" charset="0"/>
                <a:cs typeface="Courier New" pitchFamily="49" charset="0"/>
              </a:rPr>
              <a:t> = {1, 2, 3};</a:t>
            </a:r>
          </a:p>
          <a:p>
            <a:r>
              <a:rPr lang="en-US" b="1" dirty="0" smtClean="0">
                <a:latin typeface="Courier New" pitchFamily="49" charset="0"/>
                <a:cs typeface="Courier New" pitchFamily="49" charset="0"/>
              </a:rPr>
              <a:t>String[] </a:t>
            </a:r>
            <a:r>
              <a:rPr lang="en-US" b="1" dirty="0" err="1" smtClean="0">
                <a:latin typeface="Courier New" pitchFamily="49" charset="0"/>
                <a:cs typeface="Courier New" pitchFamily="49" charset="0"/>
              </a:rPr>
              <a:t>strArr</a:t>
            </a:r>
            <a:r>
              <a:rPr lang="en-US" b="1" dirty="0" smtClean="0">
                <a:latin typeface="Courier New" pitchFamily="49" charset="0"/>
                <a:cs typeface="Courier New" pitchFamily="49" charset="0"/>
              </a:rPr>
              <a:t> = {"A", "B"};</a:t>
            </a:r>
          </a:p>
          <a:p>
            <a:r>
              <a:rPr lang="en-US" b="1" dirty="0" err="1" smtClean="0">
                <a:latin typeface="Courier New" pitchFamily="49" charset="0"/>
                <a:cs typeface="Courier New" pitchFamily="49" charset="0"/>
              </a:rPr>
              <a:t>Util.printArray</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intArr</a:t>
            </a:r>
            <a:r>
              <a:rPr lang="en-US" b="1" dirty="0" smtClean="0">
                <a:latin typeface="Courier New" pitchFamily="49" charset="0"/>
                <a:cs typeface="Courier New" pitchFamily="49" charset="0"/>
              </a:rPr>
              <a:t>); // T becomes Integer</a:t>
            </a:r>
          </a:p>
          <a:p>
            <a:r>
              <a:rPr lang="en-US" b="1" dirty="0" err="1" smtClean="0">
                <a:latin typeface="Courier New" pitchFamily="49" charset="0"/>
                <a:cs typeface="Courier New" pitchFamily="49" charset="0"/>
              </a:rPr>
              <a:t>Util.printArray</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strArr</a:t>
            </a:r>
            <a:r>
              <a:rPr lang="en-US" b="1" dirty="0" smtClean="0">
                <a:latin typeface="Courier New" pitchFamily="49" charset="0"/>
                <a:cs typeface="Courier New" pitchFamily="49" charset="0"/>
              </a:rPr>
              <a:t>); // T becomes String</a:t>
            </a:r>
            <a:endParaRPr lang="en-US" b="1" dirty="0">
              <a:latin typeface="Courier New" pitchFamily="49" charset="0"/>
              <a:cs typeface="Courier New"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 Inference (Diamond Operator</a:t>
            </a:r>
            <a:r>
              <a:rPr lang="en-US" b="1" dirty="0" smtClean="0"/>
              <a:t>)</a:t>
            </a:r>
            <a:endParaRPr lang="en-US" dirty="0"/>
          </a:p>
        </p:txBody>
      </p:sp>
      <p:sp>
        <p:nvSpPr>
          <p:cNvPr id="3" name="Content Placeholder 2"/>
          <p:cNvSpPr>
            <a:spLocks noGrp="1"/>
          </p:cNvSpPr>
          <p:nvPr>
            <p:ph idx="1"/>
          </p:nvPr>
        </p:nvSpPr>
        <p:spPr>
          <a:xfrm>
            <a:off x="457200" y="1600201"/>
            <a:ext cx="8229600" cy="2043114"/>
          </a:xfrm>
        </p:spPr>
        <p:txBody>
          <a:bodyPr>
            <a:noAutofit/>
          </a:bodyPr>
          <a:lstStyle/>
          <a:p>
            <a:r>
              <a:rPr lang="en-US" sz="2400" dirty="0" smtClean="0"/>
              <a:t>The </a:t>
            </a:r>
            <a:r>
              <a:rPr lang="en-US" sz="2400" dirty="0" smtClean="0"/>
              <a:t>Diamond Operator &lt;&gt;</a:t>
            </a:r>
          </a:p>
          <a:p>
            <a:pPr lvl="1"/>
            <a:r>
              <a:rPr lang="en-US" sz="2400" b="1" dirty="0" smtClean="0"/>
              <a:t>Introduced:</a:t>
            </a:r>
            <a:r>
              <a:rPr lang="en-US" sz="2400" dirty="0" smtClean="0"/>
              <a:t> Java 7.</a:t>
            </a:r>
          </a:p>
          <a:p>
            <a:pPr lvl="1"/>
            <a:r>
              <a:rPr lang="en-US" sz="2400" b="1" dirty="0" smtClean="0"/>
              <a:t>Feature:</a:t>
            </a:r>
            <a:r>
              <a:rPr lang="en-US" sz="2400" dirty="0" smtClean="0"/>
              <a:t> The compiler infers the type from the context.</a:t>
            </a:r>
          </a:p>
          <a:p>
            <a:pPr lvl="1"/>
            <a:r>
              <a:rPr lang="en-US" sz="2400" b="1" dirty="0" smtClean="0"/>
              <a:t>Reduces Boilerplate:</a:t>
            </a:r>
            <a:r>
              <a:rPr lang="en-US" sz="2400" dirty="0" smtClean="0"/>
              <a:t> No need to repeat types on the right side.</a:t>
            </a:r>
          </a:p>
          <a:p>
            <a:endParaRPr lang="en-US" sz="2400" dirty="0"/>
          </a:p>
        </p:txBody>
      </p:sp>
      <p:sp>
        <p:nvSpPr>
          <p:cNvPr id="4" name="Rectangle 3"/>
          <p:cNvSpPr/>
          <p:nvPr/>
        </p:nvSpPr>
        <p:spPr>
          <a:xfrm>
            <a:off x="1214414" y="4000504"/>
            <a:ext cx="7286676" cy="1631216"/>
          </a:xfrm>
          <a:prstGeom prst="rect">
            <a:avLst/>
          </a:prstGeom>
          <a:ln>
            <a:solidFill>
              <a:schemeClr val="accent1"/>
            </a:solidFill>
          </a:ln>
        </p:spPr>
        <p:txBody>
          <a:bodyPr wrap="square">
            <a:spAutoFit/>
          </a:bodyPr>
          <a:lstStyle/>
          <a:p>
            <a:r>
              <a:rPr lang="en-US" sz="2000" b="1" dirty="0" smtClean="0">
                <a:solidFill>
                  <a:schemeClr val="bg1">
                    <a:lumMod val="50000"/>
                  </a:schemeClr>
                </a:solidFill>
                <a:latin typeface="Courier New" pitchFamily="49" charset="0"/>
                <a:cs typeface="Courier New" pitchFamily="49" charset="0"/>
              </a:rPr>
              <a:t>// Before Java 7</a:t>
            </a:r>
          </a:p>
          <a:p>
            <a:r>
              <a:rPr lang="en-US" sz="2000" b="1" dirty="0" smtClean="0">
                <a:latin typeface="Courier New" pitchFamily="49" charset="0"/>
                <a:cs typeface="Courier New" pitchFamily="49" charset="0"/>
              </a:rPr>
              <a:t>List&lt;String&gt; list = new </a:t>
            </a:r>
            <a:r>
              <a:rPr lang="en-US" sz="2000" b="1" dirty="0" err="1" smtClean="0">
                <a:latin typeface="Courier New" pitchFamily="49" charset="0"/>
                <a:cs typeface="Courier New" pitchFamily="49" charset="0"/>
              </a:rPr>
              <a:t>ArrayList</a:t>
            </a:r>
            <a:r>
              <a:rPr lang="en-US" sz="2000" b="1" dirty="0" smtClean="0">
                <a:latin typeface="Courier New" pitchFamily="49" charset="0"/>
                <a:cs typeface="Courier New" pitchFamily="49" charset="0"/>
              </a:rPr>
              <a:t>&lt;String&gt;();</a:t>
            </a:r>
          </a:p>
          <a:p>
            <a:endParaRPr lang="en-US" sz="2000" b="1" dirty="0" smtClean="0">
              <a:latin typeface="Courier New" pitchFamily="49" charset="0"/>
              <a:cs typeface="Courier New" pitchFamily="49" charset="0"/>
            </a:endParaRPr>
          </a:p>
          <a:p>
            <a:r>
              <a:rPr lang="en-US" sz="2000" b="1" dirty="0" smtClean="0">
                <a:solidFill>
                  <a:schemeClr val="bg1">
                    <a:lumMod val="50000"/>
                  </a:schemeClr>
                </a:solidFill>
                <a:latin typeface="Courier New" pitchFamily="49" charset="0"/>
                <a:cs typeface="Courier New" pitchFamily="49" charset="0"/>
              </a:rPr>
              <a:t>// Java 7+ (Diamond Operator)</a:t>
            </a:r>
          </a:p>
          <a:p>
            <a:r>
              <a:rPr lang="en-US" sz="2000" b="1" dirty="0" smtClean="0">
                <a:latin typeface="Courier New" pitchFamily="49" charset="0"/>
                <a:cs typeface="Courier New" pitchFamily="49" charset="0"/>
              </a:rPr>
              <a:t>List&lt;String&gt; list = new </a:t>
            </a:r>
            <a:r>
              <a:rPr lang="en-US" sz="2000" b="1" dirty="0" err="1" smtClean="0">
                <a:latin typeface="Courier New" pitchFamily="49" charset="0"/>
                <a:cs typeface="Courier New" pitchFamily="49" charset="0"/>
              </a:rPr>
              <a:t>ArrayList</a:t>
            </a:r>
            <a:r>
              <a:rPr lang="en-US" sz="2000" b="1" dirty="0" smtClean="0">
                <a:latin typeface="Courier New" pitchFamily="49" charset="0"/>
                <a:cs typeface="Courier New" pitchFamily="49" charset="0"/>
              </a:rPr>
              <a:t>&lt;&gt;(); </a:t>
            </a:r>
            <a:endParaRPr lang="en-US" sz="2000" b="1" dirty="0">
              <a:latin typeface="Courier New" pitchFamily="49" charset="0"/>
              <a:cs typeface="Courier New"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Bounded Type </a:t>
            </a:r>
            <a:r>
              <a:rPr lang="en-US" b="1" dirty="0" smtClean="0"/>
              <a:t>Parameters</a:t>
            </a:r>
            <a:endParaRPr lang="en-US" dirty="0"/>
          </a:p>
        </p:txBody>
      </p:sp>
      <p:sp>
        <p:nvSpPr>
          <p:cNvPr id="3" name="Content Placeholder 2"/>
          <p:cNvSpPr>
            <a:spLocks noGrp="1"/>
          </p:cNvSpPr>
          <p:nvPr>
            <p:ph idx="1"/>
          </p:nvPr>
        </p:nvSpPr>
        <p:spPr>
          <a:xfrm>
            <a:off x="457200" y="1600201"/>
            <a:ext cx="8229600" cy="2114552"/>
          </a:xfrm>
        </p:spPr>
        <p:txBody>
          <a:bodyPr>
            <a:noAutofit/>
          </a:bodyPr>
          <a:lstStyle/>
          <a:p>
            <a:r>
              <a:rPr lang="en-US" sz="2400" dirty="0" smtClean="0"/>
              <a:t>Restricting </a:t>
            </a:r>
            <a:r>
              <a:rPr lang="en-US" sz="2400" dirty="0" smtClean="0"/>
              <a:t>Types (extends)</a:t>
            </a:r>
          </a:p>
          <a:p>
            <a:pPr lvl="1"/>
            <a:r>
              <a:rPr lang="en-US" sz="2400" dirty="0" smtClean="0"/>
              <a:t>Sometimes you want T to be a specific type or subclass.</a:t>
            </a:r>
          </a:p>
          <a:p>
            <a:pPr lvl="1"/>
            <a:r>
              <a:rPr lang="en-US" sz="2400" b="1" dirty="0" smtClean="0"/>
              <a:t>Syntax:</a:t>
            </a:r>
            <a:r>
              <a:rPr lang="en-US" sz="2400" dirty="0" smtClean="0"/>
              <a:t> &lt;T extends </a:t>
            </a:r>
            <a:r>
              <a:rPr lang="en-US" sz="2400" dirty="0" err="1" smtClean="0"/>
              <a:t>ClassName</a:t>
            </a:r>
            <a:r>
              <a:rPr lang="en-US" sz="2400" dirty="0" smtClean="0"/>
              <a:t>&gt;</a:t>
            </a:r>
          </a:p>
          <a:p>
            <a:pPr lvl="1"/>
            <a:r>
              <a:rPr lang="en-US" sz="2400" b="1" dirty="0" smtClean="0"/>
              <a:t>Use Case:</a:t>
            </a:r>
            <a:r>
              <a:rPr lang="en-US" sz="2400" dirty="0" smtClean="0"/>
              <a:t> When you need to call methods specific to that class.</a:t>
            </a:r>
          </a:p>
          <a:p>
            <a:endParaRPr lang="en-US" sz="2400" dirty="0"/>
          </a:p>
        </p:txBody>
      </p:sp>
      <p:sp>
        <p:nvSpPr>
          <p:cNvPr id="4" name="Rectangle 3"/>
          <p:cNvSpPr/>
          <p:nvPr/>
        </p:nvSpPr>
        <p:spPr>
          <a:xfrm>
            <a:off x="0" y="4000504"/>
            <a:ext cx="9144000" cy="2523768"/>
          </a:xfrm>
          <a:prstGeom prst="rect">
            <a:avLst/>
          </a:prstGeom>
          <a:ln>
            <a:solidFill>
              <a:schemeClr val="accent1"/>
            </a:solidFill>
          </a:ln>
        </p:spPr>
        <p:txBody>
          <a:bodyPr wrap="square">
            <a:spAutoFit/>
          </a:bodyPr>
          <a:lstStyle/>
          <a:p>
            <a:r>
              <a:rPr lang="en-US" b="1" dirty="0" smtClean="0">
                <a:solidFill>
                  <a:schemeClr val="bg1">
                    <a:lumMod val="50000"/>
                  </a:schemeClr>
                </a:solidFill>
                <a:latin typeface="Courier New" pitchFamily="49" charset="0"/>
                <a:cs typeface="Courier New" pitchFamily="49" charset="0"/>
              </a:rPr>
              <a:t>// T must be a Number or subclass (Integer, Double, etc.)</a:t>
            </a:r>
          </a:p>
          <a:p>
            <a:r>
              <a:rPr lang="en-US" sz="2000" b="1" dirty="0" smtClean="0">
                <a:latin typeface="Courier New" pitchFamily="49" charset="0"/>
                <a:cs typeface="Courier New" pitchFamily="49" charset="0"/>
              </a:rPr>
              <a:t>public class </a:t>
            </a:r>
            <a:r>
              <a:rPr lang="en-US" sz="2000" b="1" dirty="0" err="1" smtClean="0">
                <a:latin typeface="Courier New" pitchFamily="49" charset="0"/>
                <a:cs typeface="Courier New" pitchFamily="49" charset="0"/>
              </a:rPr>
              <a:t>NumberBox</a:t>
            </a:r>
            <a:r>
              <a:rPr lang="en-US" sz="2000" b="1" dirty="0" smtClean="0">
                <a:latin typeface="Courier New" pitchFamily="49" charset="0"/>
                <a:cs typeface="Courier New" pitchFamily="49" charset="0"/>
              </a:rPr>
              <a:t>&lt;T extends Number&gt; {</a:t>
            </a:r>
          </a:p>
          <a:p>
            <a:r>
              <a:rPr lang="en-US" sz="2000" b="1" dirty="0" smtClean="0">
                <a:latin typeface="Courier New" pitchFamily="49" charset="0"/>
                <a:cs typeface="Courier New" pitchFamily="49" charset="0"/>
              </a:rPr>
              <a:t>  </a:t>
            </a:r>
            <a:r>
              <a:rPr lang="en-US" sz="2000" b="1" dirty="0" smtClean="0">
                <a:latin typeface="Courier New" pitchFamily="49" charset="0"/>
                <a:cs typeface="Courier New" pitchFamily="49" charset="0"/>
              </a:rPr>
              <a:t>private </a:t>
            </a:r>
            <a:r>
              <a:rPr lang="en-US" sz="2000" b="1" dirty="0" smtClean="0">
                <a:latin typeface="Courier New" pitchFamily="49" charset="0"/>
                <a:cs typeface="Courier New" pitchFamily="49" charset="0"/>
              </a:rPr>
              <a:t>T num;</a:t>
            </a:r>
          </a:p>
          <a:p>
            <a:r>
              <a:rPr lang="en-US" sz="2000" b="1" dirty="0" smtClean="0">
                <a:latin typeface="Courier New" pitchFamily="49" charset="0"/>
                <a:cs typeface="Courier New" pitchFamily="49" charset="0"/>
              </a:rPr>
              <a:t>  </a:t>
            </a:r>
            <a:r>
              <a:rPr lang="en-US" sz="2000" b="1" dirty="0" smtClean="0">
                <a:latin typeface="Courier New" pitchFamily="49" charset="0"/>
                <a:cs typeface="Courier New" pitchFamily="49" charset="0"/>
              </a:rPr>
              <a:t>public </a:t>
            </a:r>
            <a:r>
              <a:rPr lang="en-US" sz="2000" b="1" dirty="0" smtClean="0">
                <a:latin typeface="Courier New" pitchFamily="49" charset="0"/>
                <a:cs typeface="Courier New" pitchFamily="49" charset="0"/>
              </a:rPr>
              <a:t>double </a:t>
            </a:r>
            <a:r>
              <a:rPr lang="en-US" sz="2000" b="1" dirty="0" err="1" smtClean="0">
                <a:latin typeface="Courier New" pitchFamily="49" charset="0"/>
                <a:cs typeface="Courier New" pitchFamily="49" charset="0"/>
              </a:rPr>
              <a:t>doubleValue</a:t>
            </a:r>
            <a:r>
              <a:rPr lang="en-US" sz="2000" b="1" dirty="0" smtClean="0">
                <a:latin typeface="Courier New" pitchFamily="49" charset="0"/>
                <a:cs typeface="Courier New" pitchFamily="49" charset="0"/>
              </a:rPr>
              <a:t>() </a:t>
            </a:r>
            <a:r>
              <a:rPr lang="en-US" sz="2000" b="1" dirty="0" smtClean="0">
                <a:latin typeface="Courier New" pitchFamily="49" charset="0"/>
                <a:cs typeface="Courier New" pitchFamily="49" charset="0"/>
              </a:rPr>
              <a:t>{</a:t>
            </a:r>
          </a:p>
          <a:p>
            <a:r>
              <a:rPr lang="en-US" sz="2000" b="1" dirty="0" smtClean="0">
                <a:solidFill>
                  <a:schemeClr val="bg1">
                    <a:lumMod val="50000"/>
                  </a:schemeClr>
                </a:solidFill>
                <a:latin typeface="Courier New" pitchFamily="49" charset="0"/>
                <a:cs typeface="Courier New" pitchFamily="49" charset="0"/>
              </a:rPr>
              <a:t>   // </a:t>
            </a:r>
            <a:r>
              <a:rPr lang="en-US" sz="2000" b="1" dirty="0" smtClean="0">
                <a:solidFill>
                  <a:schemeClr val="bg1">
                    <a:lumMod val="50000"/>
                  </a:schemeClr>
                </a:solidFill>
                <a:latin typeface="Courier New" pitchFamily="49" charset="0"/>
                <a:cs typeface="Courier New" pitchFamily="49" charset="0"/>
              </a:rPr>
              <a:t>Safe to call because T extends Number</a:t>
            </a:r>
            <a:endParaRPr lang="en-US" sz="2000" b="1" dirty="0" smtClean="0">
              <a:latin typeface="Courier New" pitchFamily="49" charset="0"/>
              <a:cs typeface="Courier New" pitchFamily="49" charset="0"/>
            </a:endParaRPr>
          </a:p>
          <a:p>
            <a:r>
              <a:rPr lang="en-US" sz="2000" b="1" dirty="0" smtClean="0">
                <a:latin typeface="Courier New" pitchFamily="49" charset="0"/>
                <a:cs typeface="Courier New" pitchFamily="49" charset="0"/>
              </a:rPr>
              <a:t>  </a:t>
            </a:r>
            <a:r>
              <a:rPr lang="en-US" sz="2000" b="1" dirty="0" smtClean="0">
                <a:latin typeface="Courier New" pitchFamily="49" charset="0"/>
                <a:cs typeface="Courier New" pitchFamily="49" charset="0"/>
              </a:rPr>
              <a:t> return </a:t>
            </a:r>
            <a:r>
              <a:rPr lang="en-US" sz="2000" b="1" dirty="0" err="1" smtClean="0">
                <a:latin typeface="Courier New" pitchFamily="49" charset="0"/>
                <a:cs typeface="Courier New" pitchFamily="49" charset="0"/>
              </a:rPr>
              <a:t>num.doubleValue</a:t>
            </a:r>
            <a:r>
              <a:rPr lang="en-US" sz="2000" b="1" dirty="0" smtClean="0">
                <a:latin typeface="Courier New" pitchFamily="49" charset="0"/>
                <a:cs typeface="Courier New" pitchFamily="49" charset="0"/>
              </a:rPr>
              <a:t>(); </a:t>
            </a:r>
            <a:endParaRPr lang="en-US" sz="2000" b="1" dirty="0" smtClean="0">
              <a:solidFill>
                <a:schemeClr val="bg1">
                  <a:lumMod val="50000"/>
                </a:schemeClr>
              </a:solidFill>
              <a:latin typeface="Courier New" pitchFamily="49" charset="0"/>
              <a:cs typeface="Courier New" pitchFamily="49" charset="0"/>
            </a:endParaRPr>
          </a:p>
          <a:p>
            <a:r>
              <a:rPr lang="en-US" sz="2000" b="1" dirty="0" smtClean="0">
                <a:latin typeface="Courier New" pitchFamily="49" charset="0"/>
                <a:cs typeface="Courier New" pitchFamily="49" charset="0"/>
              </a:rPr>
              <a:t>  </a:t>
            </a:r>
            <a:r>
              <a:rPr lang="en-US" sz="2000" b="1" dirty="0" smtClean="0">
                <a:latin typeface="Courier New" pitchFamily="49" charset="0"/>
                <a:cs typeface="Courier New" pitchFamily="49" charset="0"/>
              </a:rPr>
              <a:t>}</a:t>
            </a:r>
            <a:endParaRPr lang="en-US" sz="2000" b="1" dirty="0" smtClean="0">
              <a:latin typeface="Courier New" pitchFamily="49" charset="0"/>
              <a:cs typeface="Courier New" pitchFamily="49" charset="0"/>
            </a:endParaRPr>
          </a:p>
          <a:p>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60"/>
            <a:ext cx="8229600" cy="1143000"/>
          </a:xfrm>
        </p:spPr>
        <p:txBody>
          <a:bodyPr>
            <a:normAutofit/>
          </a:bodyPr>
          <a:lstStyle/>
          <a:p>
            <a:r>
              <a:rPr lang="en-US" b="1" dirty="0" smtClean="0"/>
              <a:t>Wildcards </a:t>
            </a:r>
            <a:r>
              <a:rPr lang="en-US" b="1" dirty="0" smtClean="0"/>
              <a:t>(?)</a:t>
            </a:r>
            <a:endParaRPr lang="en-US" dirty="0"/>
          </a:p>
        </p:txBody>
      </p:sp>
      <p:sp>
        <p:nvSpPr>
          <p:cNvPr id="3" name="Content Placeholder 2"/>
          <p:cNvSpPr>
            <a:spLocks noGrp="1"/>
          </p:cNvSpPr>
          <p:nvPr>
            <p:ph idx="1"/>
          </p:nvPr>
        </p:nvSpPr>
        <p:spPr>
          <a:xfrm>
            <a:off x="457200" y="1285860"/>
            <a:ext cx="8229600" cy="2114551"/>
          </a:xfrm>
        </p:spPr>
        <p:txBody>
          <a:bodyPr>
            <a:noAutofit/>
          </a:bodyPr>
          <a:lstStyle/>
          <a:p>
            <a:r>
              <a:rPr lang="en-US" sz="2400" b="1" dirty="0" smtClean="0"/>
              <a:t>Title</a:t>
            </a:r>
            <a:r>
              <a:rPr lang="en-US" sz="2400" b="1" dirty="0" smtClean="0"/>
              <a:t>:</a:t>
            </a:r>
            <a:r>
              <a:rPr lang="en-US" sz="2400" dirty="0" smtClean="0"/>
              <a:t> Unbounded Wildcards</a:t>
            </a:r>
          </a:p>
          <a:p>
            <a:pPr lvl="1"/>
            <a:r>
              <a:rPr lang="en-US" sz="2400" b="1" dirty="0" smtClean="0"/>
              <a:t>Symbol:</a:t>
            </a:r>
            <a:r>
              <a:rPr lang="en-US" sz="2400" dirty="0" smtClean="0"/>
              <a:t> ? (Question Mark).</a:t>
            </a:r>
          </a:p>
          <a:p>
            <a:pPr lvl="1"/>
            <a:r>
              <a:rPr lang="en-US" sz="2400" b="1" dirty="0" smtClean="0"/>
              <a:t>Meaning:</a:t>
            </a:r>
            <a:r>
              <a:rPr lang="en-US" sz="2400" dirty="0" smtClean="0"/>
              <a:t> "Unknown type".</a:t>
            </a:r>
          </a:p>
          <a:p>
            <a:pPr lvl="1"/>
            <a:r>
              <a:rPr lang="en-US" sz="2400" b="1" dirty="0" smtClean="0"/>
              <a:t>Use Case:</a:t>
            </a:r>
            <a:r>
              <a:rPr lang="en-US" sz="2400" dirty="0" smtClean="0"/>
              <a:t> When code doesn't depend on the specific type (e.g., reading a list).</a:t>
            </a:r>
            <a:endParaRPr lang="en-US" sz="2400" dirty="0"/>
          </a:p>
        </p:txBody>
      </p:sp>
      <p:sp>
        <p:nvSpPr>
          <p:cNvPr id="4" name="Content Placeholder 2"/>
          <p:cNvSpPr txBox="1">
            <a:spLocks/>
          </p:cNvSpPr>
          <p:nvPr/>
        </p:nvSpPr>
        <p:spPr>
          <a:xfrm>
            <a:off x="428596" y="5386415"/>
            <a:ext cx="8229600" cy="1328733"/>
          </a:xfrm>
          <a:prstGeom prst="rect">
            <a:avLst/>
          </a:prstGeom>
        </p:spPr>
        <p:txBody>
          <a:bodyPr vert="horz" lIns="91440" tIns="45720" rIns="91440" bIns="45720" rtlCol="0">
            <a:noAutofit/>
          </a:bodyPr>
          <a:lstStyle/>
          <a:p>
            <a:pPr marL="342900" indent="-342900">
              <a:spcBef>
                <a:spcPct val="20000"/>
              </a:spcBef>
              <a:buFont typeface="Arial" pitchFamily="34" charset="0"/>
              <a:buChar char="•"/>
            </a:pPr>
            <a:r>
              <a:rPr lang="en-US" sz="2400" b="1" dirty="0" smtClean="0"/>
              <a:t>Restriction</a:t>
            </a:r>
            <a:r>
              <a:rPr lang="en-US" sz="2400" b="1" dirty="0" smtClean="0"/>
              <a:t>:</a:t>
            </a:r>
            <a:r>
              <a:rPr lang="en-US" sz="2400" dirty="0" smtClean="0"/>
              <a:t> You </a:t>
            </a:r>
            <a:r>
              <a:rPr lang="en-US" sz="2400" b="1" dirty="0" smtClean="0"/>
              <a:t>cannot</a:t>
            </a:r>
            <a:r>
              <a:rPr lang="en-US" sz="2400" dirty="0" smtClean="0"/>
              <a:t> add elements to a List&lt;?&gt; (except null).</a:t>
            </a:r>
          </a:p>
          <a:p>
            <a:pPr marL="342900" indent="-342900">
              <a:spcBef>
                <a:spcPct val="20000"/>
              </a:spcBef>
              <a:buFont typeface="Arial" pitchFamily="34" charset="0"/>
              <a:buChar char="•"/>
            </a:pPr>
            <a:r>
              <a:rPr lang="en-US" sz="2400" b="1" dirty="0" smtClean="0"/>
              <a:t>Reason:</a:t>
            </a:r>
            <a:r>
              <a:rPr lang="en-US" sz="2400" dirty="0" smtClean="0"/>
              <a:t> The compiler doesn't know what type is safe to add</a:t>
            </a:r>
            <a:r>
              <a:rPr lang="en-US" sz="2400" dirty="0" smtClean="0"/>
              <a:t>.</a:t>
            </a:r>
            <a:endParaRPr lang="en-US" sz="2400" dirty="0" smtClean="0"/>
          </a:p>
        </p:txBody>
      </p:sp>
      <p:sp>
        <p:nvSpPr>
          <p:cNvPr id="5" name="Rectangle 4"/>
          <p:cNvSpPr/>
          <p:nvPr/>
        </p:nvSpPr>
        <p:spPr>
          <a:xfrm>
            <a:off x="714348" y="3643314"/>
            <a:ext cx="7715304" cy="1631216"/>
          </a:xfrm>
          <a:prstGeom prst="rect">
            <a:avLst/>
          </a:prstGeom>
          <a:ln>
            <a:solidFill>
              <a:schemeClr val="accent1"/>
            </a:solidFill>
          </a:ln>
        </p:spPr>
        <p:txBody>
          <a:bodyPr wrap="square">
            <a:spAutoFit/>
          </a:bodyPr>
          <a:lstStyle/>
          <a:p>
            <a:r>
              <a:rPr lang="en-US" sz="2000" b="1" dirty="0" smtClean="0">
                <a:latin typeface="Courier New" pitchFamily="49" charset="0"/>
                <a:cs typeface="Courier New" pitchFamily="49" charset="0"/>
              </a:rPr>
              <a:t>public void </a:t>
            </a:r>
            <a:r>
              <a:rPr lang="en-US" sz="2000" b="1" dirty="0" err="1" smtClean="0">
                <a:latin typeface="Courier New" pitchFamily="49" charset="0"/>
                <a:cs typeface="Courier New" pitchFamily="49" charset="0"/>
              </a:rPr>
              <a:t>printList</a:t>
            </a:r>
            <a:r>
              <a:rPr lang="en-US" sz="2000" b="1" dirty="0" smtClean="0">
                <a:latin typeface="Courier New" pitchFamily="49" charset="0"/>
                <a:cs typeface="Courier New" pitchFamily="49" charset="0"/>
              </a:rPr>
              <a:t>(List&lt;?&gt; list) {</a:t>
            </a:r>
          </a:p>
          <a:p>
            <a:r>
              <a:rPr lang="en-US" sz="2000" b="1" dirty="0" smtClean="0">
                <a:latin typeface="Courier New" pitchFamily="49" charset="0"/>
                <a:cs typeface="Courier New" pitchFamily="49" charset="0"/>
              </a:rPr>
              <a:t>    for (Object </a:t>
            </a:r>
            <a:r>
              <a:rPr lang="en-US" sz="2000" b="1" dirty="0" err="1" smtClean="0">
                <a:latin typeface="Courier New" pitchFamily="49" charset="0"/>
                <a:cs typeface="Courier New" pitchFamily="49" charset="0"/>
              </a:rPr>
              <a:t>elem</a:t>
            </a:r>
            <a:r>
              <a:rPr lang="en-US" sz="2000" b="1" dirty="0" smtClean="0">
                <a:latin typeface="Courier New" pitchFamily="49" charset="0"/>
                <a:cs typeface="Courier New" pitchFamily="49" charset="0"/>
              </a:rPr>
              <a:t> : list) {</a:t>
            </a:r>
          </a:p>
          <a:p>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System.out.println</a:t>
            </a:r>
            <a:r>
              <a:rPr lang="en-US" sz="2000" b="1" dirty="0" smtClean="0">
                <a:latin typeface="Courier New" pitchFamily="49" charset="0"/>
                <a:cs typeface="Courier New" pitchFamily="49" charset="0"/>
              </a:rPr>
              <a:t>(</a:t>
            </a:r>
            <a:r>
              <a:rPr lang="en-US" sz="2000" b="1" dirty="0" err="1" smtClean="0">
                <a:latin typeface="Courier New" pitchFamily="49" charset="0"/>
                <a:cs typeface="Courier New" pitchFamily="49" charset="0"/>
              </a:rPr>
              <a:t>elem</a:t>
            </a:r>
            <a:r>
              <a:rPr lang="en-US" sz="2000" b="1" dirty="0" smtClean="0">
                <a:latin typeface="Courier New" pitchFamily="49" charset="0"/>
                <a:cs typeface="Courier New" pitchFamily="49" charset="0"/>
              </a:rPr>
              <a:t>);</a:t>
            </a:r>
          </a:p>
          <a:p>
            <a:r>
              <a:rPr lang="en-US" sz="2000" b="1" dirty="0" smtClean="0">
                <a:latin typeface="Courier New" pitchFamily="49" charset="0"/>
                <a:cs typeface="Courier New" pitchFamily="49" charset="0"/>
              </a:rPr>
              <a:t>    }</a:t>
            </a:r>
          </a:p>
          <a:p>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US" b="1" dirty="0" smtClean="0"/>
              <a:t>Bounded Wildcards (PECS)</a:t>
            </a:r>
            <a:endParaRPr lang="en-US" dirty="0"/>
          </a:p>
        </p:txBody>
      </p:sp>
      <p:sp>
        <p:nvSpPr>
          <p:cNvPr id="3" name="Content Placeholder 2"/>
          <p:cNvSpPr>
            <a:spLocks noGrp="1"/>
          </p:cNvSpPr>
          <p:nvPr>
            <p:ph idx="1"/>
          </p:nvPr>
        </p:nvSpPr>
        <p:spPr>
          <a:xfrm>
            <a:off x="457200" y="1285861"/>
            <a:ext cx="8229600" cy="3143272"/>
          </a:xfrm>
        </p:spPr>
        <p:txBody>
          <a:bodyPr>
            <a:noAutofit/>
          </a:bodyPr>
          <a:lstStyle/>
          <a:p>
            <a:r>
              <a:rPr lang="en-US" sz="2000" dirty="0" smtClean="0"/>
              <a:t>Upper </a:t>
            </a:r>
            <a:r>
              <a:rPr lang="en-US" sz="2000" dirty="0" smtClean="0"/>
              <a:t>&amp; Lower Bounded Wildcards</a:t>
            </a:r>
          </a:p>
          <a:p>
            <a:pPr lvl="1"/>
            <a:r>
              <a:rPr lang="en-US" sz="2000" b="1" dirty="0" smtClean="0"/>
              <a:t>? extends Type (Upper Bound):</a:t>
            </a:r>
            <a:endParaRPr lang="en-US" sz="2000" dirty="0" smtClean="0"/>
          </a:p>
          <a:p>
            <a:pPr lvl="2"/>
            <a:r>
              <a:rPr lang="en-US" sz="2000" dirty="0" smtClean="0"/>
              <a:t>Represents Type or its subclasses.</a:t>
            </a:r>
          </a:p>
          <a:p>
            <a:pPr lvl="2"/>
            <a:r>
              <a:rPr lang="en-US" sz="2000" b="1" dirty="0" smtClean="0"/>
              <a:t>Producer:</a:t>
            </a:r>
            <a:r>
              <a:rPr lang="en-US" sz="2000" dirty="0" smtClean="0"/>
              <a:t> You can </a:t>
            </a:r>
            <a:r>
              <a:rPr lang="en-US" sz="2000" b="1" dirty="0" smtClean="0"/>
              <a:t>get</a:t>
            </a:r>
            <a:r>
              <a:rPr lang="en-US" sz="2000" dirty="0" smtClean="0"/>
              <a:t> (read) items out.</a:t>
            </a:r>
          </a:p>
          <a:p>
            <a:pPr lvl="1"/>
            <a:r>
              <a:rPr lang="en-US" sz="2000" b="1" dirty="0" smtClean="0"/>
              <a:t>? super Type (Lower Bound):</a:t>
            </a:r>
            <a:endParaRPr lang="en-US" sz="2000" dirty="0" smtClean="0"/>
          </a:p>
          <a:p>
            <a:pPr lvl="2"/>
            <a:r>
              <a:rPr lang="en-US" sz="2000" dirty="0" smtClean="0"/>
              <a:t>Represents Type or its </a:t>
            </a:r>
            <a:r>
              <a:rPr lang="en-US" sz="2000" dirty="0" err="1" smtClean="0"/>
              <a:t>superclasses</a:t>
            </a:r>
            <a:r>
              <a:rPr lang="en-US" sz="2000" dirty="0" smtClean="0"/>
              <a:t>.</a:t>
            </a:r>
          </a:p>
          <a:p>
            <a:pPr lvl="2"/>
            <a:r>
              <a:rPr lang="en-US" sz="2000" b="1" dirty="0" smtClean="0"/>
              <a:t>Consumer:</a:t>
            </a:r>
            <a:r>
              <a:rPr lang="en-US" sz="2000" dirty="0" smtClean="0"/>
              <a:t> You can </a:t>
            </a:r>
            <a:r>
              <a:rPr lang="en-US" sz="2000" b="1" dirty="0" smtClean="0"/>
              <a:t>put</a:t>
            </a:r>
            <a:r>
              <a:rPr lang="en-US" sz="2000" dirty="0" smtClean="0"/>
              <a:t> (write) items in.</a:t>
            </a:r>
          </a:p>
          <a:p>
            <a:pPr lvl="1"/>
            <a:r>
              <a:rPr lang="en-US" sz="2000" b="1" dirty="0" smtClean="0"/>
              <a:t>Mnemonic:</a:t>
            </a:r>
            <a:r>
              <a:rPr lang="en-US" sz="2000" dirty="0" smtClean="0"/>
              <a:t> </a:t>
            </a:r>
            <a:r>
              <a:rPr lang="en-US" sz="2000" b="1" dirty="0" smtClean="0"/>
              <a:t>PECS</a:t>
            </a:r>
            <a:r>
              <a:rPr lang="en-US" sz="2000" dirty="0" smtClean="0"/>
              <a:t> (Producer Extends, Consumer Super).</a:t>
            </a:r>
            <a:endParaRPr lang="en-US" sz="2000" dirty="0"/>
          </a:p>
        </p:txBody>
      </p:sp>
      <p:sp>
        <p:nvSpPr>
          <p:cNvPr id="4" name="Rectangle 3"/>
          <p:cNvSpPr/>
          <p:nvPr/>
        </p:nvSpPr>
        <p:spPr>
          <a:xfrm>
            <a:off x="285752" y="4406824"/>
            <a:ext cx="8786842" cy="2308324"/>
          </a:xfrm>
          <a:prstGeom prst="rect">
            <a:avLst/>
          </a:prstGeom>
          <a:ln>
            <a:solidFill>
              <a:schemeClr val="accent1"/>
            </a:solidFill>
          </a:ln>
        </p:spPr>
        <p:txBody>
          <a:bodyPr wrap="square">
            <a:spAutoFit/>
          </a:bodyPr>
          <a:lstStyle/>
          <a:p>
            <a:r>
              <a:rPr lang="en-US" b="1" dirty="0" smtClean="0">
                <a:latin typeface="Courier New" pitchFamily="49" charset="0"/>
                <a:cs typeface="Courier New" pitchFamily="49" charset="0"/>
              </a:rPr>
              <a:t>void </a:t>
            </a:r>
            <a:r>
              <a:rPr lang="en-US" b="1" dirty="0" smtClean="0">
                <a:latin typeface="Courier New" pitchFamily="49" charset="0"/>
                <a:cs typeface="Courier New" pitchFamily="49" charset="0"/>
              </a:rPr>
              <a:t>process(List&lt;? extends Number&gt; list) { </a:t>
            </a:r>
          </a:p>
          <a:p>
            <a:r>
              <a:rPr lang="en-US" b="1" dirty="0" smtClean="0">
                <a:latin typeface="Courier New" pitchFamily="49" charset="0"/>
                <a:cs typeface="Courier New" pitchFamily="49" charset="0"/>
              </a:rPr>
              <a:t>    Number n = </a:t>
            </a:r>
            <a:r>
              <a:rPr lang="en-US" b="1" dirty="0" err="1" smtClean="0">
                <a:latin typeface="Courier New" pitchFamily="49" charset="0"/>
                <a:cs typeface="Courier New" pitchFamily="49" charset="0"/>
              </a:rPr>
              <a:t>list.get</a:t>
            </a:r>
            <a:r>
              <a:rPr lang="en-US" b="1" dirty="0" smtClean="0">
                <a:latin typeface="Courier New" pitchFamily="49" charset="0"/>
                <a:cs typeface="Courier New" pitchFamily="49" charset="0"/>
              </a:rPr>
              <a:t>(0); </a:t>
            </a:r>
            <a:r>
              <a:rPr lang="en-US" b="1" dirty="0" smtClean="0">
                <a:solidFill>
                  <a:schemeClr val="bg1">
                    <a:lumMod val="50000"/>
                  </a:schemeClr>
                </a:solidFill>
                <a:latin typeface="Courier New" pitchFamily="49" charset="0"/>
                <a:cs typeface="Courier New" pitchFamily="49" charset="0"/>
              </a:rPr>
              <a:t>// OK</a:t>
            </a:r>
          </a:p>
          <a:p>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list.add</a:t>
            </a:r>
            <a:r>
              <a:rPr lang="en-US" b="1" dirty="0" smtClean="0">
                <a:latin typeface="Courier New" pitchFamily="49" charset="0"/>
                <a:cs typeface="Courier New" pitchFamily="49" charset="0"/>
              </a:rPr>
              <a:t>(1</a:t>
            </a:r>
            <a:r>
              <a:rPr lang="en-US" b="1" dirty="0" smtClean="0">
                <a:latin typeface="Courier New" pitchFamily="49" charset="0"/>
                <a:cs typeface="Courier New" pitchFamily="49" charset="0"/>
              </a:rPr>
              <a:t>); </a:t>
            </a:r>
            <a:r>
              <a:rPr lang="en-US" b="1" dirty="0" smtClean="0">
                <a:solidFill>
                  <a:schemeClr val="bg1">
                    <a:lumMod val="50000"/>
                  </a:schemeClr>
                </a:solidFill>
                <a:latin typeface="Courier New" pitchFamily="49" charset="0"/>
                <a:cs typeface="Courier New" pitchFamily="49" charset="0"/>
              </a:rPr>
              <a:t>// Compile Error</a:t>
            </a:r>
          </a:p>
          <a:p>
            <a:r>
              <a:rPr lang="en-US" b="1" dirty="0" smtClean="0">
                <a:latin typeface="Courier New" pitchFamily="49" charset="0"/>
                <a:cs typeface="Courier New" pitchFamily="49" charset="0"/>
              </a:rPr>
              <a:t>}</a:t>
            </a:r>
          </a:p>
          <a:p>
            <a:r>
              <a:rPr lang="en-US" b="1" dirty="0" smtClean="0">
                <a:latin typeface="Courier New" pitchFamily="49" charset="0"/>
                <a:cs typeface="Courier New" pitchFamily="49" charset="0"/>
              </a:rPr>
              <a:t>void </a:t>
            </a:r>
            <a:r>
              <a:rPr lang="en-US" b="1" dirty="0" err="1" smtClean="0">
                <a:latin typeface="Courier New" pitchFamily="49" charset="0"/>
                <a:cs typeface="Courier New" pitchFamily="49" charset="0"/>
              </a:rPr>
              <a:t>addNumbers</a:t>
            </a:r>
            <a:r>
              <a:rPr lang="en-US" b="1" dirty="0" smtClean="0">
                <a:latin typeface="Courier New" pitchFamily="49" charset="0"/>
                <a:cs typeface="Courier New" pitchFamily="49" charset="0"/>
              </a:rPr>
              <a:t>(List&lt;? super Integer&gt; list) {</a:t>
            </a:r>
          </a:p>
          <a:p>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list.add</a:t>
            </a:r>
            <a:r>
              <a:rPr lang="en-US" b="1" dirty="0" smtClean="0">
                <a:latin typeface="Courier New" pitchFamily="49" charset="0"/>
                <a:cs typeface="Courier New" pitchFamily="49" charset="0"/>
              </a:rPr>
              <a:t>(10); </a:t>
            </a:r>
            <a:r>
              <a:rPr lang="en-US" b="1" dirty="0" smtClean="0">
                <a:solidFill>
                  <a:schemeClr val="bg1">
                    <a:lumMod val="50000"/>
                  </a:schemeClr>
                </a:solidFill>
                <a:latin typeface="Courier New" pitchFamily="49" charset="0"/>
                <a:cs typeface="Courier New" pitchFamily="49" charset="0"/>
              </a:rPr>
              <a:t>// OK</a:t>
            </a:r>
          </a:p>
          <a:p>
            <a:r>
              <a:rPr lang="en-US" b="1" dirty="0" smtClean="0">
                <a:latin typeface="Courier New" pitchFamily="49" charset="0"/>
                <a:cs typeface="Courier New" pitchFamily="49" charset="0"/>
              </a:rPr>
              <a:t>    </a:t>
            </a:r>
            <a:r>
              <a:rPr lang="en-US" b="1" dirty="0" smtClean="0">
                <a:latin typeface="Courier New" pitchFamily="49" charset="0"/>
                <a:cs typeface="Courier New" pitchFamily="49" charset="0"/>
              </a:rPr>
              <a:t>Integer </a:t>
            </a:r>
            <a:r>
              <a:rPr lang="en-US" b="1" dirty="0" err="1" smtClean="0">
                <a:latin typeface="Courier New" pitchFamily="49" charset="0"/>
                <a:cs typeface="Courier New" pitchFamily="49" charset="0"/>
              </a:rPr>
              <a:t>i</a:t>
            </a:r>
            <a:r>
              <a:rPr lang="en-US" b="1" dirty="0" smtClean="0">
                <a:latin typeface="Courier New" pitchFamily="49" charset="0"/>
                <a:cs typeface="Courier New" pitchFamily="49" charset="0"/>
              </a:rPr>
              <a:t> = </a:t>
            </a:r>
            <a:r>
              <a:rPr lang="en-US" b="1" dirty="0" err="1" smtClean="0">
                <a:latin typeface="Courier New" pitchFamily="49" charset="0"/>
                <a:cs typeface="Courier New" pitchFamily="49" charset="0"/>
              </a:rPr>
              <a:t>list.get</a:t>
            </a:r>
            <a:r>
              <a:rPr lang="en-US" b="1" dirty="0" smtClean="0">
                <a:latin typeface="Courier New" pitchFamily="49" charset="0"/>
                <a:cs typeface="Courier New" pitchFamily="49" charset="0"/>
              </a:rPr>
              <a:t>(0); </a:t>
            </a:r>
            <a:r>
              <a:rPr lang="en-US" b="1" dirty="0" smtClean="0">
                <a:solidFill>
                  <a:schemeClr val="bg1">
                    <a:lumMod val="50000"/>
                  </a:schemeClr>
                </a:solidFill>
                <a:latin typeface="Courier New" pitchFamily="49" charset="0"/>
                <a:cs typeface="Courier New" pitchFamily="49" charset="0"/>
              </a:rPr>
              <a:t>// Returns Object, not Integer</a:t>
            </a:r>
          </a:p>
          <a:p>
            <a:r>
              <a:rPr lang="en-US" b="1" dirty="0" smtClean="0">
                <a:solidFill>
                  <a:schemeClr val="bg1">
                    <a:lumMod val="50000"/>
                  </a:schemeClr>
                </a:solidFill>
                <a:latin typeface="Courier New" pitchFamily="49" charset="0"/>
                <a:cs typeface="Courier New" pitchFamily="49" charset="0"/>
              </a:rPr>
              <a:t>}</a:t>
            </a:r>
            <a:endParaRPr lang="en-US" b="1" dirty="0">
              <a:solidFill>
                <a:schemeClr val="bg1">
                  <a:lumMod val="50000"/>
                </a:schemeClr>
              </a:solidFill>
              <a:latin typeface="Courier New" pitchFamily="49" charset="0"/>
              <a:cs typeface="Courier New"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 </a:t>
            </a:r>
            <a:r>
              <a:rPr lang="en-US" b="1" dirty="0" smtClean="0"/>
              <a:t>Erasure</a:t>
            </a:r>
            <a:endParaRPr lang="en-US" dirty="0"/>
          </a:p>
        </p:txBody>
      </p:sp>
      <p:sp>
        <p:nvSpPr>
          <p:cNvPr id="3" name="Content Placeholder 2"/>
          <p:cNvSpPr>
            <a:spLocks noGrp="1"/>
          </p:cNvSpPr>
          <p:nvPr>
            <p:ph idx="1"/>
          </p:nvPr>
        </p:nvSpPr>
        <p:spPr>
          <a:xfrm>
            <a:off x="457200" y="1428736"/>
            <a:ext cx="8229600" cy="5143536"/>
          </a:xfrm>
        </p:spPr>
        <p:txBody>
          <a:bodyPr>
            <a:noAutofit/>
          </a:bodyPr>
          <a:lstStyle/>
          <a:p>
            <a:r>
              <a:rPr lang="en-US" sz="2400" dirty="0" smtClean="0"/>
              <a:t>How </a:t>
            </a:r>
            <a:r>
              <a:rPr lang="en-US" sz="2400" dirty="0" smtClean="0"/>
              <a:t>Generics Work Under the Hood</a:t>
            </a:r>
          </a:p>
          <a:p>
            <a:pPr lvl="1"/>
            <a:r>
              <a:rPr lang="en-US" sz="2400" b="1" dirty="0" smtClean="0"/>
              <a:t>Type Erasure:</a:t>
            </a:r>
            <a:r>
              <a:rPr lang="en-US" sz="2400" dirty="0" smtClean="0"/>
              <a:t> Generics are a compile-time feature.</a:t>
            </a:r>
          </a:p>
          <a:p>
            <a:pPr lvl="1"/>
            <a:r>
              <a:rPr lang="en-US" sz="2400" b="1" dirty="0" smtClean="0"/>
              <a:t>Process:</a:t>
            </a:r>
            <a:r>
              <a:rPr lang="en-US" sz="2400" dirty="0" smtClean="0"/>
              <a:t> The compiler replaces T with Object (or the bound) and inserts casts.</a:t>
            </a:r>
          </a:p>
          <a:p>
            <a:pPr lvl="1"/>
            <a:r>
              <a:rPr lang="en-US" sz="2400" b="1" dirty="0" smtClean="0"/>
              <a:t>Result:</a:t>
            </a:r>
            <a:r>
              <a:rPr lang="en-US" sz="2400" dirty="0" smtClean="0"/>
              <a:t> At runtime, List&lt;String&gt; and List&lt;Integer&gt; are both just List.</a:t>
            </a:r>
          </a:p>
          <a:p>
            <a:pPr lvl="1"/>
            <a:r>
              <a:rPr lang="en-US" sz="2400" b="1" dirty="0" smtClean="0"/>
              <a:t>Limitations:</a:t>
            </a:r>
            <a:endParaRPr lang="en-US" sz="2400" dirty="0" smtClean="0"/>
          </a:p>
          <a:p>
            <a:pPr lvl="2"/>
            <a:r>
              <a:rPr lang="en-US" dirty="0" smtClean="0"/>
              <a:t>Cannot create instances: new T() is illegal.</a:t>
            </a:r>
          </a:p>
          <a:p>
            <a:pPr lvl="2"/>
            <a:r>
              <a:rPr lang="en-US" dirty="0" smtClean="0"/>
              <a:t>Cannot use primitives: List&lt;</a:t>
            </a:r>
            <a:r>
              <a:rPr lang="en-US" dirty="0" err="1" smtClean="0"/>
              <a:t>int</a:t>
            </a:r>
            <a:r>
              <a:rPr lang="en-US" dirty="0" smtClean="0"/>
              <a:t>&gt; is illegal (use List&lt;Integer&gt;).</a:t>
            </a:r>
          </a:p>
          <a:p>
            <a:pPr lvl="2"/>
            <a:r>
              <a:rPr lang="en-US" dirty="0" smtClean="0"/>
              <a:t>Cannot use </a:t>
            </a:r>
            <a:r>
              <a:rPr lang="en-US" dirty="0" err="1" smtClean="0"/>
              <a:t>instanceof</a:t>
            </a:r>
            <a:r>
              <a:rPr lang="en-US" dirty="0" smtClean="0"/>
              <a:t> with generics: </a:t>
            </a:r>
            <a:r>
              <a:rPr lang="en-US" dirty="0" err="1" smtClean="0"/>
              <a:t>obj</a:t>
            </a:r>
            <a:r>
              <a:rPr lang="en-US" dirty="0" smtClean="0"/>
              <a:t> </a:t>
            </a:r>
            <a:r>
              <a:rPr lang="en-US" dirty="0" err="1" smtClean="0"/>
              <a:t>instanceof</a:t>
            </a:r>
            <a:r>
              <a:rPr lang="en-US" dirty="0" smtClean="0"/>
              <a:t> List&lt;String&gt; is illegal.</a:t>
            </a:r>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Generics in </a:t>
            </a:r>
            <a:r>
              <a:rPr lang="en-US" b="1" dirty="0" smtClean="0"/>
              <a:t>Collections</a:t>
            </a:r>
            <a:endParaRPr lang="en-US" dirty="0"/>
          </a:p>
        </p:txBody>
      </p:sp>
      <p:sp>
        <p:nvSpPr>
          <p:cNvPr id="3" name="Content Placeholder 2"/>
          <p:cNvSpPr>
            <a:spLocks noGrp="1"/>
          </p:cNvSpPr>
          <p:nvPr>
            <p:ph idx="1"/>
          </p:nvPr>
        </p:nvSpPr>
        <p:spPr>
          <a:xfrm>
            <a:off x="457200" y="1600201"/>
            <a:ext cx="8229600" cy="2328866"/>
          </a:xfrm>
        </p:spPr>
        <p:txBody>
          <a:bodyPr>
            <a:normAutofit/>
          </a:bodyPr>
          <a:lstStyle/>
          <a:p>
            <a:r>
              <a:rPr lang="en-US" sz="2400" dirty="0" smtClean="0"/>
              <a:t>Common </a:t>
            </a:r>
            <a:r>
              <a:rPr lang="en-US" sz="2400" dirty="0" smtClean="0"/>
              <a:t>Collection Generics</a:t>
            </a:r>
          </a:p>
          <a:p>
            <a:pPr lvl="1"/>
            <a:r>
              <a:rPr lang="en-US" sz="2400" b="1" dirty="0" smtClean="0"/>
              <a:t>List&lt;E&gt;</a:t>
            </a:r>
            <a:r>
              <a:rPr lang="en-US" sz="2400" dirty="0" smtClean="0"/>
              <a:t>: Ordered collection.</a:t>
            </a:r>
          </a:p>
          <a:p>
            <a:pPr lvl="1"/>
            <a:r>
              <a:rPr lang="en-US" sz="2400" b="1" dirty="0" smtClean="0"/>
              <a:t>Set&lt;E&gt;</a:t>
            </a:r>
            <a:r>
              <a:rPr lang="en-US" sz="2400" dirty="0" smtClean="0"/>
              <a:t>: Unique elements.</a:t>
            </a:r>
          </a:p>
          <a:p>
            <a:pPr lvl="1"/>
            <a:r>
              <a:rPr lang="en-US" sz="2400" b="1" dirty="0" smtClean="0"/>
              <a:t>Map&lt;K, V&gt;</a:t>
            </a:r>
            <a:r>
              <a:rPr lang="en-US" sz="2400" dirty="0" smtClean="0"/>
              <a:t>: Key-Value pairs (Two type parameters).</a:t>
            </a:r>
          </a:p>
          <a:p>
            <a:pPr lvl="1"/>
            <a:r>
              <a:rPr lang="en-US" sz="2400" b="1" dirty="0" smtClean="0"/>
              <a:t>Queue&lt;E&gt;</a:t>
            </a:r>
            <a:r>
              <a:rPr lang="en-US" sz="2400" dirty="0" smtClean="0"/>
              <a:t>: FIFO collection.</a:t>
            </a:r>
            <a:endParaRPr lang="en-US" sz="2400" dirty="0"/>
          </a:p>
        </p:txBody>
      </p:sp>
      <p:sp>
        <p:nvSpPr>
          <p:cNvPr id="4" name="Content Placeholder 2"/>
          <p:cNvSpPr txBox="1">
            <a:spLocks/>
          </p:cNvSpPr>
          <p:nvPr/>
        </p:nvSpPr>
        <p:spPr>
          <a:xfrm>
            <a:off x="428596" y="5715016"/>
            <a:ext cx="8229600" cy="642942"/>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2400" b="1" dirty="0" smtClean="0"/>
              <a:t>Note</a:t>
            </a:r>
            <a:r>
              <a:rPr lang="en-US" sz="2400" b="1" dirty="0" smtClean="0"/>
              <a:t>:</a:t>
            </a:r>
            <a:r>
              <a:rPr lang="en-US" sz="2400" dirty="0" smtClean="0"/>
              <a:t> Always specify types to avoid raw type warnings.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Rectangle 4"/>
          <p:cNvSpPr/>
          <p:nvPr/>
        </p:nvSpPr>
        <p:spPr>
          <a:xfrm>
            <a:off x="571472" y="4095942"/>
            <a:ext cx="7929618" cy="1261884"/>
          </a:xfrm>
          <a:prstGeom prst="rect">
            <a:avLst/>
          </a:prstGeom>
          <a:ln>
            <a:solidFill>
              <a:schemeClr val="accent1"/>
            </a:solidFill>
          </a:ln>
        </p:spPr>
        <p:txBody>
          <a:bodyPr wrap="square">
            <a:spAutoFit/>
          </a:bodyPr>
          <a:lstStyle/>
          <a:p>
            <a:pPr>
              <a:spcBef>
                <a:spcPts val="600"/>
              </a:spcBef>
            </a:pPr>
            <a:r>
              <a:rPr lang="en-US" sz="2200" b="1" dirty="0" smtClean="0">
                <a:latin typeface="Courier New" pitchFamily="49" charset="0"/>
                <a:cs typeface="Courier New" pitchFamily="49" charset="0"/>
              </a:rPr>
              <a:t>List&lt;String&gt; names = new </a:t>
            </a:r>
            <a:r>
              <a:rPr lang="en-US" sz="2200" b="1" dirty="0" err="1" smtClean="0">
                <a:latin typeface="Courier New" pitchFamily="49" charset="0"/>
                <a:cs typeface="Courier New" pitchFamily="49" charset="0"/>
              </a:rPr>
              <a:t>ArrayList</a:t>
            </a:r>
            <a:r>
              <a:rPr lang="en-US" sz="2200" b="1" dirty="0" smtClean="0">
                <a:latin typeface="Courier New" pitchFamily="49" charset="0"/>
                <a:cs typeface="Courier New" pitchFamily="49" charset="0"/>
              </a:rPr>
              <a:t>&lt;&gt;();</a:t>
            </a:r>
          </a:p>
          <a:p>
            <a:pPr>
              <a:spcBef>
                <a:spcPts val="600"/>
              </a:spcBef>
            </a:pPr>
            <a:r>
              <a:rPr lang="en-US" sz="2200" b="1" dirty="0" smtClean="0">
                <a:latin typeface="Courier New" pitchFamily="49" charset="0"/>
                <a:cs typeface="Courier New" pitchFamily="49" charset="0"/>
              </a:rPr>
              <a:t>Set&lt;Integer&gt; ids = new </a:t>
            </a:r>
            <a:r>
              <a:rPr lang="en-US" sz="2200" b="1" dirty="0" err="1" smtClean="0">
                <a:latin typeface="Courier New" pitchFamily="49" charset="0"/>
                <a:cs typeface="Courier New" pitchFamily="49" charset="0"/>
              </a:rPr>
              <a:t>HashSet</a:t>
            </a:r>
            <a:r>
              <a:rPr lang="en-US" sz="2200" b="1" dirty="0" smtClean="0">
                <a:latin typeface="Courier New" pitchFamily="49" charset="0"/>
                <a:cs typeface="Courier New" pitchFamily="49" charset="0"/>
              </a:rPr>
              <a:t>&lt;&gt;();</a:t>
            </a:r>
          </a:p>
          <a:p>
            <a:pPr>
              <a:spcBef>
                <a:spcPts val="600"/>
              </a:spcBef>
            </a:pPr>
            <a:r>
              <a:rPr lang="en-US" sz="2200" b="1" dirty="0" smtClean="0">
                <a:latin typeface="Courier New" pitchFamily="49" charset="0"/>
                <a:cs typeface="Courier New" pitchFamily="49" charset="0"/>
              </a:rPr>
              <a:t>Map&lt;String, Integer&gt; scores = new </a:t>
            </a:r>
            <a:r>
              <a:rPr lang="en-US" sz="2200" b="1" dirty="0" err="1" smtClean="0">
                <a:latin typeface="Courier New" pitchFamily="49" charset="0"/>
                <a:cs typeface="Courier New" pitchFamily="49" charset="0"/>
              </a:rPr>
              <a:t>HashMap</a:t>
            </a:r>
            <a:r>
              <a:rPr lang="en-US" sz="2200" b="1" dirty="0" smtClean="0">
                <a:latin typeface="Courier New" pitchFamily="49" charset="0"/>
                <a:cs typeface="Courier New" pitchFamily="49" charset="0"/>
              </a:rPr>
              <a:t>&lt;&gt;();</a:t>
            </a:r>
            <a:endParaRPr lang="en-US" sz="2200" b="1" dirty="0">
              <a:latin typeface="Courier New" pitchFamily="49" charset="0"/>
              <a:cs typeface="Courier New"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143000"/>
          </a:xfrm>
        </p:spPr>
        <p:txBody>
          <a:bodyPr>
            <a:normAutofit/>
          </a:bodyPr>
          <a:lstStyle/>
          <a:p>
            <a:r>
              <a:rPr lang="en-US" b="1" dirty="0" smtClean="0"/>
              <a:t>Best </a:t>
            </a:r>
            <a:r>
              <a:rPr lang="en-US" b="1" dirty="0" smtClean="0"/>
              <a:t>Practices</a:t>
            </a:r>
            <a:endParaRPr lang="en-US" b="1" dirty="0"/>
          </a:p>
        </p:txBody>
      </p:sp>
      <p:sp>
        <p:nvSpPr>
          <p:cNvPr id="3" name="Content Placeholder 2"/>
          <p:cNvSpPr>
            <a:spLocks noGrp="1"/>
          </p:cNvSpPr>
          <p:nvPr>
            <p:ph idx="1"/>
          </p:nvPr>
        </p:nvSpPr>
        <p:spPr>
          <a:xfrm>
            <a:off x="457200" y="1428736"/>
            <a:ext cx="8229600" cy="5043510"/>
          </a:xfrm>
        </p:spPr>
        <p:txBody>
          <a:bodyPr>
            <a:noAutofit/>
          </a:bodyPr>
          <a:lstStyle/>
          <a:p>
            <a:r>
              <a:rPr lang="en-US" sz="2400" b="1" dirty="0" smtClean="0"/>
              <a:t>Generics </a:t>
            </a:r>
            <a:r>
              <a:rPr lang="en-US" sz="2400" b="1" dirty="0" smtClean="0"/>
              <a:t>Best Practices</a:t>
            </a:r>
          </a:p>
          <a:p>
            <a:pPr lvl="1"/>
            <a:r>
              <a:rPr lang="en-US" sz="2400" dirty="0" smtClean="0"/>
              <a:t>✅ Do:</a:t>
            </a:r>
          </a:p>
          <a:p>
            <a:pPr lvl="2"/>
            <a:r>
              <a:rPr lang="en-US" dirty="0" smtClean="0"/>
              <a:t>Use Generics for all Collections.</a:t>
            </a:r>
          </a:p>
          <a:p>
            <a:pPr lvl="2"/>
            <a:r>
              <a:rPr lang="en-US" dirty="0" smtClean="0"/>
              <a:t>Use Diamond Operator &lt;&gt;.</a:t>
            </a:r>
          </a:p>
          <a:p>
            <a:pPr lvl="2"/>
            <a:r>
              <a:rPr lang="en-US" dirty="0" smtClean="0"/>
              <a:t>Use Wildcards (?) for API flexibility (PECS).</a:t>
            </a:r>
          </a:p>
          <a:p>
            <a:pPr lvl="1"/>
            <a:r>
              <a:rPr lang="en-US" sz="2400" dirty="0" smtClean="0"/>
              <a:t>❌ Don't:</a:t>
            </a:r>
          </a:p>
          <a:p>
            <a:pPr lvl="2"/>
            <a:r>
              <a:rPr lang="en-US" dirty="0" smtClean="0"/>
              <a:t>Use Raw Types (List instead of List&lt;Object&gt;).</a:t>
            </a:r>
          </a:p>
          <a:p>
            <a:pPr lvl="2"/>
            <a:r>
              <a:rPr lang="en-US" dirty="0" smtClean="0"/>
              <a:t>Use Generics with Primitives (List&lt;</a:t>
            </a:r>
            <a:r>
              <a:rPr lang="en-US" dirty="0" err="1" smtClean="0"/>
              <a:t>int</a:t>
            </a:r>
            <a:r>
              <a:rPr lang="en-US" dirty="0" smtClean="0"/>
              <a:t>&gt;).</a:t>
            </a:r>
          </a:p>
          <a:p>
            <a:pPr lvl="2"/>
            <a:r>
              <a:rPr lang="en-US" dirty="0" smtClean="0"/>
              <a:t>Catch Generic Exceptions (catch (Exception&lt;T&gt; e) is invalid).</a:t>
            </a:r>
          </a:p>
          <a:p>
            <a:pPr lvl="2"/>
            <a:r>
              <a:rPr lang="en-US" dirty="0" smtClean="0"/>
              <a:t>Create Generic Arrays (new T[10] is invalid).</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1143000"/>
          </a:xfrm>
        </p:spPr>
        <p:txBody>
          <a:bodyPr>
            <a:normAutofit/>
          </a:bodyPr>
          <a:lstStyle/>
          <a:p>
            <a:r>
              <a:rPr lang="en-US" b="1" dirty="0" smtClean="0"/>
              <a:t>Summary &amp; </a:t>
            </a:r>
            <a:r>
              <a:rPr lang="en-US" b="1" dirty="0" smtClean="0"/>
              <a:t>Lab</a:t>
            </a:r>
            <a:endParaRPr lang="en-US" b="1" dirty="0"/>
          </a:p>
        </p:txBody>
      </p:sp>
      <p:sp>
        <p:nvSpPr>
          <p:cNvPr id="3" name="Content Placeholder 2"/>
          <p:cNvSpPr>
            <a:spLocks noGrp="1"/>
          </p:cNvSpPr>
          <p:nvPr>
            <p:ph idx="1"/>
          </p:nvPr>
        </p:nvSpPr>
        <p:spPr>
          <a:xfrm>
            <a:off x="457200" y="1142984"/>
            <a:ext cx="8229600" cy="5072098"/>
          </a:xfrm>
        </p:spPr>
        <p:txBody>
          <a:bodyPr>
            <a:noAutofit/>
          </a:bodyPr>
          <a:lstStyle/>
          <a:p>
            <a:r>
              <a:rPr lang="en-US" sz="2400" dirty="0" smtClean="0"/>
              <a:t>Summary</a:t>
            </a:r>
            <a:r>
              <a:rPr lang="en-US" sz="2400" dirty="0" smtClean="0"/>
              <a:t>:</a:t>
            </a:r>
          </a:p>
          <a:p>
            <a:pPr lvl="1"/>
            <a:r>
              <a:rPr lang="en-US" sz="2400" dirty="0" smtClean="0"/>
              <a:t>Generics provide type safety and reduce casting.</a:t>
            </a:r>
          </a:p>
          <a:p>
            <a:pPr lvl="1"/>
            <a:r>
              <a:rPr lang="en-US" sz="2400" dirty="0" smtClean="0"/>
              <a:t>Use &lt;T&gt; for classes/methods.</a:t>
            </a:r>
          </a:p>
          <a:p>
            <a:pPr lvl="1"/>
            <a:r>
              <a:rPr lang="en-US" sz="2400" dirty="0" smtClean="0"/>
              <a:t>Use ? extends for reading, ? super for writing.</a:t>
            </a:r>
          </a:p>
          <a:p>
            <a:pPr lvl="1"/>
            <a:r>
              <a:rPr lang="en-US" sz="2400" dirty="0" smtClean="0"/>
              <a:t>Remember Type Erasure limitations.</a:t>
            </a:r>
          </a:p>
          <a:p>
            <a:r>
              <a:rPr lang="en-US" sz="2400" dirty="0" smtClean="0"/>
              <a:t>Lab Exercise:</a:t>
            </a:r>
          </a:p>
          <a:p>
            <a:pPr lvl="1"/>
            <a:r>
              <a:rPr lang="en-US" sz="2400" dirty="0" smtClean="0"/>
              <a:t>Create a generic class Pair&lt;K, V&gt; that holds two objects of different types.</a:t>
            </a:r>
          </a:p>
          <a:p>
            <a:pPr lvl="1"/>
            <a:r>
              <a:rPr lang="en-US" sz="2400" dirty="0" smtClean="0"/>
              <a:t>Add </a:t>
            </a:r>
            <a:r>
              <a:rPr lang="en-US" sz="2400" dirty="0" err="1" smtClean="0"/>
              <a:t>getKey</a:t>
            </a:r>
            <a:r>
              <a:rPr lang="en-US" sz="2400" dirty="0" smtClean="0"/>
              <a:t>() and </a:t>
            </a:r>
            <a:r>
              <a:rPr lang="en-US" sz="2400" dirty="0" err="1" smtClean="0"/>
              <a:t>getValue</a:t>
            </a:r>
            <a:r>
              <a:rPr lang="en-US" sz="2400" dirty="0" smtClean="0"/>
              <a:t>() methods.</a:t>
            </a:r>
          </a:p>
          <a:p>
            <a:pPr lvl="1"/>
            <a:r>
              <a:rPr lang="en-US" sz="2400" dirty="0" smtClean="0"/>
              <a:t>Test with Pair&lt;String, Integer&gt; and Pair&lt;Double, Boolean&gt;.</a:t>
            </a:r>
          </a:p>
          <a:p>
            <a:pPr lvl="1"/>
            <a:r>
              <a:rPr lang="en-US" sz="2400" dirty="0" smtClean="0"/>
              <a:t>Challenge: Add a method swap() that returns a Pair&lt;V, K</a:t>
            </a:r>
            <a:r>
              <a:rPr lang="en-US" sz="2400" dirty="0" smtClean="0"/>
              <a:t>&gt;.</a:t>
            </a:r>
            <a:endParaRPr lang="en-US" sz="2400"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1137</TotalTime>
  <Words>1799</Words>
  <Application>Microsoft Office PowerPoint</Application>
  <PresentationFormat>On-screen Show (4:3)</PresentationFormat>
  <Paragraphs>222</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Java Generics</vt:lpstr>
      <vt:lpstr>Learning Objectives </vt:lpstr>
      <vt:lpstr>The Problem (Pre-Generics)</vt:lpstr>
      <vt:lpstr>Introduction to Generics</vt:lpstr>
      <vt:lpstr>Generic Classes</vt:lpstr>
      <vt:lpstr>Generic Methods</vt:lpstr>
      <vt:lpstr>Type Inference (Diamond Operator)</vt:lpstr>
      <vt:lpstr>Bounded Type Parameters</vt:lpstr>
      <vt:lpstr>Wildcards (?)</vt:lpstr>
      <vt:lpstr>Bounded Wildcards (PECS)</vt:lpstr>
      <vt:lpstr>Type Erasure</vt:lpstr>
      <vt:lpstr>Generics in Collections</vt:lpstr>
      <vt:lpstr>Best Practices</vt:lpstr>
      <vt:lpstr>Summary &amp; Lab</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and Object-Oriented Programming </dc:title>
  <dc:creator>tmik</dc:creator>
  <cp:lastModifiedBy>tmik</cp:lastModifiedBy>
  <cp:revision>324</cp:revision>
  <dcterms:created xsi:type="dcterms:W3CDTF">2026-02-15T10:58:32Z</dcterms:created>
  <dcterms:modified xsi:type="dcterms:W3CDTF">2026-03-12T16:44:42Z</dcterms:modified>
</cp:coreProperties>
</file>