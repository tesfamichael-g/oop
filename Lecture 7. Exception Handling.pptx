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C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3F4A503-5056-4A21-B22A-74B3CBF8010E}" type="slidenum"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Speaker Notes: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"Up until now, our programs crash when something goes wrong. Today, we learn how to anticipate problems, handle them gracefully, and keep the application running even when errors occur."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DBCC9E-7805-4F2F-B44E-0FE504A0E6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Visual Suggestion: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Flowchart showing "Normal Flow" vs. "Exception Flow" (jumping to catch block).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Speaker Notes: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"Without exception handling, one bad input from a user can shut down your entire program. Exception handling allows you to say, 'I expect this might fail, and here is what I want to do if it does.'"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FA0F19-A851-4E6F-9FB2-07CF1521FD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Visual Suggestion: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Tree diagram: Throwable -&gt; Error &amp; Exception -&gt; RuntimeException vs. IOException.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Speaker Notes: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"Think of Error as a building collapsing—you can't fix it in code. Exception is a tripped fuse—you can reset it. We focus on Exception."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9FBA98-AC33-486C-8D1F-52606C0CCC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Speaker Notes: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"finally is crucial for resource management. Even if your code crashes, you still want to close the file connection so data isn't lost."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855B6B-2FAD-4220-BEC5-B10618CBD8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Visual Suggestion: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Side-by-side code comparison highlighting the syntax difference.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Speaker Notes: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"This is a common interview question. throw is an action (I am throwing this now). throws is a warning (This method might throw something, be careful)."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E722DF-1740-4C8D-817E-C28C3AF57B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Speaker Notes: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"Checked exceptions force you to deal with external factors (like missing files). Unchecked exceptions usually mean you wrote bad logic (like accessing null)."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D3C1DD-B23D-4B42-822F-6B3FF4FB8C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Speaker Notes: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"Custom exceptions make your code more readable. 'InvalidAgeException' tells you exactly what went wrong, whereas a generic 'Exception' does not."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89CA7E-BF71-43A6-895B-51E34FB0A6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Visual Suggestion: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Screenshot of a JOptionPane error dialog with a red "X" icon.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Speaker Notes: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"In a console app, stack traces are fine. In a GUI app, users don't see the console. You must catch the exception and show a friendly dialog box."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9A392B-0F83-4C9A-A8CA-89CDE6B580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Visual Suggestion: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Checklist graphic with Green Checks and Red Crosses.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Speaker Notes: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"An empty catch block is a crime. It hides errors and makes debugging impossible. Always log the error or inform the user."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8E4C19-A10B-47F8-879C-4348FA7857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Speaker Notes: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"For your lab, take the code you wrote earlier. Intentionally type 'abc' into the number field. See it crash? Now fix it using what you learned today."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03159B-8337-45FC-B6F0-406CE7117A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311EB9-47BB-4E21-A33A-6592350AD6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DBD40A-2478-4638-8548-555EE13690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4F3F49-11D3-4AF7-8D4C-F8862240BF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8132E7-74C2-4733-8910-85953DCE69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F80CF6-F4EE-457E-9908-E89FD5FEB2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591E44-5860-4B07-8B16-47DAE0A5D4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A48523-F471-45AD-A609-383E986461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6C6471-E7C5-4E4E-B92C-9054811E4A4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289C53-FD27-4190-A324-64949D3499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9034D3-8B4E-4A1A-9E0C-38FE8DA2B8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1C7EE0-2628-4946-8C7E-50F0B620DAD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28760" y="642960"/>
            <a:ext cx="8357760" cy="217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8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Exception Handling</a:t>
            </a:r>
            <a:endParaRPr lang="en-US" sz="8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Title 1"/>
          <p:cNvSpPr/>
          <p:nvPr/>
        </p:nvSpPr>
        <p:spPr>
          <a:xfrm>
            <a:off x="428760" y="3143160"/>
            <a:ext cx="8357760" cy="21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Building Robust and Crash-Proof Applications</a:t>
            </a:r>
            <a:endParaRPr lang="en-CA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Learning Objectives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9144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What We Will Learn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Understand what an Exception is and why it occurs.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Differentiate between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Errors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and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Exceptions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the try, catch, finally blocks.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Distinguish between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Checked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and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Unchecked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exceptions.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Understand throw vs. throws.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Create Custom Exceptions.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–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Special Focus: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Handling Exceptions in Swing GUIs.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142920"/>
            <a:ext cx="8229240" cy="9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What is an Exception?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214280"/>
            <a:ext cx="8229240" cy="435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Definition: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An event that disrupts the normal flow of program execution.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Cause: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Invalid user input, missing files, network issues, logic errors.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Goal: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Prevent the application from crashing (terminating abruptly).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Example: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Dividing by zero.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Accessing an array index out of bounds.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Parsing a non-numeric String to an int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3"/>
          <p:cNvSpPr/>
          <p:nvPr/>
        </p:nvSpPr>
        <p:spPr>
          <a:xfrm>
            <a:off x="0" y="5770800"/>
            <a:ext cx="9143640" cy="1005120"/>
          </a:xfrm>
          <a:prstGeom prst="rect">
            <a:avLst/>
          </a:prstGeom>
          <a:noFill/>
          <a:ln w="0">
            <a:solidFill>
              <a:srgbClr val="4F81BD"/>
            </a:solidFill>
          </a:ln>
          <a:effectLst>
            <a:innerShdw blurRad="63500" dir="16200000" dist="50800">
              <a:srgbClr val="000000">
                <a:alpha val="50000"/>
              </a:srgbClr>
            </a:inn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int x = 10 / 0; </a:t>
            </a:r>
            <a:r>
              <a:rPr lang="en-US" sz="2000" b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ourier New"/>
              </a:rPr>
              <a:t>// ArithmeticException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int num = Integer.parseInt("ABC"); </a:t>
            </a:r>
            <a:r>
              <a:rPr lang="en-US" sz="2000" b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ourier New"/>
              </a:rPr>
              <a:t>// NumberFormatException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Exception Hierarchy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8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java.lang.Throwable: The root class.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Error: Serious system issues (e.g., OutOfMemoryError). Do not catch.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Exception: Conditions a program should catch.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Checked Exceptions: Checked at compile-time (e.g., IOException).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Unchecked Exceptions: Runtime errors (e.g., NullPointerException, ArithmeticException).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Try-Catch Block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428840"/>
            <a:ext cx="8229240" cy="175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Basic Handling: try and catch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–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try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 Block of code that might throw an exception.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catch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 Block of code that handles the exception.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Content Placeholder 2"/>
          <p:cNvSpPr/>
          <p:nvPr/>
        </p:nvSpPr>
        <p:spPr>
          <a:xfrm>
            <a:off x="428760" y="5500800"/>
            <a:ext cx="8229240" cy="9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Result: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The program does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crash; it prints the message and continues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4"/>
          <p:cNvSpPr/>
          <p:nvPr/>
        </p:nvSpPr>
        <p:spPr>
          <a:xfrm>
            <a:off x="642960" y="3204360"/>
            <a:ext cx="7929360" cy="1919880"/>
          </a:xfrm>
          <a:prstGeom prst="rect">
            <a:avLst/>
          </a:prstGeom>
          <a:noFill/>
          <a:ln w="0">
            <a:solidFill>
              <a:srgbClr val="4F81B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try {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int result = 10 / 0;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} catch (ArithmeticException e) {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System.out.println("Cannot divide by zero!");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}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System.out.println("Program continues...");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142920"/>
            <a:ext cx="8229240" cy="99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Multiple Catch &amp; Finally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071720"/>
            <a:ext cx="8229240" cy="99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Advanced Flow Control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Multiple Catch Blocks: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Handle different exceptions differently.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Content Placeholder 2"/>
          <p:cNvSpPr/>
          <p:nvPr/>
        </p:nvSpPr>
        <p:spPr>
          <a:xfrm>
            <a:off x="428760" y="4286160"/>
            <a:ext cx="8286480" cy="12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finally Block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Executes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always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(whether exception occurs or not).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Used for cleanup (closing files, database connections).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</a:pP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4"/>
          <p:cNvSpPr/>
          <p:nvPr/>
        </p:nvSpPr>
        <p:spPr>
          <a:xfrm>
            <a:off x="857160" y="2071800"/>
            <a:ext cx="7572240" cy="2224800"/>
          </a:xfrm>
          <a:prstGeom prst="rect">
            <a:avLst/>
          </a:prstGeom>
          <a:noFill/>
          <a:ln w="0">
            <a:solidFill>
              <a:srgbClr val="4F81B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try {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</a:t>
            </a:r>
            <a:r>
              <a:rPr lang="en-US" sz="2000" b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ourier New"/>
              </a:rPr>
              <a:t>// risky code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} catch (ArithmeticException e) {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</a:t>
            </a:r>
            <a:r>
              <a:rPr lang="en-US" sz="2000" b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ourier New"/>
              </a:rPr>
              <a:t>// handle math error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} catch (NumberFormatException e) {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</a:t>
            </a:r>
            <a:r>
              <a:rPr lang="en-US" sz="2000" b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ourier New"/>
              </a:rPr>
              <a:t>// handle input error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}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5"/>
          <p:cNvSpPr/>
          <p:nvPr/>
        </p:nvSpPr>
        <p:spPr>
          <a:xfrm>
            <a:off x="785880" y="5715000"/>
            <a:ext cx="7572240" cy="1005120"/>
          </a:xfrm>
          <a:prstGeom prst="rect">
            <a:avLst/>
          </a:prstGeom>
          <a:noFill/>
          <a:ln w="0">
            <a:solidFill>
              <a:srgbClr val="4F81B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finally {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System.out.println("Execution complete.");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}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712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Throw vs. Throws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357200"/>
            <a:ext cx="8229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5832F8"/>
              </a:buClr>
              <a:buFont typeface="Arial"/>
              <a:buChar char="•"/>
            </a:pPr>
            <a:r>
              <a:rPr lang="en-US" sz="2400" b="1" u="none" strike="noStrike">
                <a:solidFill>
                  <a:srgbClr val="5832F8"/>
                </a:solidFill>
                <a:effectLst/>
                <a:uFillTx/>
                <a:latin typeface="Calibri"/>
              </a:rPr>
              <a:t>throw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(Keyword):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Used inside a method to explicitly throw an exception.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Followed by an object.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Content Placeholder 2"/>
          <p:cNvSpPr/>
          <p:nvPr/>
        </p:nvSpPr>
        <p:spPr>
          <a:xfrm>
            <a:off x="785880" y="3071880"/>
            <a:ext cx="7714800" cy="713880"/>
          </a:xfrm>
          <a:prstGeom prst="rect">
            <a:avLst/>
          </a:prstGeom>
          <a:noFill/>
          <a:ln w="0">
            <a:solidFill>
              <a:srgbClr val="4F81BD"/>
            </a:solidFill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if (age &lt; 18) throw new ArithmeticException("Not eligible");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Content Placeholder 2"/>
          <p:cNvSpPr/>
          <p:nvPr/>
        </p:nvSpPr>
        <p:spPr>
          <a:xfrm>
            <a:off x="428760" y="4071960"/>
            <a:ext cx="8229240" cy="13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5832F8"/>
              </a:buClr>
              <a:buFont typeface="Arial"/>
              <a:buChar char="•"/>
            </a:pPr>
            <a:r>
              <a:rPr lang="en-US" sz="2400" b="1" u="none" strike="noStrike">
                <a:solidFill>
                  <a:srgbClr val="5832F8"/>
                </a:solidFill>
                <a:effectLst/>
                <a:uFillTx/>
                <a:latin typeface="Calibri"/>
              </a:rPr>
              <a:t>throws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(Clause)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Used in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method signature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to declare potential exceptions.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Followed by a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class name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Content Placeholder 2"/>
          <p:cNvSpPr/>
          <p:nvPr/>
        </p:nvSpPr>
        <p:spPr>
          <a:xfrm>
            <a:off x="714240" y="5715000"/>
            <a:ext cx="7714800" cy="713880"/>
          </a:xfrm>
          <a:prstGeom prst="rect">
            <a:avLst/>
          </a:prstGeom>
          <a:noFill/>
          <a:ln w="0">
            <a:solidFill>
              <a:srgbClr val="4F81BD"/>
            </a:solidFill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public void readFile() throws IOException { ... }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14292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Checked vs. Unchecked Exceptions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428840"/>
            <a:ext cx="8229240" cy="5071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Checked Exceptions: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Checked at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compile-time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Must be handled (try-catch) or declared (throws).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Examples: IOException, SQLException, ClassNotFoundException.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Unchecked Exceptions (Runtime):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Checked at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runtime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Usually programming errors.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Examples: NullPointerException, ArrayIndexOutOfBoundsException.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Rule: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You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must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handle Checked exceptions; you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should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fix Unchecked exceptions.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142920"/>
            <a:ext cx="8229240" cy="99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Creating Custom Exceptions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214280"/>
            <a:ext cx="8229240" cy="189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Why?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Standard exceptions don't always describe your specific business logic error.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How: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Extend Exception (Checked) or RuntimeException (Unchecked)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Content Placeholder 2"/>
          <p:cNvSpPr/>
          <p:nvPr/>
        </p:nvSpPr>
        <p:spPr>
          <a:xfrm>
            <a:off x="428760" y="4929120"/>
            <a:ext cx="8429400" cy="61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Usage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4"/>
          <p:cNvSpPr/>
          <p:nvPr/>
        </p:nvSpPr>
        <p:spPr>
          <a:xfrm>
            <a:off x="642960" y="3071880"/>
            <a:ext cx="8214840" cy="1614960"/>
          </a:xfrm>
          <a:prstGeom prst="rect">
            <a:avLst/>
          </a:prstGeom>
          <a:noFill/>
          <a:ln w="0">
            <a:solidFill>
              <a:srgbClr val="4F81B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public class InvalidAgeException extends Exception {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public InvalidAgeException(String message){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    super(message);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}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}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9"/>
          <p:cNvSpPr/>
          <p:nvPr/>
        </p:nvSpPr>
        <p:spPr>
          <a:xfrm>
            <a:off x="642960" y="5621400"/>
            <a:ext cx="8214840" cy="700200"/>
          </a:xfrm>
          <a:prstGeom prst="rect">
            <a:avLst/>
          </a:prstGeom>
          <a:noFill/>
          <a:ln w="0">
            <a:solidFill>
              <a:srgbClr val="4F81B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if (age &lt; 0) throw new InvalidAgeException("Age cannot be negative");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142920"/>
            <a:ext cx="8229240" cy="99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Exceptions in Swing GUIs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214280"/>
            <a:ext cx="8229240" cy="197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9144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Handling Exceptions in GUI Apps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–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Problem: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Printing to console (System.out.println) is invisible to users.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–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Solution: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Use JOptionPane to show error dialog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Content Placeholder 2"/>
          <p:cNvSpPr/>
          <p:nvPr/>
        </p:nvSpPr>
        <p:spPr>
          <a:xfrm>
            <a:off x="428760" y="5857920"/>
            <a:ext cx="82292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Best Practice: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Never let a GUI crash silently. Always inform the user.</a:t>
            </a: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C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4"/>
          <p:cNvSpPr/>
          <p:nvPr/>
        </p:nvSpPr>
        <p:spPr>
          <a:xfrm>
            <a:off x="928800" y="3335400"/>
            <a:ext cx="7429320" cy="2284920"/>
          </a:xfrm>
          <a:prstGeom prst="rect">
            <a:avLst/>
          </a:prstGeom>
          <a:noFill/>
          <a:ln w="0">
            <a:solidFill>
              <a:srgbClr val="4F81B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try {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int val = Integer.parseInt(textField.getText());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} catch (NumberFormatException e) {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JOptionPane.showMessageDialog(frame, 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    "Please enter a valid number!", 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    "Input Error", 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    JOptionPane.ERROR_MESSAGE);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}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71280"/>
            <a:ext cx="8229240" cy="86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Best Practices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143000"/>
            <a:ext cx="8229240" cy="542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Exception Handling Best Practices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✅ Do: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Catch specific exceptions (not just Exception).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Log exceptions (use Logger, not just printStackTrace).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Clean up resources in finally or use Try-With-Resources.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Inform the user in GUIs.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❌ Don't: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Swallow exceptions (empty catch block).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 exceptions for normal flow control (e.g., don't use exception to break a loop).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Expose stack traces to end-users (security risk).</a:t>
            </a:r>
            <a:endParaRPr lang="en-US" sz="2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712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Summary &amp; Lab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85920"/>
            <a:ext cx="8229240" cy="521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Summary: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 try-catch to prevent crashes.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 finally for cleanup.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Handle Checked exceptions explicitly.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Show user-friendly dialogs in Swing.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Lab Exercise: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Modify your Temperature Converter (from Swing module).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Add try-catch to handle non-numeric input.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Show a JOptionPane error if input is invalid.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Ensure the app does not crash on bad input.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1231</TotalTime>
  <Application>LibreOffice/26.2.1.2$Windows_X86_64 LibreOffice_project/620$Build-2</Application>
  <AppVersion>15.0000</AppVersion>
  <Words>1193</Words>
  <Paragraphs>150</Paragraphs>
  <Company>HP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2026-02-15T10:58:32Z</dcterms:created>
  <dc:creator>tmik</dc:creator>
  <dc:description/>
  <dc:language>en-CA</dc:language>
  <cp:lastModifiedBy/>
  <cp:lastPrinted>2026-03-24T21:36:03Z</cp:lastPrinted>
  <dcterms:modified xsi:type="dcterms:W3CDTF">2026-03-24T21:38:23Z</dcterms:modified>
  <cp:revision>345</cp:revision>
  <dc:subject/>
  <dc:title>Introduction to Java and Object-Oriented Programming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(4:3)</vt:lpwstr>
  </property>
  <property fmtid="{D5CDD505-2E9C-101B-9397-08002B2CF9AE}" pid="4" name="Slides">
    <vt:i4>12</vt:i4>
  </property>
</Properties>
</file>