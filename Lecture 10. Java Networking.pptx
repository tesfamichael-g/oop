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63" r:id="rId10"/>
    <p:sldId id="276" r:id="rId11"/>
    <p:sldId id="264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32F8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7994" autoAdjust="0"/>
    <p:restoredTop sz="88741" autoAdjust="0"/>
  </p:normalViewPr>
  <p:slideViewPr>
    <p:cSldViewPr>
      <p:cViewPr>
        <p:scale>
          <a:sx n="66" d="100"/>
          <a:sy n="66" d="100"/>
        </p:scale>
        <p:origin x="-2203" y="-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B2BA9-4FD0-4DC4-B70B-93231BE247F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36570-A967-4EBE-9949-A932A1A992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Speaker Notes:</a:t>
            </a:r>
          </a:p>
          <a:p>
            <a:r>
              <a:rPr lang="en-US" dirty="0" smtClean="0"/>
              <a:t>"Networking turns your standalone application into a connected one. Whether you're fetching weather data or building a chat app, the principles remain the same: establish a connection, send data, receive data, close connection."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 Suggestion: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Diagram showing a Client Computer connecting to a Server Computer via a cloud, labeled with IP and Port numbers.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"Think of IP as the building address and Port as the apartment number. You need both to deliver data to the right program. TCP guarantees delivery; UDP just sends it and hopes it arrives."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 Suggestion: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diagram highlighting key classes in the java.net package.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"Most networking classes throw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IOException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This ties back to our I/O module. Network streams behave very similarly to File streams."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 Suggestion: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Breakdown of a URL string into Protocol, Host, Port, Path components.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"URLs are the easiest way to fetch data.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openStream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treats the web page like a file input stream. Great for simple downloads, but limited for POST requests or headers."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Visual Suggestion:</a:t>
            </a:r>
          </a:p>
          <a:p>
            <a:r>
              <a:rPr lang="en-US" dirty="0" smtClean="0"/>
              <a:t>Sequence diagram: Server (listen) -&gt; Client (connect) -&gt; Server (accept) -&gt; Stream Open.</a:t>
            </a:r>
          </a:p>
          <a:p>
            <a:r>
              <a:rPr lang="en-US" dirty="0" smtClean="0"/>
              <a:t>Speaker Notes:</a:t>
            </a:r>
          </a:p>
          <a:p>
            <a:r>
              <a:rPr lang="en-US" dirty="0" smtClean="0"/>
              <a:t>"The server sits and waits (accept). The client initiates. Once connected, both sides have a Socket object that provides Input and Output streams."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"This is a basic echo server. Notice the </a:t>
            </a:r>
            <a:r>
              <a:rPr lang="en-US" dirty="0" smtClean="0"/>
              <a:t>while(true)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loop. The server runs forever. Also notice </a:t>
            </a:r>
            <a:r>
              <a:rPr lang="en-US" dirty="0" smtClean="0"/>
              <a:t>accept()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blocks—if you run this in a Swing app on the EDT, your UI will freeze."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"Notice the symmetry. The client creates a socket, gets streams, and reads/writes just like a file. The true in </a:t>
            </a:r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PrintWriter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enables auto-flush, ensuring data is sent immediately."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Visual Suggestion:</a:t>
            </a:r>
          </a:p>
          <a:p>
            <a:r>
              <a:rPr lang="en-US" dirty="0" smtClean="0"/>
              <a:t>Diagram showing packets flying independently vs. TCP's steady stream.</a:t>
            </a:r>
          </a:p>
          <a:p>
            <a:r>
              <a:rPr lang="en-US" dirty="0" smtClean="0"/>
              <a:t>Speaker Notes:</a:t>
            </a:r>
          </a:p>
          <a:p>
            <a:r>
              <a:rPr lang="en-US" dirty="0" smtClean="0"/>
              <a:t>"UDP is faster but unreliable. Packets can arrive out of order or get lost. Use this only when speed matters more than accuracy (like video streaming)."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 Suggestion: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Comparison table: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HttpURLConnection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(Old) vs.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HttpClient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(New).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"If you are using Java 11 or later, use this. It's much cleaner. It supports asynchronous calls naturally, which is great for GUIs."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Visual Suggestion:</a:t>
            </a:r>
          </a:p>
          <a:p>
            <a:r>
              <a:rPr lang="en-US" dirty="0" smtClean="0"/>
              <a:t>Diagram showing EDT (UI) vs. Worker Thread (Network) communicating via done().</a:t>
            </a:r>
          </a:p>
          <a:p>
            <a:r>
              <a:rPr lang="en-US" dirty="0" smtClean="0"/>
              <a:t>Speaker Notes:</a:t>
            </a:r>
          </a:p>
          <a:p>
            <a:r>
              <a:rPr lang="en-US" dirty="0" smtClean="0"/>
              <a:t>"This is the most important slide for GUI developers. If you put </a:t>
            </a:r>
            <a:r>
              <a:rPr lang="en-US" dirty="0" err="1" smtClean="0"/>
              <a:t>socket.connect</a:t>
            </a:r>
            <a:r>
              <a:rPr lang="en-US" dirty="0" smtClean="0"/>
              <a:t>() in a Button </a:t>
            </a:r>
            <a:r>
              <a:rPr lang="en-US" dirty="0" err="1" smtClean="0"/>
              <a:t>ActionListener</a:t>
            </a:r>
            <a:r>
              <a:rPr lang="en-US" dirty="0" smtClean="0"/>
              <a:t>, your window will become 'Not Responding'. Always offload network tasks."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Visual Suggestion:</a:t>
            </a:r>
          </a:p>
          <a:p>
            <a:r>
              <a:rPr lang="en-US" dirty="0" smtClean="0"/>
              <a:t>Stream Chain Diagram: Socket -&gt; </a:t>
            </a:r>
            <a:r>
              <a:rPr lang="en-US" dirty="0" err="1" smtClean="0"/>
              <a:t>InputStream</a:t>
            </a:r>
            <a:r>
              <a:rPr lang="en-US" dirty="0" smtClean="0"/>
              <a:t> -&gt; </a:t>
            </a:r>
            <a:r>
              <a:rPr lang="en-US" dirty="0" err="1" smtClean="0"/>
              <a:t>BufferedReader</a:t>
            </a:r>
            <a:r>
              <a:rPr lang="en-US" dirty="0" smtClean="0"/>
              <a:t> -&gt; String.</a:t>
            </a:r>
          </a:p>
          <a:p>
            <a:r>
              <a:rPr lang="en-US" dirty="0" smtClean="0"/>
              <a:t>Speaker Notes:</a:t>
            </a:r>
          </a:p>
          <a:p>
            <a:r>
              <a:rPr lang="en-US" dirty="0" smtClean="0"/>
              <a:t>"Networking is just I/O over a wire. You can use everything you learned in the I/O module: serialization, buffering, readers/writers. Just remember the source is a Socket, not a File."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Visual Suggestion:</a:t>
            </a:r>
            <a:endParaRPr lang="en-US" dirty="0" smtClean="0"/>
          </a:p>
          <a:p>
            <a:r>
              <a:rPr lang="en-US" dirty="0" smtClean="0"/>
              <a:t>Icon of a lock over a network cable.</a:t>
            </a:r>
          </a:p>
          <a:p>
            <a:r>
              <a:rPr lang="en-US" b="1" dirty="0" smtClean="0"/>
              <a:t>Speaker Notes:</a:t>
            </a:r>
            <a:r>
              <a:rPr lang="en-US" dirty="0" smtClean="0"/>
              <a:t> "Java handles HTTPS mostly automatically via </a:t>
            </a:r>
            <a:r>
              <a:rPr lang="en-US" dirty="0" err="1" smtClean="0"/>
              <a:t>HttpClient</a:t>
            </a:r>
            <a:r>
              <a:rPr lang="en-US" dirty="0" smtClean="0"/>
              <a:t>. However, if you use raw sockets, you need </a:t>
            </a:r>
            <a:r>
              <a:rPr lang="en-US" dirty="0" err="1" smtClean="0"/>
              <a:t>SSLSocket</a:t>
            </a:r>
            <a:r>
              <a:rPr lang="en-US" dirty="0" smtClean="0"/>
              <a:t>. Never trust data from the network without validation."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Visual Suggestion:</a:t>
            </a:r>
          </a:p>
          <a:p>
            <a:r>
              <a:rPr lang="en-US" dirty="0" smtClean="0"/>
              <a:t>Checklist graphic with Green Checks and Red Crosses.</a:t>
            </a:r>
          </a:p>
          <a:p>
            <a:r>
              <a:rPr lang="en-US" dirty="0" smtClean="0"/>
              <a:t>Speaker Notes:</a:t>
            </a:r>
          </a:p>
          <a:p>
            <a:r>
              <a:rPr lang="en-US" dirty="0" smtClean="0"/>
              <a:t>"Firewalls are the #1 reason student networking code fails. Test on </a:t>
            </a:r>
            <a:r>
              <a:rPr lang="en-US" dirty="0" err="1" smtClean="0"/>
              <a:t>localhost</a:t>
            </a:r>
            <a:r>
              <a:rPr lang="en-US" dirty="0" smtClean="0"/>
              <a:t> first. Also, always set timeouts so your app doesn't hang forever if the server disappears."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Speaker Notes:</a:t>
            </a:r>
          </a:p>
          <a:p>
            <a:r>
              <a:rPr lang="en-US" dirty="0" smtClean="0"/>
              <a:t>"For the lab, I recommend Option B if you want individual work, or Option A if you want pair programming. Both reinforce the connection between Networking, I/O, Threads, and Swing."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596" y="1071546"/>
            <a:ext cx="8358246" cy="1743086"/>
          </a:xfrm>
        </p:spPr>
        <p:txBody>
          <a:bodyPr>
            <a:noAutofit/>
          </a:bodyPr>
          <a:lstStyle/>
          <a:p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Networking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28596" y="3429000"/>
            <a:ext cx="8358246" cy="1071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 smtClean="0"/>
              <a:t>Building Connected Applications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Learning </a:t>
            </a:r>
            <a:r>
              <a:rPr lang="en-US" sz="4800" b="1" dirty="0" smtClean="0"/>
              <a:t>Objectives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072098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What </a:t>
            </a:r>
            <a:r>
              <a:rPr lang="en-US" sz="2400" dirty="0" smtClean="0"/>
              <a:t>We Will Learn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Understand fundamental networking concepts (IP, Ports, Protocols).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Use java.net classes for URL and URI handling.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Implement TCP Client-Server communication using Socket.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Implement UDP communication using </a:t>
            </a:r>
            <a:r>
              <a:rPr lang="en-US" sz="2400" dirty="0" err="1" smtClean="0"/>
              <a:t>DatagramSocket</a:t>
            </a:r>
            <a:r>
              <a:rPr lang="en-US" sz="2400" dirty="0" smtClean="0"/>
              <a:t>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Use the modern HTTP Client (Java 11+) for web APIs.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Integrate Networking with Swing (Threading considerations).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Handle Network Exceptions (</a:t>
            </a:r>
            <a:r>
              <a:rPr lang="en-US" sz="2400" dirty="0" err="1" smtClean="0"/>
              <a:t>IOException</a:t>
            </a:r>
            <a:r>
              <a:rPr lang="en-US" sz="2400" dirty="0" smtClean="0"/>
              <a:t>, </a:t>
            </a:r>
            <a:r>
              <a:rPr lang="en-US" sz="2400" dirty="0" err="1" smtClean="0"/>
              <a:t>UnknownHostException</a:t>
            </a:r>
            <a:r>
              <a:rPr lang="en-US" sz="2400" dirty="0" smtClean="0"/>
              <a:t>).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Networking </a:t>
            </a:r>
            <a:r>
              <a:rPr lang="en-US" b="1" dirty="0" smtClean="0"/>
              <a:t>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9119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Core </a:t>
            </a:r>
            <a:r>
              <a:rPr lang="en-US" sz="2400" b="1" dirty="0" smtClean="0"/>
              <a:t>Concepts</a:t>
            </a:r>
          </a:p>
          <a:p>
            <a:pPr lvl="1"/>
            <a:r>
              <a:rPr lang="en-US" sz="2400" b="1" dirty="0" smtClean="0"/>
              <a:t>IP Address:</a:t>
            </a:r>
            <a:r>
              <a:rPr lang="en-US" sz="2400" dirty="0" smtClean="0"/>
              <a:t> Unique identifier for a device (e.g., 192.168.1.1 or </a:t>
            </a:r>
            <a:r>
              <a:rPr lang="en-US" sz="2400" dirty="0" err="1" smtClean="0"/>
              <a:t>localhost</a:t>
            </a:r>
            <a:r>
              <a:rPr lang="en-US" sz="2400" dirty="0" smtClean="0"/>
              <a:t>).</a:t>
            </a:r>
          </a:p>
          <a:p>
            <a:pPr lvl="1"/>
            <a:r>
              <a:rPr lang="en-US" sz="2400" b="1" dirty="0" smtClean="0"/>
              <a:t>Port Number:</a:t>
            </a:r>
            <a:r>
              <a:rPr lang="en-US" sz="2400" dirty="0" smtClean="0"/>
              <a:t> Specific endpoint on a device (0-65535).</a:t>
            </a:r>
          </a:p>
          <a:p>
            <a:pPr lvl="2"/>
            <a:r>
              <a:rPr lang="en-US" b="1" dirty="0" smtClean="0"/>
              <a:t>0-1023:</a:t>
            </a:r>
            <a:r>
              <a:rPr lang="en-US" dirty="0" smtClean="0"/>
              <a:t> Well-known ports (HTTP: 80, HTTPS: 443, SSH: 22).</a:t>
            </a:r>
          </a:p>
          <a:p>
            <a:pPr lvl="2"/>
            <a:r>
              <a:rPr lang="en-US" b="1" dirty="0" smtClean="0"/>
              <a:t>1024+:</a:t>
            </a:r>
            <a:r>
              <a:rPr lang="en-US" dirty="0" smtClean="0"/>
              <a:t> User-defined (Use &gt; 5000 for custom apps).</a:t>
            </a:r>
          </a:p>
          <a:p>
            <a:pPr lvl="1"/>
            <a:r>
              <a:rPr lang="en-US" sz="2400" b="1" dirty="0" smtClean="0"/>
              <a:t>Protocol:</a:t>
            </a:r>
            <a:r>
              <a:rPr lang="en-US" sz="2400" dirty="0" smtClean="0"/>
              <a:t> Rules for communication.</a:t>
            </a:r>
          </a:p>
          <a:p>
            <a:pPr lvl="2"/>
            <a:r>
              <a:rPr lang="en-US" b="1" dirty="0" smtClean="0"/>
              <a:t>TCP:</a:t>
            </a:r>
            <a:r>
              <a:rPr lang="en-US" dirty="0" smtClean="0"/>
              <a:t> Reliable, ordered connection (like a phone call).</a:t>
            </a:r>
          </a:p>
          <a:p>
            <a:pPr lvl="2"/>
            <a:r>
              <a:rPr lang="en-US" b="1" dirty="0" smtClean="0"/>
              <a:t>UDP:</a:t>
            </a:r>
            <a:r>
              <a:rPr lang="en-US" dirty="0" smtClean="0"/>
              <a:t> Fast, unordered packets (like sending mail</a:t>
            </a:r>
            <a:r>
              <a:rPr lang="en-US" dirty="0" smtClean="0"/>
              <a:t>).</a:t>
            </a:r>
            <a:endParaRPr 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b="1" dirty="0" smtClean="0"/>
              <a:t>The java.net </a:t>
            </a:r>
            <a:r>
              <a:rPr lang="en-US" b="1" dirty="0" smtClean="0"/>
              <a:t>Package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286412"/>
          </a:xfrm>
        </p:spPr>
        <p:txBody>
          <a:bodyPr>
            <a:normAutofit/>
          </a:bodyPr>
          <a:lstStyle/>
          <a:p>
            <a:r>
              <a:rPr lang="en-US" dirty="0" smtClean="0"/>
              <a:t>Java </a:t>
            </a:r>
            <a:r>
              <a:rPr lang="en-US" dirty="0" smtClean="0"/>
              <a:t>Networking API</a:t>
            </a:r>
          </a:p>
          <a:p>
            <a:pPr lvl="1"/>
            <a:r>
              <a:rPr lang="en-US" dirty="0" smtClean="0"/>
              <a:t>Core Classes:</a:t>
            </a:r>
          </a:p>
          <a:p>
            <a:pPr lvl="2"/>
            <a:r>
              <a:rPr lang="en-US" dirty="0" err="1" smtClean="0"/>
              <a:t>InetAddress</a:t>
            </a:r>
            <a:r>
              <a:rPr lang="en-US" dirty="0" smtClean="0"/>
              <a:t>: Represents an IP address.</a:t>
            </a:r>
          </a:p>
          <a:p>
            <a:pPr lvl="2"/>
            <a:r>
              <a:rPr lang="en-US" dirty="0" smtClean="0"/>
              <a:t>URL / URI: Represents a web address.</a:t>
            </a:r>
          </a:p>
          <a:p>
            <a:pPr lvl="2"/>
            <a:r>
              <a:rPr lang="en-US" dirty="0" smtClean="0"/>
              <a:t>Socket / </a:t>
            </a:r>
            <a:r>
              <a:rPr lang="en-US" dirty="0" err="1" smtClean="0"/>
              <a:t>ServerSocket</a:t>
            </a:r>
            <a:r>
              <a:rPr lang="en-US" dirty="0" smtClean="0"/>
              <a:t>: TCP connections.</a:t>
            </a:r>
          </a:p>
          <a:p>
            <a:pPr lvl="2"/>
            <a:r>
              <a:rPr lang="en-US" dirty="0" err="1" smtClean="0"/>
              <a:t>DatagramSocket</a:t>
            </a:r>
            <a:r>
              <a:rPr lang="en-US" dirty="0" smtClean="0"/>
              <a:t>: UDP connections.</a:t>
            </a:r>
          </a:p>
          <a:p>
            <a:pPr lvl="2"/>
            <a:r>
              <a:rPr lang="en-US" dirty="0" err="1" smtClean="0"/>
              <a:t>HttpClient</a:t>
            </a:r>
            <a:r>
              <a:rPr lang="en-US" dirty="0" smtClean="0"/>
              <a:t> (Java 11+): Modern HTTP requests.</a:t>
            </a:r>
          </a:p>
          <a:p>
            <a:pPr lvl="1"/>
            <a:r>
              <a:rPr lang="en-US" dirty="0" smtClean="0"/>
              <a:t>Exceptions:</a:t>
            </a:r>
          </a:p>
          <a:p>
            <a:pPr lvl="2"/>
            <a:r>
              <a:rPr lang="en-US" dirty="0" err="1" smtClean="0"/>
              <a:t>IOException</a:t>
            </a:r>
            <a:r>
              <a:rPr lang="en-US" dirty="0" smtClean="0"/>
              <a:t>: General network failure.</a:t>
            </a:r>
          </a:p>
          <a:p>
            <a:pPr lvl="2"/>
            <a:r>
              <a:rPr lang="en-US" dirty="0" err="1" smtClean="0"/>
              <a:t>UnknownHostException</a:t>
            </a:r>
            <a:r>
              <a:rPr lang="en-US" dirty="0" smtClean="0"/>
              <a:t>: IP/DNS lookup failed.</a:t>
            </a:r>
          </a:p>
          <a:p>
            <a:pPr lvl="2"/>
            <a:r>
              <a:rPr lang="en-US" dirty="0" err="1" smtClean="0"/>
              <a:t>ConnectException</a:t>
            </a:r>
            <a:r>
              <a:rPr lang="en-US" dirty="0" smtClean="0"/>
              <a:t>: Connection refused.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Working with </a:t>
            </a:r>
            <a:r>
              <a:rPr lang="en-US" b="1" dirty="0" smtClean="0"/>
              <a:t>URLs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104298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URLs </a:t>
            </a:r>
            <a:r>
              <a:rPr lang="en-US" sz="2400" dirty="0" smtClean="0"/>
              <a:t>and URIs</a:t>
            </a:r>
          </a:p>
          <a:p>
            <a:pPr lvl="1"/>
            <a:r>
              <a:rPr lang="en-US" sz="2400" b="1" dirty="0" smtClean="0"/>
              <a:t>URL Class:</a:t>
            </a:r>
            <a:r>
              <a:rPr lang="en-US" sz="2400" dirty="0" smtClean="0"/>
              <a:t> Represents a Uniform Resource Locator</a:t>
            </a:r>
            <a:endParaRPr 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28596" y="4000504"/>
            <a:ext cx="8229600" cy="542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b="1" dirty="0" smtClean="0"/>
              <a:t>Opening </a:t>
            </a:r>
            <a:r>
              <a:rPr lang="en-US" sz="2400" b="1" dirty="0" smtClean="0"/>
              <a:t>a Stream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28596" y="5600729"/>
            <a:ext cx="8229600" cy="542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b="1" dirty="0" smtClean="0"/>
              <a:t>Note</a:t>
            </a:r>
            <a:r>
              <a:rPr lang="en-US" sz="2400" b="1" dirty="0" smtClean="0"/>
              <a:t>:</a:t>
            </a:r>
            <a:r>
              <a:rPr lang="en-US" sz="2400" dirty="0" smtClean="0"/>
              <a:t> </a:t>
            </a:r>
            <a:r>
              <a:rPr lang="en-US" sz="2400" dirty="0" err="1" smtClean="0"/>
              <a:t>openStream</a:t>
            </a:r>
            <a:r>
              <a:rPr lang="en-US" sz="2400" dirty="0" smtClean="0"/>
              <a:t>() is blocking and simple. For complex HTTP, use </a:t>
            </a:r>
            <a:r>
              <a:rPr lang="en-US" sz="2400" dirty="0" err="1" smtClean="0"/>
              <a:t>HttpClient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857224" y="4648810"/>
            <a:ext cx="7572428" cy="923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try 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InputStream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in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url.openStream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Read content like a file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7224" y="2428868"/>
            <a:ext cx="7572428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URL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new URL("https://www.example.com/index.html");</a:t>
            </a: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("Host: " +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url.getHost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("Port: " +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url.getPort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("Path: " +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url.getPath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b="1" dirty="0" smtClean="0"/>
              <a:t>TCP Sockets (The Foundation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TCP </a:t>
            </a:r>
            <a:r>
              <a:rPr lang="en-US" sz="2400" dirty="0" smtClean="0"/>
              <a:t>Sockets: Socket &amp; </a:t>
            </a:r>
            <a:r>
              <a:rPr lang="en-US" sz="2400" dirty="0" err="1" smtClean="0"/>
              <a:t>ServerSocket</a:t>
            </a:r>
            <a:endParaRPr lang="en-US" sz="2400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TCP: Connection-oriented, reliable.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Server Side:</a:t>
            </a:r>
          </a:p>
          <a:p>
            <a:pPr marL="1371600" lvl="2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 smtClean="0"/>
              <a:t>Create </a:t>
            </a:r>
            <a:r>
              <a:rPr lang="en-US" dirty="0" err="1" smtClean="0"/>
              <a:t>ServerSocket</a:t>
            </a:r>
            <a:r>
              <a:rPr lang="en-US" dirty="0" smtClean="0"/>
              <a:t>(port).</a:t>
            </a:r>
          </a:p>
          <a:p>
            <a:pPr marL="1371600" lvl="2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 smtClean="0"/>
              <a:t>Call accept() (blocks until client connects).</a:t>
            </a:r>
          </a:p>
          <a:p>
            <a:pPr marL="1371600" lvl="2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 smtClean="0"/>
              <a:t>Get Socket from accept().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Client Side:</a:t>
            </a:r>
          </a:p>
          <a:p>
            <a:pPr marL="1371600" lvl="2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 smtClean="0"/>
              <a:t>Create Socket(host, port).</a:t>
            </a:r>
          </a:p>
          <a:p>
            <a:pPr marL="1371600" lvl="2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 smtClean="0"/>
              <a:t>Connects immediately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Server-Side Code </a:t>
            </a:r>
            <a:r>
              <a:rPr lang="en-US" b="1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1435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Writing </a:t>
            </a:r>
            <a:r>
              <a:rPr lang="en-US" sz="2400" dirty="0" smtClean="0"/>
              <a:t>a TCP Server</a:t>
            </a:r>
            <a:endParaRPr lang="en-US" sz="24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1746" y="5143512"/>
            <a:ext cx="8229600" cy="142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400" b="1" dirty="0" smtClean="0"/>
              <a:t>Key </a:t>
            </a:r>
            <a:r>
              <a:rPr lang="en-US" sz="2400" b="1" dirty="0" smtClean="0"/>
              <a:t>Point:</a:t>
            </a:r>
            <a:r>
              <a:rPr lang="en-US" sz="2400" dirty="0" smtClean="0"/>
              <a:t> accept() blocks the </a:t>
            </a:r>
            <a:r>
              <a:rPr lang="en-US" sz="2400" dirty="0" smtClean="0"/>
              <a:t>thread.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400" b="1" dirty="0" smtClean="0"/>
              <a:t>Key </a:t>
            </a:r>
            <a:r>
              <a:rPr lang="en-US" sz="2400" b="1" dirty="0" smtClean="0"/>
              <a:t>Point:</a:t>
            </a:r>
            <a:r>
              <a:rPr lang="en-US" sz="2400" dirty="0" smtClean="0"/>
              <a:t> Each client needs its own stream handling.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7224" y="2285992"/>
            <a:ext cx="8001056" cy="258532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ServerSocket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server = 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ServerSocket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(5000);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while (true)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Socket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clientSocket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server.accept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 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Blocks here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Handle client in a new Thread (see Slide 11)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InputStream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in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clientSocket.getInputStream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OutputStream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out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clientSocket.getOutputStream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Read/Write data...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clientSocket.close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Client-Side Code 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61435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Writing a TCP Client</a:t>
            </a:r>
            <a:endParaRPr lang="en-US" sz="24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1746" y="5214950"/>
            <a:ext cx="8229600" cy="1428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b="1" dirty="0" smtClean="0"/>
              <a:t>Try-With-Resources</a:t>
            </a:r>
            <a:r>
              <a:rPr lang="en-US" sz="2400" b="1" dirty="0" smtClean="0"/>
              <a:t>:</a:t>
            </a:r>
            <a:r>
              <a:rPr lang="en-US" sz="2400" dirty="0" smtClean="0"/>
              <a:t> Automatically closes socket and streams.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b="1" dirty="0" smtClean="0"/>
              <a:t>Streams:</a:t>
            </a:r>
            <a:r>
              <a:rPr lang="en-US" sz="2400" dirty="0" smtClean="0"/>
              <a:t> Use </a:t>
            </a:r>
            <a:r>
              <a:rPr lang="en-US" sz="2400" dirty="0" err="1" smtClean="0"/>
              <a:t>PrintWriter</a:t>
            </a:r>
            <a:r>
              <a:rPr lang="en-US" sz="2400" dirty="0" smtClean="0"/>
              <a:t> and </a:t>
            </a:r>
            <a:r>
              <a:rPr lang="en-US" sz="2400" dirty="0" err="1" smtClean="0"/>
              <a:t>BufferedReader</a:t>
            </a:r>
            <a:r>
              <a:rPr lang="en-US" sz="2400" dirty="0" smtClean="0"/>
              <a:t> for text communication.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44" y="2071678"/>
            <a:ext cx="9001156" cy="30469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String host = "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localhost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";</a:t>
            </a:r>
          </a:p>
          <a:p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port = 5000;</a:t>
            </a:r>
          </a:p>
          <a:p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try (Socket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socket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= new Socket(host, port);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PrintWriter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out = new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PrintWriter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socket.getOutputStream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(), true);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in = new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(new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InputStreamReader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socket.getInputStream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()))) {</a:t>
            </a:r>
          </a:p>
          <a:p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out.println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("Hello Server");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String response =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in.readLine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(response);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b="1" dirty="0" smtClean="0"/>
              <a:t>UDP </a:t>
            </a:r>
            <a:r>
              <a:rPr lang="en-US" b="1" dirty="0" smtClean="0"/>
              <a:t>Networking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71675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UDP </a:t>
            </a:r>
            <a:r>
              <a:rPr lang="en-US" sz="2400" b="1" dirty="0" smtClean="0"/>
              <a:t>with </a:t>
            </a:r>
            <a:r>
              <a:rPr lang="en-US" sz="2400" b="1" dirty="0" err="1" smtClean="0"/>
              <a:t>DatagramSocket</a:t>
            </a:r>
            <a:endParaRPr lang="en-US" sz="2400" b="1" dirty="0" smtClean="0"/>
          </a:p>
          <a:p>
            <a:pPr lvl="1"/>
            <a:r>
              <a:rPr lang="en-US" sz="2400" b="1" dirty="0" smtClean="0"/>
              <a:t>Connectionless:</a:t>
            </a:r>
            <a:r>
              <a:rPr lang="en-US" sz="2400" dirty="0" smtClean="0"/>
              <a:t> No handshake, no guaranteed delivery.</a:t>
            </a:r>
          </a:p>
          <a:p>
            <a:pPr lvl="1"/>
            <a:r>
              <a:rPr lang="en-US" sz="2400" b="1" dirty="0" smtClean="0"/>
              <a:t>Packet Based:</a:t>
            </a:r>
            <a:r>
              <a:rPr lang="en-US" sz="2400" dirty="0" smtClean="0"/>
              <a:t> Data sent in </a:t>
            </a:r>
            <a:r>
              <a:rPr lang="en-US" sz="2400" dirty="0" err="1" smtClean="0"/>
              <a:t>DatagramPacket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b="1" dirty="0" smtClean="0"/>
              <a:t>Use Cases:</a:t>
            </a:r>
            <a:r>
              <a:rPr lang="en-US" sz="2400" dirty="0" smtClean="0"/>
              <a:t> Streaming, Gaming, DNS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714348" y="3990338"/>
            <a:ext cx="7143800" cy="19389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DatagramSocket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socket = 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DatagramSocket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byte[]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buf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Hello".getBytes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DatagramPacket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packet = 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DatagramPacket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buf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buf.length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, address, port);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socket.send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(packet);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000132"/>
          </a:xfrm>
        </p:spPr>
        <p:txBody>
          <a:bodyPr>
            <a:normAutofit/>
          </a:bodyPr>
          <a:lstStyle/>
          <a:p>
            <a:r>
              <a:rPr lang="en-US" b="1" dirty="0" smtClean="0"/>
              <a:t>Modern HTTP Client (Java 11</a:t>
            </a:r>
            <a:r>
              <a:rPr lang="en-US" b="1" dirty="0" smtClean="0"/>
              <a:t>+)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5887"/>
            <a:ext cx="8229600" cy="1614485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The </a:t>
            </a:r>
            <a:r>
              <a:rPr lang="en-US" sz="2400" dirty="0" err="1" smtClean="0"/>
              <a:t>java.net.http</a:t>
            </a:r>
            <a:r>
              <a:rPr lang="en-US" sz="2400" dirty="0" smtClean="0"/>
              <a:t> Package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Legacy:</a:t>
            </a:r>
            <a:r>
              <a:rPr lang="en-US" sz="2400" dirty="0" smtClean="0"/>
              <a:t> </a:t>
            </a:r>
            <a:r>
              <a:rPr lang="en-US" sz="2400" dirty="0" err="1" smtClean="0"/>
              <a:t>HttpURLConnection</a:t>
            </a:r>
            <a:r>
              <a:rPr lang="en-US" sz="2400" dirty="0" smtClean="0"/>
              <a:t> (Verbose, cumbersome).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Modern:</a:t>
            </a:r>
            <a:r>
              <a:rPr lang="en-US" sz="2400" dirty="0" smtClean="0"/>
              <a:t> </a:t>
            </a:r>
            <a:r>
              <a:rPr lang="en-US" sz="2400" dirty="0" err="1" smtClean="0"/>
              <a:t>HttpClient</a:t>
            </a:r>
            <a:r>
              <a:rPr lang="en-US" sz="2400" dirty="0" smtClean="0"/>
              <a:t> (</a:t>
            </a:r>
            <a:r>
              <a:rPr lang="en-US" sz="2400" dirty="0" err="1" smtClean="0"/>
              <a:t>Async</a:t>
            </a:r>
            <a:r>
              <a:rPr lang="en-US" sz="2400" dirty="0" smtClean="0"/>
              <a:t> support, HTTP/2</a:t>
            </a:r>
            <a:r>
              <a:rPr lang="en-US" sz="2400" dirty="0" smtClean="0"/>
              <a:t>).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00034" y="3571876"/>
            <a:ext cx="7786742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HttpClient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client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HttpClient.newHttpClient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HttpRequest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request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HttpRequest.newBuilder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.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uri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URI.create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("https://api.example.com/data"))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.GET()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.build();</a:t>
            </a: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HttpResponse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&lt;String&gt; response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client.send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(request,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BodyHandlers.ofString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response.body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857256"/>
          </a:xfrm>
        </p:spPr>
        <p:txBody>
          <a:bodyPr>
            <a:normAutofit/>
          </a:bodyPr>
          <a:lstStyle/>
          <a:p>
            <a:r>
              <a:rPr lang="en-US" b="1" dirty="0" smtClean="0"/>
              <a:t>Networking &amp; </a:t>
            </a:r>
            <a:r>
              <a:rPr lang="en-US" b="1" dirty="0" smtClean="0"/>
              <a:t>Threads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2714644"/>
          </a:xfrm>
        </p:spPr>
        <p:txBody>
          <a:bodyPr>
            <a:noAutofit/>
          </a:bodyPr>
          <a:lstStyle/>
          <a:p>
            <a:r>
              <a:rPr lang="en-US" sz="1800" dirty="0" smtClean="0"/>
              <a:t>Critical</a:t>
            </a:r>
            <a:r>
              <a:rPr lang="en-US" sz="1800" dirty="0" smtClean="0"/>
              <a:t>: Networking in Swing</a:t>
            </a:r>
          </a:p>
          <a:p>
            <a:pPr lvl="1"/>
            <a:r>
              <a:rPr lang="en-US" sz="1800" b="1" dirty="0" smtClean="0"/>
              <a:t>Problem:</a:t>
            </a:r>
            <a:r>
              <a:rPr lang="en-US" sz="1800" dirty="0" smtClean="0"/>
              <a:t> Network operations are </a:t>
            </a:r>
            <a:r>
              <a:rPr lang="en-US" sz="1800" b="1" dirty="0" smtClean="0"/>
              <a:t>blocking</a:t>
            </a:r>
            <a:r>
              <a:rPr lang="en-US" sz="1800" dirty="0" smtClean="0"/>
              <a:t> (slow).</a:t>
            </a:r>
          </a:p>
          <a:p>
            <a:pPr lvl="1"/>
            <a:r>
              <a:rPr lang="en-US" sz="1800" b="1" dirty="0" smtClean="0"/>
              <a:t>Rule:</a:t>
            </a:r>
            <a:r>
              <a:rPr lang="en-US" sz="1800" dirty="0" smtClean="0"/>
              <a:t> </a:t>
            </a:r>
            <a:r>
              <a:rPr lang="en-US" sz="1800" b="1" dirty="0" smtClean="0"/>
              <a:t>NEVER</a:t>
            </a:r>
            <a:r>
              <a:rPr lang="en-US" sz="1800" dirty="0" smtClean="0"/>
              <a:t> run network code on the </a:t>
            </a:r>
            <a:r>
              <a:rPr lang="en-US" sz="1800" b="1" dirty="0" smtClean="0"/>
              <a:t>Event Dispatch Thread (EDT)</a:t>
            </a:r>
            <a:r>
              <a:rPr lang="en-US" sz="1800" dirty="0" smtClean="0"/>
              <a:t>.</a:t>
            </a:r>
          </a:p>
          <a:p>
            <a:pPr lvl="1"/>
            <a:r>
              <a:rPr lang="en-US" sz="1800" b="1" dirty="0" smtClean="0"/>
              <a:t>Result:</a:t>
            </a:r>
            <a:r>
              <a:rPr lang="en-US" sz="1800" dirty="0" smtClean="0"/>
              <a:t> UI freezes until network operation completes.</a:t>
            </a:r>
          </a:p>
          <a:p>
            <a:pPr lvl="1"/>
            <a:r>
              <a:rPr lang="en-US" sz="1800" b="1" dirty="0" smtClean="0"/>
              <a:t>Solution:</a:t>
            </a:r>
            <a:endParaRPr lang="en-US" sz="1800" dirty="0" smtClean="0"/>
          </a:p>
          <a:p>
            <a:pPr lvl="2"/>
            <a:r>
              <a:rPr lang="en-US" sz="1800" dirty="0" smtClean="0"/>
              <a:t>Use </a:t>
            </a:r>
            <a:r>
              <a:rPr lang="en-US" sz="1800" dirty="0" err="1" smtClean="0"/>
              <a:t>SwingWorker</a:t>
            </a:r>
            <a:r>
              <a:rPr lang="en-US" sz="1800" dirty="0" smtClean="0"/>
              <a:t>.</a:t>
            </a:r>
          </a:p>
          <a:p>
            <a:pPr lvl="2"/>
            <a:r>
              <a:rPr lang="en-US" sz="1800" dirty="0" smtClean="0"/>
              <a:t>Use </a:t>
            </a:r>
            <a:r>
              <a:rPr lang="en-US" sz="1800" dirty="0" err="1" smtClean="0"/>
              <a:t>CompletableFuture</a:t>
            </a:r>
            <a:r>
              <a:rPr lang="en-US" sz="1800" dirty="0" smtClean="0"/>
              <a:t> (Java 11+).</a:t>
            </a:r>
          </a:p>
          <a:p>
            <a:pPr lvl="2"/>
            <a:r>
              <a:rPr lang="en-US" sz="1800" dirty="0" smtClean="0"/>
              <a:t>Use separate Thread</a:t>
            </a:r>
            <a:r>
              <a:rPr lang="en-US" sz="1800" dirty="0" smtClean="0"/>
              <a:t>.</a:t>
            </a:r>
            <a:endParaRPr lang="en-US" sz="18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714348" y="3647265"/>
            <a:ext cx="7786742" cy="31393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Correct Pattern</a:t>
            </a: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SwingWorker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&lt;Void, Void&gt; worker = 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SwingWorker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&lt;&gt;()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protected Void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doInBackground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Network code here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return null;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protected void done()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Update UI here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};</a:t>
            </a: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worker.execute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Networking &amp; </a:t>
            </a:r>
            <a:r>
              <a:rPr lang="en-US" b="1" dirty="0" smtClean="0"/>
              <a:t>I/O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07209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Streams </a:t>
            </a:r>
            <a:r>
              <a:rPr lang="en-US" sz="2400" dirty="0" smtClean="0"/>
              <a:t>over Networks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Sockets provide Streams: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 err="1" smtClean="0"/>
              <a:t>socket.getInputStream</a:t>
            </a:r>
            <a:r>
              <a:rPr lang="en-US" dirty="0" smtClean="0"/>
              <a:t>()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 err="1" smtClean="0"/>
              <a:t>socket.getOutputStream</a:t>
            </a:r>
            <a:r>
              <a:rPr lang="en-US" dirty="0" smtClean="0"/>
              <a:t>()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Chaining: Wrap socket streams in higher-level streams.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 err="1" smtClean="0"/>
              <a:t>BufferedReader</a:t>
            </a:r>
            <a:r>
              <a:rPr lang="en-US" dirty="0" smtClean="0"/>
              <a:t> (for lines of text).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 err="1" smtClean="0"/>
              <a:t>ObjectInputStream</a:t>
            </a:r>
            <a:r>
              <a:rPr lang="en-US" dirty="0" smtClean="0"/>
              <a:t> (for serialized objects).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 err="1" smtClean="0"/>
              <a:t>DataInputStream</a:t>
            </a:r>
            <a:r>
              <a:rPr lang="en-US" dirty="0" smtClean="0"/>
              <a:t> (for primitives).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Protocol Design: Agree on a format (e.g., JSON, CSV, or custom strings</a:t>
            </a:r>
            <a:r>
              <a:rPr lang="en-US" sz="2400" dirty="0" smtClean="0"/>
              <a:t>).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Security (SSL/TLS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Secure </a:t>
            </a:r>
            <a:r>
              <a:rPr lang="en-US" sz="2400" b="1" dirty="0" smtClean="0"/>
              <a:t>Networking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HTTP vs. HTTPS:</a:t>
            </a:r>
            <a:r>
              <a:rPr lang="en-US" sz="2400" dirty="0" smtClean="0"/>
              <a:t> Encryption is vital for sensitive data.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 smtClean="0"/>
              <a:t>SSLSocket</a:t>
            </a:r>
            <a:r>
              <a:rPr lang="en-US" sz="2400" b="1" dirty="0" smtClean="0"/>
              <a:t> / </a:t>
            </a:r>
            <a:r>
              <a:rPr lang="en-US" sz="2400" b="1" dirty="0" err="1" smtClean="0"/>
              <a:t>SSLServerSocket</a:t>
            </a:r>
            <a:r>
              <a:rPr lang="en-US" sz="2400" b="1" dirty="0" smtClean="0"/>
              <a:t>:</a:t>
            </a:r>
            <a:r>
              <a:rPr lang="en-US" sz="2400" dirty="0" smtClean="0"/>
              <a:t> Encrypted TCP sockets.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 smtClean="0"/>
              <a:t>HttpsURLConnection</a:t>
            </a:r>
            <a:r>
              <a:rPr lang="en-US" sz="2400" b="1" dirty="0" smtClean="0"/>
              <a:t> / </a:t>
            </a:r>
            <a:r>
              <a:rPr lang="en-US" sz="2400" b="1" dirty="0" err="1" smtClean="0"/>
              <a:t>HttpClient</a:t>
            </a:r>
            <a:r>
              <a:rPr lang="en-US" sz="2400" b="1" dirty="0" smtClean="0"/>
              <a:t>:</a:t>
            </a:r>
            <a:r>
              <a:rPr lang="en-US" sz="2400" dirty="0" smtClean="0"/>
              <a:t> Handles HTTPS automatically.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Certificates:</a:t>
            </a:r>
            <a:r>
              <a:rPr lang="en-US" sz="2400" dirty="0" smtClean="0"/>
              <a:t> Java uses a </a:t>
            </a:r>
            <a:r>
              <a:rPr lang="en-US" sz="2400" dirty="0" err="1" smtClean="0"/>
              <a:t>TrustStore</a:t>
            </a:r>
            <a:r>
              <a:rPr lang="en-US" sz="2400" dirty="0" smtClean="0"/>
              <a:t> (</a:t>
            </a:r>
            <a:r>
              <a:rPr lang="en-US" sz="2400" dirty="0" err="1" smtClean="0"/>
              <a:t>cacerts</a:t>
            </a:r>
            <a:r>
              <a:rPr lang="en-US" sz="2400" dirty="0" smtClean="0"/>
              <a:t>) to verify server identities.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/>
              <a:t>Warning:</a:t>
            </a:r>
            <a:r>
              <a:rPr lang="en-US" sz="2400" dirty="0" smtClean="0"/>
              <a:t> Do not disable certificate validation in production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Common </a:t>
            </a:r>
            <a:r>
              <a:rPr lang="en-US" b="1" dirty="0" smtClean="0"/>
              <a:t>Pitfalls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072098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Networking </a:t>
            </a:r>
            <a:r>
              <a:rPr lang="en-US" sz="2400" b="1" dirty="0" smtClean="0"/>
              <a:t>Best Practices</a:t>
            </a:r>
          </a:p>
          <a:p>
            <a:r>
              <a:rPr lang="en-US" sz="2400" b="1" dirty="0" smtClean="0"/>
              <a:t>✅ Do:</a:t>
            </a:r>
          </a:p>
          <a:p>
            <a:pPr lvl="2"/>
            <a:r>
              <a:rPr lang="en-US" dirty="0" smtClean="0"/>
              <a:t>Always close sockets (use try-with-resources).</a:t>
            </a:r>
          </a:p>
          <a:p>
            <a:pPr lvl="2"/>
            <a:r>
              <a:rPr lang="en-US" dirty="0" smtClean="0"/>
              <a:t>Handle </a:t>
            </a:r>
            <a:r>
              <a:rPr lang="en-US" dirty="0" err="1" smtClean="0"/>
              <a:t>IOException</a:t>
            </a:r>
            <a:r>
              <a:rPr lang="en-US" dirty="0" smtClean="0"/>
              <a:t> gracefully.</a:t>
            </a:r>
          </a:p>
          <a:p>
            <a:pPr lvl="2"/>
            <a:r>
              <a:rPr lang="en-US" dirty="0" smtClean="0"/>
              <a:t>Use timeouts (</a:t>
            </a:r>
            <a:r>
              <a:rPr lang="en-US" dirty="0" err="1" smtClean="0"/>
              <a:t>socket.setSoTimeout</a:t>
            </a:r>
            <a:r>
              <a:rPr lang="en-US" dirty="0" smtClean="0"/>
              <a:t>()).</a:t>
            </a:r>
          </a:p>
          <a:p>
            <a:pPr lvl="2"/>
            <a:r>
              <a:rPr lang="en-US" dirty="0" smtClean="0"/>
              <a:t>Run network code in background threads.</a:t>
            </a:r>
          </a:p>
          <a:p>
            <a:r>
              <a:rPr lang="en-US" sz="2400" b="1" dirty="0" smtClean="0"/>
              <a:t>❌ Don't</a:t>
            </a:r>
            <a:r>
              <a:rPr lang="en-US" sz="2400" b="1" dirty="0" smtClean="0"/>
              <a:t>:	</a:t>
            </a:r>
            <a:endParaRPr lang="en-US" sz="2400" b="1" dirty="0" smtClean="0"/>
          </a:p>
          <a:p>
            <a:pPr lvl="2"/>
            <a:r>
              <a:rPr lang="en-US" dirty="0" smtClean="0"/>
              <a:t>Hardcode IP addresses (use DNS or </a:t>
            </a:r>
            <a:r>
              <a:rPr lang="en-US" dirty="0" err="1" smtClean="0"/>
              <a:t>config</a:t>
            </a:r>
            <a:r>
              <a:rPr lang="en-US" dirty="0" smtClean="0"/>
              <a:t> files).</a:t>
            </a:r>
          </a:p>
          <a:p>
            <a:pPr lvl="2"/>
            <a:r>
              <a:rPr lang="en-US" dirty="0" smtClean="0"/>
              <a:t>Trust incoming data (validate input).</a:t>
            </a:r>
          </a:p>
          <a:p>
            <a:pPr lvl="2"/>
            <a:r>
              <a:rPr lang="en-US" dirty="0" smtClean="0"/>
              <a:t>Block the EDT.</a:t>
            </a:r>
          </a:p>
          <a:p>
            <a:pPr lvl="2"/>
            <a:r>
              <a:rPr lang="en-US" dirty="0" smtClean="0"/>
              <a:t>Ignore firewall issues (ports may be blocked</a:t>
            </a:r>
            <a:r>
              <a:rPr lang="en-US" dirty="0" smtClean="0"/>
              <a:t>).</a:t>
            </a:r>
            <a:endParaRPr lang="en-US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1000132"/>
          </a:xfrm>
        </p:spPr>
        <p:txBody>
          <a:bodyPr>
            <a:normAutofit/>
          </a:bodyPr>
          <a:lstStyle/>
          <a:p>
            <a:r>
              <a:rPr lang="en-US" b="1" dirty="0" smtClean="0"/>
              <a:t>Summary &amp; </a:t>
            </a:r>
            <a:r>
              <a:rPr lang="en-US" b="1" dirty="0" smtClean="0"/>
              <a:t>Lab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35785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400" b="1" dirty="0" smtClean="0"/>
              <a:t>Summary</a:t>
            </a:r>
            <a:r>
              <a:rPr lang="en-US" sz="2400" b="1" dirty="0" smtClean="0"/>
              <a:t>:</a:t>
            </a:r>
          </a:p>
          <a:p>
            <a:pPr lvl="1">
              <a:spcBef>
                <a:spcPts val="600"/>
              </a:spcBef>
            </a:pPr>
            <a:r>
              <a:rPr lang="en-US" sz="2400" dirty="0" smtClean="0"/>
              <a:t>TCP for reliability, UDP for speed.</a:t>
            </a:r>
          </a:p>
          <a:p>
            <a:pPr lvl="1">
              <a:spcBef>
                <a:spcPts val="600"/>
              </a:spcBef>
            </a:pPr>
            <a:r>
              <a:rPr lang="en-US" sz="2400" dirty="0" smtClean="0"/>
              <a:t>Sockets use Streams (I/O).</a:t>
            </a:r>
          </a:p>
          <a:p>
            <a:pPr lvl="1">
              <a:spcBef>
                <a:spcPts val="600"/>
              </a:spcBef>
            </a:pPr>
            <a:r>
              <a:rPr lang="en-US" sz="2400" dirty="0" smtClean="0"/>
              <a:t>Always background network tasks in Swing.</a:t>
            </a:r>
          </a:p>
          <a:p>
            <a:pPr lvl="1">
              <a:spcBef>
                <a:spcPts val="600"/>
              </a:spcBef>
            </a:pPr>
            <a:r>
              <a:rPr lang="en-US" sz="2400" dirty="0" smtClean="0"/>
              <a:t>Use </a:t>
            </a:r>
            <a:r>
              <a:rPr lang="en-US" sz="2400" dirty="0" err="1" smtClean="0"/>
              <a:t>HttpClient</a:t>
            </a:r>
            <a:r>
              <a:rPr lang="en-US" sz="2400" dirty="0" smtClean="0"/>
              <a:t> for web APIs.</a:t>
            </a:r>
          </a:p>
          <a:p>
            <a:pPr>
              <a:spcBef>
                <a:spcPts val="600"/>
              </a:spcBef>
            </a:pPr>
            <a:r>
              <a:rPr lang="en-US" sz="2400" b="1" dirty="0" smtClean="0"/>
              <a:t>Lab Exercise:</a:t>
            </a:r>
          </a:p>
          <a:p>
            <a:pPr lvl="1">
              <a:spcBef>
                <a:spcPts val="600"/>
              </a:spcBef>
            </a:pPr>
            <a:r>
              <a:rPr lang="en-US" sz="2400" dirty="0" smtClean="0"/>
              <a:t>Option A (Chat): Create a simple Client-Server chat app using TCP Sockets and Swing.</a:t>
            </a:r>
          </a:p>
          <a:p>
            <a:pPr lvl="1">
              <a:spcBef>
                <a:spcPts val="600"/>
              </a:spcBef>
            </a:pPr>
            <a:r>
              <a:rPr lang="en-US" sz="2400" dirty="0" smtClean="0"/>
              <a:t>Option B (Weather): Create a Swing app that fetches weather data from a public API (e.g., </a:t>
            </a:r>
            <a:r>
              <a:rPr lang="en-US" sz="2400" dirty="0" err="1" smtClean="0"/>
              <a:t>OpenWeatherMap</a:t>
            </a:r>
            <a:r>
              <a:rPr lang="en-US" sz="2400" dirty="0" smtClean="0"/>
              <a:t>) using </a:t>
            </a:r>
            <a:r>
              <a:rPr lang="en-US" sz="2400" dirty="0" err="1" smtClean="0"/>
              <a:t>HttpClient</a:t>
            </a:r>
            <a:r>
              <a:rPr lang="en-US" sz="2400" dirty="0" smtClean="0"/>
              <a:t> and displays it.</a:t>
            </a:r>
          </a:p>
          <a:p>
            <a:pPr lvl="1">
              <a:spcBef>
                <a:spcPts val="600"/>
              </a:spcBef>
            </a:pPr>
            <a:r>
              <a:rPr lang="en-US" sz="2400" dirty="0" smtClean="0"/>
              <a:t>Requirement: Use </a:t>
            </a:r>
            <a:r>
              <a:rPr lang="en-US" sz="2400" dirty="0" err="1" smtClean="0"/>
              <a:t>SwingWorker</a:t>
            </a:r>
            <a:r>
              <a:rPr lang="en-US" sz="2400" dirty="0" smtClean="0"/>
              <a:t> to prevent UI freezing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1680</Words>
  <Application>Microsoft Office PowerPoint</Application>
  <PresentationFormat>On-screen Show (4:3)</PresentationFormat>
  <Paragraphs>217</Paragraphs>
  <Slides>15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Java Networking</vt:lpstr>
      <vt:lpstr>Learning Objectives</vt:lpstr>
      <vt:lpstr>Networking Fundamentals</vt:lpstr>
      <vt:lpstr>The java.net Package</vt:lpstr>
      <vt:lpstr>Working with URLs</vt:lpstr>
      <vt:lpstr>TCP Sockets (The Foundation)</vt:lpstr>
      <vt:lpstr>Server-Side Code Example</vt:lpstr>
      <vt:lpstr>Client-Side Code Example</vt:lpstr>
      <vt:lpstr>UDP Networking</vt:lpstr>
      <vt:lpstr>Modern HTTP Client (Java 11+)</vt:lpstr>
      <vt:lpstr>Networking &amp; Threads</vt:lpstr>
      <vt:lpstr>Networking &amp; I/O</vt:lpstr>
      <vt:lpstr>Security (SSL/TLS)</vt:lpstr>
      <vt:lpstr>Common Pitfalls</vt:lpstr>
      <vt:lpstr>Summary &amp; Lab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 and Object-Oriented Programming </dc:title>
  <dc:creator>tmik</dc:creator>
  <cp:lastModifiedBy>tmik</cp:lastModifiedBy>
  <cp:revision>324</cp:revision>
  <dcterms:created xsi:type="dcterms:W3CDTF">2026-02-15T10:58:32Z</dcterms:created>
  <dcterms:modified xsi:type="dcterms:W3CDTF">2026-03-12T16:44:22Z</dcterms:modified>
</cp:coreProperties>
</file>