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66" r:id="rId4"/>
    <p:sldId id="267" r:id="rId5"/>
    <p:sldId id="268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9" r:id="rId15"/>
    <p:sldId id="270" r:id="rId16"/>
    <p:sldId id="272" r:id="rId17"/>
    <p:sldId id="273" r:id="rId18"/>
    <p:sldId id="271" r:id="rId19"/>
    <p:sldId id="282" r:id="rId20"/>
    <p:sldId id="283" r:id="rId21"/>
    <p:sldId id="274" r:id="rId22"/>
    <p:sldId id="284" r:id="rId23"/>
    <p:sldId id="285" r:id="rId24"/>
    <p:sldId id="275" r:id="rId25"/>
    <p:sldId id="286" r:id="rId26"/>
    <p:sldId id="287" r:id="rId27"/>
    <p:sldId id="276" r:id="rId28"/>
    <p:sldId id="288" r:id="rId29"/>
    <p:sldId id="289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32F8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7994" autoAdjust="0"/>
    <p:restoredTop sz="95157" autoAdjust="0"/>
  </p:normalViewPr>
  <p:slideViewPr>
    <p:cSldViewPr>
      <p:cViewPr varScale="1">
        <p:scale>
          <a:sx n="80" d="100"/>
          <a:sy n="80" d="100"/>
        </p:scale>
        <p:origin x="-1795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0B2BA9-4FD0-4DC4-B70B-93231BE247F2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E36570-A967-4EBE-9949-A932A1A992F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200" dirty="0" smtClean="0"/>
              <a:t>Encapsulation:</a:t>
            </a:r>
          </a:p>
          <a:p>
            <a:r>
              <a:rPr lang="en-US" sz="1200" dirty="0" smtClean="0"/>
              <a:t>Definition: Bundling data (variables) and methods (functions) that operate on that data into a single unit (Class).</a:t>
            </a:r>
          </a:p>
          <a:p>
            <a:r>
              <a:rPr lang="en-US" sz="1200" dirty="0" smtClean="0"/>
              <a:t>Key Feature: Data Hiding. Restricting direct access to some of an object's components (using access modifiers like private or protected).</a:t>
            </a:r>
          </a:p>
          <a:p>
            <a:r>
              <a:rPr lang="en-US" sz="1200" dirty="0" smtClean="0"/>
              <a:t>Benefit: Protects internal state from unintended interference and misuse.</a:t>
            </a:r>
          </a:p>
          <a:p>
            <a:pPr>
              <a:buNone/>
            </a:pPr>
            <a:r>
              <a:rPr lang="en-US" sz="1200" dirty="0" smtClean="0"/>
              <a:t>Abstraction:</a:t>
            </a:r>
          </a:p>
          <a:p>
            <a:r>
              <a:rPr lang="en-US" sz="1200" dirty="0" smtClean="0"/>
              <a:t>Definition: Hiding complex implementation details and showing only the necessary features of an object.</a:t>
            </a:r>
          </a:p>
          <a:p>
            <a:r>
              <a:rPr lang="en-US" sz="1200" dirty="0" smtClean="0"/>
              <a:t>Key Feature: Focusing on what an object does rather than how it does it.</a:t>
            </a:r>
          </a:p>
          <a:p>
            <a:r>
              <a:rPr lang="en-US" sz="1200" dirty="0" smtClean="0"/>
              <a:t>Benefit: Reduces programming complexity and effort.</a:t>
            </a:r>
          </a:p>
          <a:p>
            <a:pPr>
              <a:buNone/>
            </a:pPr>
            <a:r>
              <a:rPr lang="en-US" sz="1200" dirty="0" smtClean="0"/>
              <a:t>Inheritance:</a:t>
            </a:r>
          </a:p>
          <a:p>
            <a:r>
              <a:rPr lang="en-US" sz="1200" dirty="0" smtClean="0"/>
              <a:t>Definition: A mechanism where a new class (Child/Subclass) derives properties and behaviors from an existing class (Parent/</a:t>
            </a:r>
            <a:r>
              <a:rPr lang="en-US" sz="1200" dirty="0" err="1" smtClean="0"/>
              <a:t>Superclass</a:t>
            </a:r>
            <a:r>
              <a:rPr lang="en-US" sz="1200" dirty="0" smtClean="0"/>
              <a:t>).</a:t>
            </a:r>
          </a:p>
          <a:p>
            <a:r>
              <a:rPr lang="en-US" sz="1200" dirty="0" smtClean="0"/>
              <a:t>Key Feature: Promotes code reusability.</a:t>
            </a:r>
          </a:p>
          <a:p>
            <a:r>
              <a:rPr lang="en-US" sz="1200" dirty="0" smtClean="0"/>
              <a:t>Types: Single, Multiple, Multilevel, Hierarchical, Hybrid.</a:t>
            </a:r>
          </a:p>
          <a:p>
            <a:pPr>
              <a:buNone/>
            </a:pPr>
            <a:r>
              <a:rPr lang="en-US" sz="1200" dirty="0" smtClean="0"/>
              <a:t>Polymorphism:</a:t>
            </a:r>
          </a:p>
          <a:p>
            <a:r>
              <a:rPr lang="en-US" sz="1200" dirty="0" smtClean="0"/>
              <a:t>Definition: The ability of an object to take on many forms.</a:t>
            </a:r>
          </a:p>
          <a:p>
            <a:r>
              <a:rPr lang="en-US" sz="1200" dirty="0" smtClean="0"/>
              <a:t>Key Feature: Allows methods to do different things based on the object acting on them.</a:t>
            </a:r>
          </a:p>
          <a:p>
            <a:r>
              <a:rPr lang="en-US" sz="1200" dirty="0" smtClean="0"/>
              <a:t>Types:</a:t>
            </a:r>
          </a:p>
          <a:p>
            <a:r>
              <a:rPr lang="en-US" sz="1200" dirty="0" smtClean="0"/>
              <a:t>Compile-time (Overloading): Same method name, different parameters.</a:t>
            </a:r>
          </a:p>
          <a:p>
            <a:r>
              <a:rPr lang="en-US" sz="1200" dirty="0" smtClean="0"/>
              <a:t>Runtime (Overriding): Same method name and parameters in parent and child class, but different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200" dirty="0" smtClean="0"/>
              <a:t>Encapsulation:</a:t>
            </a:r>
          </a:p>
          <a:p>
            <a:r>
              <a:rPr lang="en-US" sz="1200" dirty="0" smtClean="0"/>
              <a:t>Definition: Bundling data (variables) and methods (functions) that operate on that data into a single unit (Class).</a:t>
            </a:r>
          </a:p>
          <a:p>
            <a:r>
              <a:rPr lang="en-US" sz="1200" dirty="0" smtClean="0"/>
              <a:t>Key Feature: Data Hiding. Restricting direct access to some of an object's components (using access modifiers like private or protected).</a:t>
            </a:r>
          </a:p>
          <a:p>
            <a:r>
              <a:rPr lang="en-US" sz="1200" dirty="0" smtClean="0"/>
              <a:t>Benefit: Protects internal state from unintended interference and misuse.</a:t>
            </a:r>
          </a:p>
          <a:p>
            <a:pPr>
              <a:buNone/>
            </a:pPr>
            <a:r>
              <a:rPr lang="en-US" sz="1200" dirty="0" smtClean="0"/>
              <a:t>Abstraction:</a:t>
            </a:r>
          </a:p>
          <a:p>
            <a:r>
              <a:rPr lang="en-US" sz="1200" dirty="0" smtClean="0"/>
              <a:t>Definition: Hiding complex implementation details and showing only the necessary features of an object.</a:t>
            </a:r>
          </a:p>
          <a:p>
            <a:r>
              <a:rPr lang="en-US" sz="1200" dirty="0" smtClean="0"/>
              <a:t>Key Feature: Focusing on what an object does rather than how it does it.</a:t>
            </a:r>
          </a:p>
          <a:p>
            <a:r>
              <a:rPr lang="en-US" sz="1200" dirty="0" smtClean="0"/>
              <a:t>Benefit: Reduces programming complexity and effort.</a:t>
            </a:r>
          </a:p>
          <a:p>
            <a:pPr>
              <a:buNone/>
            </a:pPr>
            <a:r>
              <a:rPr lang="en-US" sz="1200" dirty="0" smtClean="0"/>
              <a:t>Inheritance:</a:t>
            </a:r>
          </a:p>
          <a:p>
            <a:r>
              <a:rPr lang="en-US" sz="1200" dirty="0" smtClean="0"/>
              <a:t>Definition: A mechanism where a new class (Child/Subclass) derives properties and behaviors from an existing class (Parent/</a:t>
            </a:r>
            <a:r>
              <a:rPr lang="en-US" sz="1200" dirty="0" err="1" smtClean="0"/>
              <a:t>Superclass</a:t>
            </a:r>
            <a:r>
              <a:rPr lang="en-US" sz="1200" dirty="0" smtClean="0"/>
              <a:t>).</a:t>
            </a:r>
          </a:p>
          <a:p>
            <a:r>
              <a:rPr lang="en-US" sz="1200" dirty="0" smtClean="0"/>
              <a:t>Key Feature: Promotes code reusability.</a:t>
            </a:r>
          </a:p>
          <a:p>
            <a:r>
              <a:rPr lang="en-US" sz="1200" dirty="0" smtClean="0"/>
              <a:t>Types: Single, Multiple, Multilevel, Hierarchical, Hybrid.</a:t>
            </a:r>
          </a:p>
          <a:p>
            <a:pPr>
              <a:buNone/>
            </a:pPr>
            <a:r>
              <a:rPr lang="en-US" sz="1200" dirty="0" smtClean="0"/>
              <a:t>Polymorphism:</a:t>
            </a:r>
          </a:p>
          <a:p>
            <a:r>
              <a:rPr lang="en-US" sz="1200" dirty="0" smtClean="0"/>
              <a:t>Definition: The ability of an object to take on many forms.</a:t>
            </a:r>
          </a:p>
          <a:p>
            <a:r>
              <a:rPr lang="en-US" sz="1200" dirty="0" smtClean="0"/>
              <a:t>Key Feature: Allows methods to do different things based on the object acting on them.</a:t>
            </a:r>
          </a:p>
          <a:p>
            <a:r>
              <a:rPr lang="en-US" sz="1200" dirty="0" smtClean="0"/>
              <a:t>Types:</a:t>
            </a:r>
          </a:p>
          <a:p>
            <a:r>
              <a:rPr lang="en-US" sz="1200" dirty="0" smtClean="0"/>
              <a:t>Compile-time (Overloading): Same method name, different parameters.</a:t>
            </a:r>
          </a:p>
          <a:p>
            <a:r>
              <a:rPr lang="en-US" sz="1200" dirty="0" smtClean="0"/>
              <a:t>Runtime (Overriding): Same method name and parameters in parent and child class, but different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200" dirty="0" smtClean="0"/>
              <a:t>Encapsulation:</a:t>
            </a:r>
          </a:p>
          <a:p>
            <a:r>
              <a:rPr lang="en-US" sz="1200" dirty="0" smtClean="0"/>
              <a:t>Definition: Bundling data (variables) and methods (functions) that operate on that data into a single unit (Class).</a:t>
            </a:r>
          </a:p>
          <a:p>
            <a:r>
              <a:rPr lang="en-US" sz="1200" dirty="0" smtClean="0"/>
              <a:t>Key Feature: Data Hiding. Restricting direct access to some of an object's components (using access modifiers like private or protected).</a:t>
            </a:r>
          </a:p>
          <a:p>
            <a:r>
              <a:rPr lang="en-US" sz="1200" dirty="0" smtClean="0"/>
              <a:t>Benefit: Protects internal state from unintended interference and misuse.</a:t>
            </a:r>
          </a:p>
          <a:p>
            <a:pPr>
              <a:buNone/>
            </a:pPr>
            <a:r>
              <a:rPr lang="en-US" sz="1200" dirty="0" smtClean="0"/>
              <a:t>Abstraction:</a:t>
            </a:r>
          </a:p>
          <a:p>
            <a:r>
              <a:rPr lang="en-US" sz="1200" dirty="0" smtClean="0"/>
              <a:t>Definition: Hiding complex implementation details and showing only the necessary features of an object.</a:t>
            </a:r>
          </a:p>
          <a:p>
            <a:r>
              <a:rPr lang="en-US" sz="1200" dirty="0" smtClean="0"/>
              <a:t>Key Feature: Focusing on what an object does rather than how it does it.</a:t>
            </a:r>
          </a:p>
          <a:p>
            <a:r>
              <a:rPr lang="en-US" sz="1200" dirty="0" smtClean="0"/>
              <a:t>Benefit: Reduces programming complexity and effort.</a:t>
            </a:r>
          </a:p>
          <a:p>
            <a:pPr>
              <a:buNone/>
            </a:pPr>
            <a:r>
              <a:rPr lang="en-US" sz="1200" dirty="0" smtClean="0"/>
              <a:t>Inheritance:</a:t>
            </a:r>
          </a:p>
          <a:p>
            <a:r>
              <a:rPr lang="en-US" sz="1200" dirty="0" smtClean="0"/>
              <a:t>Definition: A mechanism where a new class (Child/Subclass) derives properties and behaviors from an existing class (Parent/</a:t>
            </a:r>
            <a:r>
              <a:rPr lang="en-US" sz="1200" dirty="0" err="1" smtClean="0"/>
              <a:t>Superclass</a:t>
            </a:r>
            <a:r>
              <a:rPr lang="en-US" sz="1200" dirty="0" smtClean="0"/>
              <a:t>).</a:t>
            </a:r>
          </a:p>
          <a:p>
            <a:r>
              <a:rPr lang="en-US" sz="1200" dirty="0" smtClean="0"/>
              <a:t>Key Feature: Promotes code reusability.</a:t>
            </a:r>
          </a:p>
          <a:p>
            <a:r>
              <a:rPr lang="en-US" sz="1200" dirty="0" smtClean="0"/>
              <a:t>Types: Single, Multiple, Multilevel, Hierarchical, Hybrid.</a:t>
            </a:r>
          </a:p>
          <a:p>
            <a:pPr>
              <a:buNone/>
            </a:pPr>
            <a:r>
              <a:rPr lang="en-US" sz="1200" dirty="0" smtClean="0"/>
              <a:t>Polymorphism:</a:t>
            </a:r>
          </a:p>
          <a:p>
            <a:r>
              <a:rPr lang="en-US" sz="1200" dirty="0" smtClean="0"/>
              <a:t>Definition: The ability of an object to take on many forms.</a:t>
            </a:r>
          </a:p>
          <a:p>
            <a:r>
              <a:rPr lang="en-US" sz="1200" dirty="0" smtClean="0"/>
              <a:t>Key Feature: Allows methods to do different things based on the object acting on them.</a:t>
            </a:r>
          </a:p>
          <a:p>
            <a:r>
              <a:rPr lang="en-US" sz="1200" dirty="0" smtClean="0"/>
              <a:t>Types:</a:t>
            </a:r>
          </a:p>
          <a:p>
            <a:r>
              <a:rPr lang="en-US" sz="1200" dirty="0" smtClean="0"/>
              <a:t>Compile-time (Overloading): Same method name, different parameters.</a:t>
            </a:r>
          </a:p>
          <a:p>
            <a:r>
              <a:rPr lang="en-US" sz="1200" dirty="0" smtClean="0"/>
              <a:t>Runtime (Overriding): Same method name and parameters in parent and child class, but different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sz="1200" dirty="0" smtClean="0"/>
              <a:t>Encapsulation:</a:t>
            </a:r>
          </a:p>
          <a:p>
            <a:r>
              <a:rPr lang="en-US" sz="1200" dirty="0" smtClean="0"/>
              <a:t>Definition: Bundling data (variables) and methods (functions) that operate on that data into a single unit (Class).</a:t>
            </a:r>
          </a:p>
          <a:p>
            <a:r>
              <a:rPr lang="en-US" sz="1200" dirty="0" smtClean="0"/>
              <a:t>Key Feature: Data Hiding. Restricting direct access to some of an object's components (using access modifiers like private or protected).</a:t>
            </a:r>
          </a:p>
          <a:p>
            <a:r>
              <a:rPr lang="en-US" sz="1200" dirty="0" smtClean="0"/>
              <a:t>Benefit: Protects internal state from unintended interference and misuse.</a:t>
            </a:r>
          </a:p>
          <a:p>
            <a:pPr>
              <a:buNone/>
            </a:pPr>
            <a:r>
              <a:rPr lang="en-US" sz="1200" dirty="0" smtClean="0"/>
              <a:t>Abstraction:</a:t>
            </a:r>
          </a:p>
          <a:p>
            <a:r>
              <a:rPr lang="en-US" sz="1200" dirty="0" smtClean="0"/>
              <a:t>Definition: Hiding complex implementation details and showing only the necessary features of an object.</a:t>
            </a:r>
          </a:p>
          <a:p>
            <a:r>
              <a:rPr lang="en-US" sz="1200" dirty="0" smtClean="0"/>
              <a:t>Key Feature: Focusing on what an object does rather than how it does it.</a:t>
            </a:r>
          </a:p>
          <a:p>
            <a:r>
              <a:rPr lang="en-US" sz="1200" dirty="0" smtClean="0"/>
              <a:t>Benefit: Reduces programming complexity and effort.</a:t>
            </a:r>
          </a:p>
          <a:p>
            <a:pPr>
              <a:buNone/>
            </a:pPr>
            <a:r>
              <a:rPr lang="en-US" sz="1200" dirty="0" smtClean="0"/>
              <a:t>Inheritance:</a:t>
            </a:r>
          </a:p>
          <a:p>
            <a:r>
              <a:rPr lang="en-US" sz="1200" dirty="0" smtClean="0"/>
              <a:t>Definition: A mechanism where a new class (Child/Subclass) derives properties and behaviors from an existing class (Parent/</a:t>
            </a:r>
            <a:r>
              <a:rPr lang="en-US" sz="1200" dirty="0" err="1" smtClean="0"/>
              <a:t>Superclass</a:t>
            </a:r>
            <a:r>
              <a:rPr lang="en-US" sz="1200" dirty="0" smtClean="0"/>
              <a:t>).</a:t>
            </a:r>
          </a:p>
          <a:p>
            <a:r>
              <a:rPr lang="en-US" sz="1200" dirty="0" smtClean="0"/>
              <a:t>Key Feature: Promotes code reusability.</a:t>
            </a:r>
          </a:p>
          <a:p>
            <a:r>
              <a:rPr lang="en-US" sz="1200" dirty="0" smtClean="0"/>
              <a:t>Types: Single, Multiple, Multilevel, Hierarchical, Hybrid.</a:t>
            </a:r>
          </a:p>
          <a:p>
            <a:pPr>
              <a:buNone/>
            </a:pPr>
            <a:r>
              <a:rPr lang="en-US" sz="1200" dirty="0" smtClean="0"/>
              <a:t>Polymorphism:</a:t>
            </a:r>
          </a:p>
          <a:p>
            <a:r>
              <a:rPr lang="en-US" sz="1200" dirty="0" smtClean="0"/>
              <a:t>Definition: The ability of an object to take on many forms.</a:t>
            </a:r>
          </a:p>
          <a:p>
            <a:r>
              <a:rPr lang="en-US" sz="1200" dirty="0" smtClean="0"/>
              <a:t>Key Feature: Allows methods to do different things based on the object acting on them.</a:t>
            </a:r>
          </a:p>
          <a:p>
            <a:r>
              <a:rPr lang="en-US" sz="1200" dirty="0" smtClean="0"/>
              <a:t>Types:</a:t>
            </a:r>
          </a:p>
          <a:p>
            <a:r>
              <a:rPr lang="en-US" sz="1200" dirty="0" smtClean="0"/>
              <a:t>Compile-time (Overloading): Same method name, different parameters.</a:t>
            </a:r>
          </a:p>
          <a:p>
            <a:r>
              <a:rPr lang="en-US" sz="1200" dirty="0" smtClean="0"/>
              <a:t>Runtime (Overriding): Same method name and parameters in parent and child class, but different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DE36570-A967-4EBE-9949-A932A1A992F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31D62-7DF2-4DB4-910C-5841F65C3738}" type="datetimeFigureOut">
              <a:rPr lang="en-US" smtClean="0"/>
              <a:pPr/>
              <a:t>3/3/2026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B081F2-7D72-46A6-BEAC-1147620A3BD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596" y="1971666"/>
            <a:ext cx="8358246" cy="2171714"/>
          </a:xfrm>
        </p:spPr>
        <p:txBody>
          <a:bodyPr>
            <a:noAutofit/>
          </a:bodyPr>
          <a:lstStyle/>
          <a:p>
            <a:r>
              <a:rPr lang="en-US" sz="4800" b="1" dirty="0" smtClean="0"/>
              <a:t>List of the key Concepts, Principles, and Components of OPP.</a:t>
            </a:r>
            <a:endParaRPr lang="en-US" sz="4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000132"/>
          </a:xfrm>
        </p:spPr>
        <p:txBody>
          <a:bodyPr>
            <a:normAutofit/>
          </a:bodyPr>
          <a:lstStyle/>
          <a:p>
            <a:r>
              <a:rPr lang="en-US" b="1" dirty="0" smtClean="0"/>
              <a:t>The Four Pillars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00174"/>
            <a:ext cx="8572560" cy="428628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Encapsulation: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Definition:</a:t>
            </a:r>
            <a:r>
              <a:rPr lang="en-US" sz="2400" dirty="0" smtClean="0"/>
              <a:t> Bundling data and methods that operate on that data into a single unit (Class).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Key Feature</a:t>
            </a:r>
            <a:r>
              <a:rPr lang="en-US" sz="2400" dirty="0" smtClean="0"/>
              <a:t>: Data Hiding. Restricting direct access to some of an object's components.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Benefit</a:t>
            </a:r>
            <a:r>
              <a:rPr lang="en-US" sz="2400" dirty="0" smtClean="0"/>
              <a:t>: Protects internal state from unintended interference and misuse.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000132"/>
          </a:xfrm>
        </p:spPr>
        <p:txBody>
          <a:bodyPr>
            <a:normAutofit/>
          </a:bodyPr>
          <a:lstStyle/>
          <a:p>
            <a:r>
              <a:rPr lang="en-US" b="1" dirty="0" smtClean="0"/>
              <a:t>The Four Pillars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285860"/>
            <a:ext cx="8429684" cy="478634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1. Encapsulation</a:t>
            </a:r>
          </a:p>
          <a:p>
            <a:pPr>
              <a:buNone/>
            </a:pP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2. Abstraction: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Definition</a:t>
            </a:r>
            <a:r>
              <a:rPr lang="en-US" sz="2400" dirty="0" smtClean="0"/>
              <a:t>: Hiding complex implementation details and showing only the necessary features of an object.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Key Feature</a:t>
            </a:r>
            <a:r>
              <a:rPr lang="en-US" sz="2400" dirty="0" smtClean="0"/>
              <a:t>: Focusing on what an object does rather than how it does it.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Benefit</a:t>
            </a:r>
            <a:r>
              <a:rPr lang="en-US" sz="2400" dirty="0" smtClean="0"/>
              <a:t>: Reduces programming complexity and effort.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000132"/>
          </a:xfrm>
        </p:spPr>
        <p:txBody>
          <a:bodyPr>
            <a:normAutofit/>
          </a:bodyPr>
          <a:lstStyle/>
          <a:p>
            <a:r>
              <a:rPr lang="en-US" b="1" dirty="0" smtClean="0"/>
              <a:t>The Four Pillars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15370" cy="507209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b="1" dirty="0" smtClean="0"/>
              <a:t>1. Encapsulation</a:t>
            </a:r>
          </a:p>
          <a:p>
            <a:pPr>
              <a:buNone/>
            </a:pPr>
            <a:r>
              <a:rPr lang="en-US" b="1" dirty="0" smtClean="0"/>
              <a:t>2. Abstraction</a:t>
            </a:r>
          </a:p>
          <a:p>
            <a:pPr>
              <a:buNone/>
            </a:pPr>
            <a:r>
              <a:rPr lang="en-US" b="1" dirty="0" smtClean="0"/>
              <a:t>3. Inheritance: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Definition</a:t>
            </a:r>
            <a:r>
              <a:rPr lang="en-US" sz="2400" dirty="0" smtClean="0"/>
              <a:t>: A mechanism where a new class (Child/Subclass) derives properties and behaviors from an existing class (Parent/</a:t>
            </a:r>
            <a:r>
              <a:rPr lang="en-US" sz="2400" dirty="0" err="1" smtClean="0"/>
              <a:t>Superclass</a:t>
            </a:r>
            <a:r>
              <a:rPr lang="en-US" sz="2400" dirty="0" smtClean="0"/>
              <a:t>).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Key Feature</a:t>
            </a:r>
            <a:r>
              <a:rPr lang="en-US" sz="2400" dirty="0" smtClean="0"/>
              <a:t>: Promotes code reusability.</a:t>
            </a:r>
          </a:p>
          <a:p>
            <a:pPr lvl="1">
              <a:lnSpc>
                <a:spcPct val="150000"/>
              </a:lnSpc>
            </a:pPr>
            <a:r>
              <a:rPr lang="en-US" sz="2400" b="1" dirty="0" smtClean="0"/>
              <a:t>Types</a:t>
            </a:r>
            <a:r>
              <a:rPr lang="en-US" sz="2400" dirty="0" smtClean="0"/>
              <a:t>: Single, Multiple, Multilevel, Hierarchical, Hybrid.</a:t>
            </a:r>
          </a:p>
          <a:p>
            <a:pPr>
              <a:buNone/>
            </a:pP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4282" y="71414"/>
            <a:ext cx="8643998" cy="785818"/>
          </a:xfrm>
        </p:spPr>
        <p:txBody>
          <a:bodyPr>
            <a:normAutofit/>
          </a:bodyPr>
          <a:lstStyle/>
          <a:p>
            <a:r>
              <a:rPr lang="en-US" b="1" dirty="0" smtClean="0"/>
              <a:t>The Four Pillars of OOP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928670"/>
            <a:ext cx="8715436" cy="5715040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 smtClean="0"/>
              <a:t>1. Encapsulation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 smtClean="0"/>
              <a:t>2. Abstraction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 smtClean="0"/>
              <a:t>3. Inheritance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b="1" dirty="0" smtClean="0"/>
              <a:t>4. Polymorphism:</a:t>
            </a:r>
          </a:p>
          <a:p>
            <a:pPr marL="542925" lvl="1">
              <a:spcBef>
                <a:spcPts val="600"/>
              </a:spcBef>
              <a:spcAft>
                <a:spcPts val="600"/>
              </a:spcAft>
            </a:pPr>
            <a:r>
              <a:rPr lang="en-US" sz="2200" b="1" dirty="0" smtClean="0"/>
              <a:t>Definition</a:t>
            </a:r>
            <a:r>
              <a:rPr lang="en-US" sz="2200" dirty="0" smtClean="0"/>
              <a:t>: The ability of an object to take on many forms.</a:t>
            </a:r>
          </a:p>
          <a:p>
            <a:pPr marL="542925" lvl="1">
              <a:spcBef>
                <a:spcPts val="600"/>
              </a:spcBef>
              <a:spcAft>
                <a:spcPts val="600"/>
              </a:spcAft>
            </a:pPr>
            <a:r>
              <a:rPr lang="en-US" sz="2200" b="1" dirty="0" smtClean="0"/>
              <a:t>Key Feature</a:t>
            </a:r>
            <a:r>
              <a:rPr lang="en-US" sz="2200" dirty="0" smtClean="0"/>
              <a:t>: Allows methods to do different things based on the object acting on them.</a:t>
            </a:r>
          </a:p>
          <a:p>
            <a:pPr marL="542925" lvl="1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Types:</a:t>
            </a:r>
          </a:p>
          <a:p>
            <a:pPr marL="942975"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Compile-time (Overloading): Same method name, different parameters.</a:t>
            </a:r>
          </a:p>
          <a:p>
            <a:pPr marL="942975" lvl="2">
              <a:spcBef>
                <a:spcPts val="600"/>
              </a:spcBef>
              <a:spcAft>
                <a:spcPts val="600"/>
              </a:spcAft>
            </a:pPr>
            <a:r>
              <a:rPr lang="en-US" sz="2200" dirty="0" smtClean="0"/>
              <a:t>Runtime (Overriding): Same method name and parameters in parent and child class, but different implementation.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14290"/>
            <a:ext cx="8229600" cy="785818"/>
          </a:xfrm>
        </p:spPr>
        <p:txBody>
          <a:bodyPr>
            <a:normAutofit/>
          </a:bodyPr>
          <a:lstStyle/>
          <a:p>
            <a:r>
              <a:rPr lang="en-US" b="1" dirty="0" smtClean="0"/>
              <a:t>Basic Building Blocks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>
            <a:normAutofit fontScale="77500" lnSpcReduction="20000"/>
          </a:bodyPr>
          <a:lstStyle/>
          <a:p>
            <a:pPr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</a:t>
            </a:r>
            <a:r>
              <a:rPr lang="en-US" dirty="0" smtClean="0"/>
              <a:t>: A blueprint or template from which objects are created. It defines the structure (attributes) and behavior (methods).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Object</a:t>
            </a:r>
            <a:r>
              <a:rPr lang="en-US" dirty="0" smtClean="0"/>
              <a:t>: An instance of a class. It is the actual entity in memory that holds data.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Attributes (Fields/Properties)</a:t>
            </a:r>
            <a:r>
              <a:rPr lang="en-US" dirty="0" smtClean="0"/>
              <a:t>: Variables defined within a class that hold the state of the object.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Methods</a:t>
            </a:r>
            <a:r>
              <a:rPr lang="en-US" dirty="0" smtClean="0"/>
              <a:t>: Functions defined within a class that define the behavior of the object.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Constructor</a:t>
            </a:r>
            <a:r>
              <a:rPr lang="en-US" dirty="0" smtClean="0"/>
              <a:t>: A special method automatically called when an object is created. Used to initialize the object's state.</a:t>
            </a:r>
          </a:p>
          <a:p>
            <a:pPr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Destructor</a:t>
            </a:r>
            <a:r>
              <a:rPr lang="en-US" dirty="0" smtClean="0"/>
              <a:t>: A special method called when an object is destroyed (used for cleanup, mainly in languages like C++).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071570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Access Modifiers (Visibility)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572560" cy="500066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dirty="0" smtClean="0"/>
              <a:t>Controls the visibility of classes, methods, and variables.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Public</a:t>
            </a:r>
            <a:r>
              <a:rPr lang="en-US" sz="2800" dirty="0" smtClean="0"/>
              <a:t>: Accessible from anywhere.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Private</a:t>
            </a:r>
            <a:r>
              <a:rPr lang="en-US" sz="2800" dirty="0" smtClean="0"/>
              <a:t>: Accessible only within the same class.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Protected</a:t>
            </a:r>
            <a:r>
              <a:rPr lang="en-US" sz="2800" dirty="0" smtClean="0"/>
              <a:t>: Accessible within the same class and its subclasses (children).</a:t>
            </a:r>
          </a:p>
          <a:p>
            <a:pPr>
              <a:lnSpc>
                <a:spcPct val="150000"/>
              </a:lnSpc>
            </a:pPr>
            <a:r>
              <a:rPr lang="en-US" sz="2800" b="1" dirty="0" smtClean="0"/>
              <a:t>Internal/Package-Private</a:t>
            </a:r>
            <a:r>
              <a:rPr lang="en-US" sz="2800" dirty="0" smtClean="0"/>
              <a:t>: Accessible only within the same package or assembly (language-dependent).</a:t>
            </a:r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Relationships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01122" cy="5286412"/>
          </a:xfrm>
        </p:spPr>
        <p:txBody>
          <a:bodyPr>
            <a:normAutofit fontScale="775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 smtClean="0"/>
              <a:t>How objects interact with one another.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Association</a:t>
            </a:r>
            <a:r>
              <a:rPr lang="en-US" b="1" dirty="0" smtClean="0"/>
              <a:t>:</a:t>
            </a:r>
            <a:r>
              <a:rPr lang="en-US" dirty="0" smtClean="0"/>
              <a:t> A relationship where two objects are related (e.g., Teacher and Student).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Aggregation ("Has-A"):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A weak relationship where one object contains another, but the contained object can exist independently (e.g., Department has Professors; if Department closes, Professors still exist).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Composition ("Part-Of"):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A strong relationship where one object owns another, and the contained object cannot exist without the owner (e.g., House has Rooms; if House is destroyed, Rooms are destroyed).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Dependency:</a:t>
            </a:r>
            <a:r>
              <a:rPr lang="en-US" dirty="0" smtClean="0"/>
              <a:t> A relationship where a change in one class affects the other (usually via method parameters).</a:t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Advanced OOP Concepts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428736"/>
            <a:ext cx="8572560" cy="5000660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Abstract Class: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 smtClean="0"/>
              <a:t>A class that cannot be instantiated on its own. It may contain abstract methods (no body) that must be implemented by subclasses. Used for partial abstraction.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Interface:</a:t>
            </a:r>
            <a:r>
              <a:rPr lang="en-US" dirty="0" smtClean="0"/>
              <a:t> A contract that defines a set of methods a class </a:t>
            </a:r>
            <a:r>
              <a:rPr lang="en-US" i="1" dirty="0" smtClean="0"/>
              <a:t>must</a:t>
            </a:r>
            <a:r>
              <a:rPr lang="en-US" dirty="0" smtClean="0"/>
              <a:t> implement. It contains no implementation logic (traditionally). Used for full abstraction.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Static Members</a:t>
            </a:r>
            <a:r>
              <a:rPr lang="en-US" b="1" dirty="0" smtClean="0"/>
              <a:t>:</a:t>
            </a:r>
            <a:r>
              <a:rPr lang="en-US" dirty="0" smtClean="0"/>
              <a:t> Belong to the class itself rather than any specific object instance. Shared across all objects.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Couplin</a:t>
            </a:r>
            <a:r>
              <a:rPr lang="en-US" b="1" dirty="0" smtClean="0"/>
              <a:t>g:</a:t>
            </a:r>
            <a:r>
              <a:rPr lang="en-US" dirty="0" smtClean="0"/>
              <a:t> The degree of interdependence between software modules. </a:t>
            </a:r>
            <a:r>
              <a:rPr lang="en-US" b="1" dirty="0" smtClean="0">
                <a:solidFill>
                  <a:srgbClr val="FF0000"/>
                </a:solidFill>
              </a:rPr>
              <a:t>Low coupling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desired in OOP.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Cohesion</a:t>
            </a:r>
            <a:r>
              <a:rPr lang="en-US" b="1" dirty="0" smtClean="0"/>
              <a:t>:</a:t>
            </a:r>
            <a:r>
              <a:rPr lang="en-US" dirty="0" smtClean="0"/>
              <a:t> The degree to which the elements inside a module belong together. </a:t>
            </a:r>
            <a:r>
              <a:rPr lang="en-US" b="1" dirty="0" smtClean="0">
                <a:solidFill>
                  <a:srgbClr val="FF0000"/>
                </a:solidFill>
              </a:rPr>
              <a:t>High cohesion</a:t>
            </a:r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dirty="0" smtClean="0"/>
              <a:t>is desired in 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58" y="142852"/>
            <a:ext cx="8429684" cy="928694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SOLID Principles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071546"/>
            <a:ext cx="8572560" cy="5143536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500" dirty="0" smtClean="0"/>
              <a:t>Five design principles intended to make software designs more understandable, flexible, and maintainable.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 smtClean="0"/>
              <a:t>S - Single Responsibility Principle:</a:t>
            </a:r>
            <a:r>
              <a:rPr lang="en-US" sz="2500" dirty="0" smtClean="0"/>
              <a:t> A class should have one, and only one, reason to change.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 smtClean="0"/>
              <a:t>O - Open/Closed Principle:</a:t>
            </a:r>
            <a:r>
              <a:rPr lang="en-US" sz="2500" dirty="0" smtClean="0"/>
              <a:t> Entities should be open for extension but closed for modification.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 smtClean="0"/>
              <a:t>L - </a:t>
            </a:r>
            <a:r>
              <a:rPr lang="en-US" sz="2500" b="1" dirty="0" err="1" smtClean="0"/>
              <a:t>Liskov</a:t>
            </a:r>
            <a:r>
              <a:rPr lang="en-US" sz="2500" b="1" dirty="0" smtClean="0"/>
              <a:t> Substitution Principle:</a:t>
            </a:r>
            <a:r>
              <a:rPr lang="en-US" sz="2500" dirty="0" smtClean="0"/>
              <a:t> Subtypes must be substitutable for their base types without breaking the application.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 smtClean="0"/>
              <a:t>I - Interface Segregation Principle:</a:t>
            </a:r>
            <a:r>
              <a:rPr lang="en-US" sz="2500" dirty="0" smtClean="0"/>
              <a:t> Clients should not be forced to depend on interfaces they do not use.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500" b="1" dirty="0" smtClean="0"/>
              <a:t>D - Dependency Inversion Principle:</a:t>
            </a:r>
            <a:r>
              <a:rPr lang="en-US" sz="2500" dirty="0" smtClean="0"/>
              <a:t> Depend on abstractions, not on concretions.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Benefits of OOP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29196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Modularity</a:t>
            </a:r>
            <a:r>
              <a:rPr lang="en-US" b="1" dirty="0" smtClean="0"/>
              <a:t>:</a:t>
            </a:r>
            <a:r>
              <a:rPr lang="en-US" dirty="0" smtClean="0"/>
              <a:t> Code is organized into distinct objects.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Reusability</a:t>
            </a:r>
            <a:r>
              <a:rPr lang="en-US" b="1" dirty="0" smtClean="0"/>
              <a:t>:</a:t>
            </a:r>
            <a:r>
              <a:rPr lang="en-US" dirty="0" smtClean="0"/>
              <a:t> Inheritance allows code to be reused.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Maintainability</a:t>
            </a:r>
            <a:r>
              <a:rPr lang="en-US" b="1" dirty="0" smtClean="0"/>
              <a:t>:</a:t>
            </a:r>
            <a:r>
              <a:rPr lang="en-US" dirty="0" smtClean="0"/>
              <a:t> Easier to update and debug specific parts without affecting the whole.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Scalability</a:t>
            </a:r>
            <a:r>
              <a:rPr lang="en-US" b="1" dirty="0" smtClean="0"/>
              <a:t>:</a:t>
            </a:r>
            <a:r>
              <a:rPr lang="en-US" dirty="0" smtClean="0"/>
              <a:t> Easier to manage large codebases.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Security</a:t>
            </a:r>
            <a:r>
              <a:rPr lang="en-US" b="1" dirty="0" smtClean="0"/>
              <a:t>:</a:t>
            </a:r>
            <a:r>
              <a:rPr lang="en-US" dirty="0" smtClean="0"/>
              <a:t> Data hiding protects sensitive information.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329642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Drawbacks of OOP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571612"/>
            <a:ext cx="8572560" cy="4929222"/>
          </a:xfrm>
        </p:spPr>
        <p:txBody>
          <a:bodyPr>
            <a:no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Verbosity</a:t>
            </a:r>
            <a:r>
              <a:rPr lang="en-US" sz="2600" b="1" dirty="0" smtClean="0"/>
              <a:t>:</a:t>
            </a:r>
            <a:r>
              <a:rPr lang="en-US" sz="2600" dirty="0" smtClean="0"/>
              <a:t> Requires more lines of code compared to procedural programming.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Performance</a:t>
            </a:r>
            <a:r>
              <a:rPr lang="en-US" sz="2600" b="1" dirty="0" smtClean="0"/>
              <a:t>:</a:t>
            </a:r>
            <a:r>
              <a:rPr lang="en-US" sz="2600" dirty="0" smtClean="0"/>
              <a:t> Can be slightly slower due to abstraction layers and dynamic dispatch (though negligible on modern hardware).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Complexity</a:t>
            </a:r>
            <a:r>
              <a:rPr lang="en-US" sz="2600" b="1" dirty="0" smtClean="0"/>
              <a:t>:</a:t>
            </a:r>
            <a:r>
              <a:rPr lang="en-US" sz="2600" dirty="0" smtClean="0"/>
              <a:t> Steep learning curve; bad design can lead to overly complex class hierarchies.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2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Not Universal</a:t>
            </a:r>
            <a:r>
              <a:rPr lang="en-US" sz="2600" b="1" dirty="0" smtClean="0"/>
              <a:t>:</a:t>
            </a:r>
            <a:r>
              <a:rPr lang="en-US" sz="2600" dirty="0" smtClean="0"/>
              <a:t> Not suitable for all problems (e.g., simple scripts or high-performance computing tasks might be better suited for procedural or functional programming).</a:t>
            </a:r>
            <a:endParaRPr lang="en-US" sz="2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Popular OOP Languages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36"/>
            <a:ext cx="8229600" cy="500066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</a:t>
            </a:r>
            <a:r>
              <a:rPr lang="en-US" sz="2800" b="1" dirty="0" smtClean="0"/>
              <a:t>:</a:t>
            </a:r>
            <a:r>
              <a:rPr lang="en-US" sz="2800" dirty="0" smtClean="0"/>
              <a:t> Purely object-oriented (everything must be in a class).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C++:</a:t>
            </a:r>
            <a:r>
              <a:rPr lang="en-US" sz="2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800" dirty="0" smtClean="0"/>
              <a:t>Multi-paradigm (supports OOP, procedural, generic).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Python</a:t>
            </a:r>
            <a:r>
              <a:rPr lang="en-US" sz="2800" b="1" dirty="0" smtClean="0"/>
              <a:t>:</a:t>
            </a:r>
            <a:r>
              <a:rPr lang="en-US" sz="2800" dirty="0" smtClean="0"/>
              <a:t> Multi-paradigm (supports OOP, functional, procedural).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C#</a:t>
            </a:r>
            <a:r>
              <a:rPr lang="en-US" sz="2800" b="1" dirty="0" smtClean="0"/>
              <a:t>:</a:t>
            </a:r>
            <a:r>
              <a:rPr lang="en-US" sz="2800" dirty="0" smtClean="0"/>
              <a:t> Designed for the .NET framework, heavily OOP.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Ruby</a:t>
            </a:r>
            <a:r>
              <a:rPr lang="en-US" sz="2800" b="1" dirty="0" smtClean="0"/>
              <a:t>:</a:t>
            </a:r>
            <a:r>
              <a:rPr lang="en-US" sz="2800" dirty="0" smtClean="0"/>
              <a:t> Purely object-oriented.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PHP</a:t>
            </a:r>
            <a:r>
              <a:rPr lang="en-US" sz="2800" b="1" dirty="0" smtClean="0"/>
              <a:t>:</a:t>
            </a:r>
            <a:r>
              <a:rPr lang="en-US" sz="2800" dirty="0" smtClean="0"/>
              <a:t> Widely used for web, supports OOP.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BAD CODE Examples for SOLID Refactoring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14554"/>
            <a:ext cx="8229600" cy="3911609"/>
          </a:xfrm>
        </p:spPr>
        <p:txBody>
          <a:bodyPr/>
          <a:lstStyle/>
          <a:p>
            <a:r>
              <a:rPr lang="en-US" i="1" dirty="0" smtClean="0">
                <a:solidFill>
                  <a:srgbClr val="FF0000"/>
                </a:solidFill>
              </a:rPr>
              <a:t>Now the fun part 🔥</a:t>
            </a:r>
          </a:p>
          <a:p>
            <a:endParaRPr lang="en-US" i="1" dirty="0" smtClean="0">
              <a:solidFill>
                <a:srgbClr val="FF0000"/>
              </a:solidFill>
            </a:endParaRPr>
          </a:p>
          <a:p>
            <a:r>
              <a:rPr lang="en-US" i="1" dirty="0" smtClean="0">
                <a:solidFill>
                  <a:srgbClr val="FF0000"/>
                </a:solidFill>
              </a:rPr>
              <a:t>These are intentionally bad designs for students to fix.</a:t>
            </a:r>
          </a:p>
          <a:p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142852"/>
            <a:ext cx="8858312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Responsibility Principle (SRP)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1500174"/>
            <a:ext cx="8572560" cy="5214974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StudentService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SaveStudent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// Save to database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SendEmail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// Send welcome email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GenerateReport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// Generate PDF report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142852"/>
            <a:ext cx="8858312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Responsibility Principle (SRP)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85860"/>
            <a:ext cx="7572396" cy="428628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StudentService</a:t>
            </a:r>
            <a:endParaRPr 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SaveStudent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    // Save to database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SendEmail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    // Send welcome email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GenerateReport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    // Generate PDF report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6248" y="5643578"/>
            <a:ext cx="2357454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</a:rPr>
              <a:t>Database logic</a:t>
            </a:r>
          </a:p>
          <a:p>
            <a:pPr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</a:rPr>
              <a:t>Email logic</a:t>
            </a:r>
          </a:p>
          <a:p>
            <a:pPr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</a:rPr>
              <a:t>Reporting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5984" y="5929330"/>
            <a:ext cx="1571636" cy="461665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Problems</a:t>
            </a:r>
            <a:endParaRPr lang="en-US" sz="28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16" y="5715016"/>
            <a:ext cx="2143140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ALL inside one class.</a:t>
            </a:r>
            <a:endParaRPr lang="en-US" sz="2000" dirty="0"/>
          </a:p>
        </p:txBody>
      </p:sp>
      <p:sp>
        <p:nvSpPr>
          <p:cNvPr id="7" name="Left Brace 6"/>
          <p:cNvSpPr/>
          <p:nvPr/>
        </p:nvSpPr>
        <p:spPr>
          <a:xfrm>
            <a:off x="4000496" y="5572140"/>
            <a:ext cx="285752" cy="1143008"/>
          </a:xfrm>
          <a:prstGeom prst="leftBrace">
            <a:avLst>
              <a:gd name="adj1" fmla="val 64999"/>
              <a:gd name="adj2" fmla="val 4666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 flipH="1">
            <a:off x="6500826" y="5500702"/>
            <a:ext cx="285752" cy="1143008"/>
          </a:xfrm>
          <a:prstGeom prst="leftBrace">
            <a:avLst>
              <a:gd name="adj1" fmla="val 64999"/>
              <a:gd name="adj2" fmla="val 4666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142852"/>
            <a:ext cx="8858312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Single Responsibility Principle (SRP)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50" y="1285860"/>
            <a:ext cx="6715140" cy="428628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StudentService</a:t>
            </a:r>
            <a:endParaRPr 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SaveStudent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    // Save to database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SendEmail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    // Send welcome email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endParaRPr lang="en-US" sz="18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public void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GenerateReport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(Student </a:t>
            </a:r>
            <a:r>
              <a:rPr lang="en-US" sz="18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    // Generate PDF report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8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8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286248" y="5643578"/>
            <a:ext cx="2357454" cy="101566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</a:rPr>
              <a:t>Database logic</a:t>
            </a:r>
          </a:p>
          <a:p>
            <a:pPr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</a:rPr>
              <a:t>Email logic</a:t>
            </a:r>
          </a:p>
          <a:p>
            <a:pPr indent="-457200">
              <a:buFont typeface="Arial" pitchFamily="34" charset="0"/>
              <a:buChar char="•"/>
            </a:pPr>
            <a:r>
              <a:rPr lang="en-US" sz="2000" dirty="0" smtClean="0">
                <a:solidFill>
                  <a:schemeClr val="dk1"/>
                </a:solidFill>
              </a:rPr>
              <a:t>Reporting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5984" y="5929330"/>
            <a:ext cx="1571636" cy="461665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400" b="1" dirty="0" smtClean="0"/>
              <a:t>Problems</a:t>
            </a:r>
            <a:endParaRPr lang="en-US" sz="2800" b="1" dirty="0" smtClean="0"/>
          </a:p>
        </p:txBody>
      </p:sp>
      <p:sp>
        <p:nvSpPr>
          <p:cNvPr id="6" name="Rectangle 5"/>
          <p:cNvSpPr/>
          <p:nvPr/>
        </p:nvSpPr>
        <p:spPr>
          <a:xfrm>
            <a:off x="6858016" y="5715016"/>
            <a:ext cx="2143140" cy="707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 smtClean="0"/>
              <a:t>ALL inside one class.</a:t>
            </a:r>
            <a:endParaRPr lang="en-US" sz="2000" dirty="0"/>
          </a:p>
        </p:txBody>
      </p:sp>
      <p:sp>
        <p:nvSpPr>
          <p:cNvPr id="7" name="Left Brace 6"/>
          <p:cNvSpPr/>
          <p:nvPr/>
        </p:nvSpPr>
        <p:spPr>
          <a:xfrm>
            <a:off x="4000496" y="5572140"/>
            <a:ext cx="285752" cy="1143008"/>
          </a:xfrm>
          <a:prstGeom prst="leftBrace">
            <a:avLst>
              <a:gd name="adj1" fmla="val 64999"/>
              <a:gd name="adj2" fmla="val 4666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Left Brace 7"/>
          <p:cNvSpPr/>
          <p:nvPr/>
        </p:nvSpPr>
        <p:spPr>
          <a:xfrm flipH="1">
            <a:off x="6500826" y="5500702"/>
            <a:ext cx="285752" cy="1143008"/>
          </a:xfrm>
          <a:prstGeom prst="leftBrace">
            <a:avLst>
              <a:gd name="adj1" fmla="val 64999"/>
              <a:gd name="adj2" fmla="val 46667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500826" y="1500174"/>
            <a:ext cx="71438" cy="3786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6596077" y="1428736"/>
            <a:ext cx="2500298" cy="3877985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  <a:t>Refactoring Goal</a:t>
            </a:r>
            <a:b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</a:b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latin typeface="Arial Narrow" pitchFamily="34" charset="0"/>
              <a:cs typeface="Arial" pitchFamily="34" charset="0"/>
            </a:endParaRPr>
          </a:p>
          <a:p>
            <a:pPr lvl="0" eaLnBrk="0" fontAlgn="base" hangingPunct="0">
              <a:spcAft>
                <a:spcPts val="600"/>
              </a:spcAft>
            </a:pPr>
            <a:r>
              <a:rPr lang="en-US" sz="2400" b="1" dirty="0" err="1" smtClean="0">
                <a:solidFill>
                  <a:schemeClr val="bg1"/>
                </a:solidFill>
                <a:latin typeface="Arial Narrow" pitchFamily="34" charset="0"/>
                <a:cs typeface="Courier New" pitchFamily="49" charset="0"/>
              </a:rPr>
              <a:t>StudentService</a:t>
            </a:r>
            <a:r>
              <a:rPr lang="en-US" sz="2400" b="1" dirty="0" smtClean="0">
                <a:solidFill>
                  <a:schemeClr val="bg1"/>
                </a:solidFill>
                <a:latin typeface="Arial Narrow" pitchFamily="34" charset="0"/>
                <a:cs typeface="Courier New" pitchFamily="49" charset="0"/>
              </a:rPr>
              <a:t>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  <a:t>must split into:</a:t>
            </a:r>
          </a:p>
          <a:p>
            <a:pPr marL="0" marR="0" lvl="0" indent="0" algn="l" defTabSz="914400" rtl="0" eaLnBrk="0" fontAlgn="base" latinLnBrk="0" hangingPunct="0"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latin typeface="Arial Narrow" pitchFamily="34" charset="0"/>
              <a:cs typeface="Arial" pitchFamily="34" charset="0"/>
            </a:endParaRPr>
          </a:p>
          <a:p>
            <a:pPr marL="180975" marR="0" lvl="0" indent="-180975" algn="l" defTabSz="914400" rtl="0" eaLnBrk="0" fontAlgn="base" latinLnBrk="0" hangingPunct="0"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  <a:t>StudentRepository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latin typeface="Arial Narrow" pitchFamily="34" charset="0"/>
              <a:cs typeface="Arial" pitchFamily="34" charset="0"/>
            </a:endParaRPr>
          </a:p>
          <a:p>
            <a:pPr marL="180975" marR="0" lvl="0" indent="-180975" algn="l" defTabSz="914400" rtl="0" eaLnBrk="0" fontAlgn="base" latinLnBrk="0" hangingPunct="0"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  <a:t>EmailService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latin typeface="Arial Narrow" pitchFamily="34" charset="0"/>
              <a:cs typeface="Arial" pitchFamily="34" charset="0"/>
            </a:endParaRPr>
          </a:p>
          <a:p>
            <a:pPr marL="180975" marR="0" lvl="0" indent="-180975" algn="l" defTabSz="914400" rtl="0" eaLnBrk="0" fontAlgn="base" latinLnBrk="0" hangingPunct="0"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  <a:t>ReportService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latin typeface="Arial Narrow" pitchFamily="34" charset="0"/>
              <a:cs typeface="Arial" pitchFamily="34" charset="0"/>
            </a:endParaRPr>
          </a:p>
          <a:p>
            <a:pPr marL="180975" marR="0" lvl="0" indent="-180975" algn="l" defTabSz="914400" rtl="0" eaLnBrk="0" fontAlgn="base" latinLnBrk="0" hangingPunct="0">
              <a:spcAft>
                <a:spcPts val="60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latin typeface="Arial Narrow" pitchFamily="34" charset="0"/>
                <a:cs typeface="Arial" pitchFamily="34" charset="0"/>
              </a:rPr>
              <a:t>StudentService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latin typeface="Arial Narrow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85723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Open/Closed Principle (OCP)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928670"/>
            <a:ext cx="8358246" cy="5786478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PaymentProcessor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public void Process(string type)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if (type == "Cash")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("Processing cash");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else if (type == "Card")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("Processing card");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else if (type == "Bank")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("Processing bank transfer");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85723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Open/Closed Principle (OCP)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928670"/>
            <a:ext cx="7286676" cy="464347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PaymentProcessor</a:t>
            </a: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void Process(string type)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if (type == "Cash")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("Processing cash");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else if (type == "Card")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("Processing card");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else if (type == "Bank")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("Processing bank transfer");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5715016"/>
            <a:ext cx="70009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Every new payment type requires modifying the class.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844" y="0"/>
            <a:ext cx="8786874" cy="857232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Open/Closed Principle (OCP)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1071546"/>
            <a:ext cx="5786478" cy="4071966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PaymentProcessor</a:t>
            </a:r>
            <a:endParaRPr lang="en-US" sz="1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public void Process(string type)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{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if (type == "Cash")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("Processing cash");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else if (type == "Card")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("Processing card");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else if (type == "Bank")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  </a:t>
            </a:r>
            <a:r>
              <a:rPr lang="en-US" sz="14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("Processing bank transfer");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spcBef>
                <a:spcPts val="0"/>
              </a:spcBef>
              <a:buNone/>
            </a:pPr>
            <a:r>
              <a:rPr lang="en-US" sz="1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14282" y="5572140"/>
            <a:ext cx="57864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Problem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Every new payment type requires modifying the class.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Half Frame 4"/>
          <p:cNvSpPr/>
          <p:nvPr/>
        </p:nvSpPr>
        <p:spPr>
          <a:xfrm flipH="1" flipV="1">
            <a:off x="285720" y="785794"/>
            <a:ext cx="5643602" cy="4714908"/>
          </a:xfrm>
          <a:prstGeom prst="halfFrame">
            <a:avLst>
              <a:gd name="adj1" fmla="val 1721"/>
              <a:gd name="adj2" fmla="val 19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6865" name="Rectangle 1"/>
          <p:cNvSpPr>
            <a:spLocks noChangeArrowheads="1"/>
          </p:cNvSpPr>
          <p:nvPr/>
        </p:nvSpPr>
        <p:spPr bwMode="auto">
          <a:xfrm>
            <a:off x="6072198" y="857232"/>
            <a:ext cx="2928958" cy="13234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Refactoring Goal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Use polymorphism:</a:t>
            </a: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6072198" y="4429132"/>
            <a:ext cx="2928958" cy="1708160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100" dirty="0" smtClean="0"/>
              <a:t>Then: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100" dirty="0" err="1" smtClean="0"/>
              <a:t>CashPayment</a:t>
            </a:r>
            <a:endParaRPr lang="en-US" sz="21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100" dirty="0" err="1" smtClean="0"/>
              <a:t>CardPayment</a:t>
            </a:r>
            <a:endParaRPr lang="en-US" sz="21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100" dirty="0" err="1" smtClean="0"/>
              <a:t>BankPayment</a:t>
            </a:r>
            <a:endParaRPr lang="en-US" sz="2100" dirty="0" smtClean="0"/>
          </a:p>
          <a:p>
            <a:r>
              <a:rPr lang="en-US" sz="2100" dirty="0" smtClean="0"/>
              <a:t>No if/else allowed.</a:t>
            </a:r>
            <a:endParaRPr lang="en-US" sz="2100" dirty="0"/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6072198" y="2571744"/>
            <a:ext cx="2928958" cy="1323439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interface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IPayment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/>
            </a:r>
            <a:b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  <a:b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 void Process();</a:t>
            </a:r>
            <a:b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42852"/>
            <a:ext cx="9144000" cy="1143000"/>
          </a:xfrm>
        </p:spPr>
        <p:txBody>
          <a:bodyPr>
            <a:normAutofit fontScale="90000"/>
          </a:bodyPr>
          <a:lstStyle/>
          <a:p>
            <a:r>
              <a:rPr lang="fr-F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Liskov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Substitution </a:t>
            </a:r>
            <a:r>
              <a:rPr lang="fr-FR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Principle</a:t>
            </a:r>
            <a:r>
              <a:rPr lang="fr-F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(LSP)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Bird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public virtual void Fly()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("Flying");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Penguin : Bird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public override void Fly()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    throw new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NotImplementedException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414"/>
            <a:ext cx="9144000" cy="785818"/>
          </a:xfrm>
        </p:spPr>
        <p:txBody>
          <a:bodyPr>
            <a:normAutofit/>
          </a:bodyPr>
          <a:lstStyle/>
          <a:p>
            <a:r>
              <a:rPr lang="fr-FR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Liskov</a:t>
            </a:r>
            <a:r>
              <a:rPr lang="fr-F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Substitution </a:t>
            </a:r>
            <a:r>
              <a:rPr lang="fr-FR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Principle</a:t>
            </a:r>
            <a:r>
              <a:rPr lang="fr-F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(LSP) Violation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3"/>
            <a:ext cx="5715040" cy="385765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Bird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virtual void Fly()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("Flying");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Penguin : Bird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override void Fly()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throw 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NotImplementedException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5072074"/>
            <a:ext cx="621510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Penguin cannot fly → breaks substitution.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414"/>
            <a:ext cx="9144000" cy="785818"/>
          </a:xfrm>
        </p:spPr>
        <p:txBody>
          <a:bodyPr>
            <a:normAutofit/>
          </a:bodyPr>
          <a:lstStyle/>
          <a:p>
            <a:r>
              <a:rPr lang="fr-FR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Liskov</a:t>
            </a:r>
            <a:r>
              <a:rPr lang="fr-F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Substitution </a:t>
            </a:r>
            <a:r>
              <a:rPr lang="fr-FR" sz="3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Principle</a:t>
            </a:r>
            <a:r>
              <a:rPr lang="fr-FR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(LSP) Violation</a:t>
            </a:r>
            <a:endParaRPr 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5720" y="857233"/>
            <a:ext cx="5715040" cy="385765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Bird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virtual void Fly()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Console.WriteLine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("Flying");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</a:p>
          <a:p>
            <a:pPr>
              <a:spcBef>
                <a:spcPts val="0"/>
              </a:spcBef>
              <a:buNone/>
            </a:pPr>
            <a:endParaRPr lang="en-US" sz="16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class Penguin : Bird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public override void Fly()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{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    throw new </a:t>
            </a:r>
            <a:r>
              <a:rPr lang="en-US" sz="1600" b="1" dirty="0" err="1" smtClean="0">
                <a:latin typeface="Courier New" pitchFamily="49" charset="0"/>
                <a:cs typeface="Courier New" pitchFamily="49" charset="0"/>
              </a:rPr>
              <a:t>NotImplementedException</a:t>
            </a: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    }</a:t>
            </a:r>
          </a:p>
          <a:p>
            <a:pPr>
              <a:spcBef>
                <a:spcPts val="0"/>
              </a:spcBef>
              <a:buNone/>
            </a:pPr>
            <a:r>
              <a:rPr lang="en-US" sz="16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16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5007130"/>
            <a:ext cx="45720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</a:rPr>
              <a:t>Problem</a:t>
            </a:r>
          </a:p>
          <a:p>
            <a:r>
              <a:rPr lang="en-US" sz="2000" dirty="0" smtClean="0">
                <a:solidFill>
                  <a:srgbClr val="FF0000"/>
                </a:solidFill>
              </a:rPr>
              <a:t>Penguin cannot fly → breaks substitution.</a:t>
            </a:r>
            <a:endParaRPr lang="en-US" sz="20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929322" y="857232"/>
            <a:ext cx="45719" cy="578647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072198" y="1500174"/>
            <a:ext cx="2928958" cy="418576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smtClean="0"/>
              <a:t>Refactoring Goal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Split into: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smtClean="0"/>
              <a:t>Bird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err="1" smtClean="0"/>
              <a:t>FlyingBird</a:t>
            </a:r>
            <a:endParaRPr lang="en-US" sz="2400" dirty="0" smtClean="0"/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smtClean="0"/>
              <a:t>Penguin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smtClean="0"/>
              <a:t>Eagle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smtClean="0"/>
              <a:t>Or use interfaces: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2400" dirty="0" err="1" smtClean="0"/>
              <a:t>IFlyable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Segregation Principle (ISP)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57422" y="2000240"/>
            <a:ext cx="4500594" cy="2357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IWorker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void Work();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void Eat();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Segregation Principle (ISP)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414" y="2000240"/>
            <a:ext cx="6357982" cy="2357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IWorker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void Work();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void Eat();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2976" y="4786322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Problem: </a:t>
            </a:r>
            <a:br>
              <a:rPr lang="en-US" sz="2400" b="1" dirty="0" smtClean="0">
                <a:solidFill>
                  <a:srgbClr val="FF0000"/>
                </a:solidFill>
              </a:rPr>
            </a:br>
            <a:r>
              <a:rPr lang="en-US" sz="2400" dirty="0" smtClean="0">
                <a:solidFill>
                  <a:srgbClr val="FF0000"/>
                </a:solidFill>
              </a:rPr>
              <a:t>Robot </a:t>
            </a:r>
            <a:r>
              <a:rPr lang="en-US" sz="2400" dirty="0" smtClean="0">
                <a:solidFill>
                  <a:srgbClr val="FF0000"/>
                </a:solidFill>
              </a:rPr>
              <a:t>must implement Eat() even if it doesn't eat.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Interface Segregation Principle (ISP) Violation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4414" y="2000240"/>
            <a:ext cx="6357982" cy="235745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interface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IWorker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void Work();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  void Eat();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1142976" y="4786322"/>
            <a:ext cx="421484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Problem: </a:t>
            </a:r>
            <a:br>
              <a:rPr lang="en-US" sz="2400" b="1" dirty="0" smtClean="0">
                <a:solidFill>
                  <a:srgbClr val="FF0000"/>
                </a:solidFill>
              </a:rPr>
            </a:br>
            <a:r>
              <a:rPr lang="en-US" sz="2400" dirty="0" smtClean="0">
                <a:solidFill>
                  <a:srgbClr val="FF0000"/>
                </a:solidFill>
              </a:rPr>
              <a:t>Robot </a:t>
            </a:r>
            <a:r>
              <a:rPr lang="en-US" sz="2400" dirty="0" smtClean="0">
                <a:solidFill>
                  <a:srgbClr val="FF0000"/>
                </a:solidFill>
              </a:rPr>
              <a:t>must implement Eat() even if it doesn't eat.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500694" y="1928802"/>
            <a:ext cx="45719" cy="400052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5786446" y="3000372"/>
            <a:ext cx="242889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Refactor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Into:</a:t>
            </a: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Iworkable</a:t>
            </a:r>
            <a:endParaRPr lang="en-US" sz="2400" dirty="0" smtClean="0"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IEatable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414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Dependency Inversion Principle (DIP) 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Violation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643050"/>
            <a:ext cx="8715436" cy="457203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StudentService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database = new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void Save(Student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latin typeface="Courier New" pitchFamily="49" charset="0"/>
                <a:cs typeface="Courier New" pitchFamily="49" charset="0"/>
              </a:rPr>
              <a:t>database.Save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(student);</a:t>
            </a: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4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400" b="1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414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Dependency Inversion Principle (DIP) 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Violation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0" y="1428736"/>
            <a:ext cx="6829444" cy="361475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StudentService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database = new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void Save(Student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database.Save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(student);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8662" y="5286388"/>
            <a:ext cx="6786610" cy="11430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Problem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rgbClr val="FF0000"/>
                </a:solidFill>
              </a:rPr>
              <a:t>High-level class depends on concrete class.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1414"/>
            <a:ext cx="9144000" cy="1143000"/>
          </a:xfrm>
        </p:spPr>
        <p:txBody>
          <a:bodyPr>
            <a:noAutofit/>
          </a:bodyPr>
          <a:lstStyle/>
          <a:p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Dependency Inversion Principle (DIP) </a:t>
            </a:r>
            <a:r>
              <a:rPr 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Violation</a:t>
            </a:r>
            <a:endParaRPr lang="en-US" sz="4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4282" y="1500174"/>
            <a:ext cx="6000792" cy="361475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class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StudentService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private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database = new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MySqlDatabase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();</a:t>
            </a:r>
          </a:p>
          <a:p>
            <a:pPr>
              <a:buNone/>
            </a:pP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public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void Save(Student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student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)</a:t>
            </a: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{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database.Save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(student);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}</a:t>
            </a:r>
            <a:endParaRPr lang="en-US" sz="2000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57158" y="5000636"/>
            <a:ext cx="3929090" cy="14619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 smtClean="0">
                <a:solidFill>
                  <a:srgbClr val="FF0000"/>
                </a:solidFill>
              </a:rPr>
              <a:t>Problem</a:t>
            </a:r>
          </a:p>
          <a:p>
            <a:pPr>
              <a:spcBef>
                <a:spcPts val="600"/>
              </a:spcBef>
            </a:pPr>
            <a:r>
              <a:rPr lang="en-US" sz="2400" dirty="0" smtClean="0">
                <a:solidFill>
                  <a:srgbClr val="FF0000"/>
                </a:solidFill>
              </a:rPr>
              <a:t>High-level class depends on concrete class.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51201" name="Rectangle 1"/>
          <p:cNvSpPr>
            <a:spLocks noChangeArrowheads="1"/>
          </p:cNvSpPr>
          <p:nvPr/>
        </p:nvSpPr>
        <p:spPr bwMode="auto">
          <a:xfrm>
            <a:off x="4572000" y="3823178"/>
            <a:ext cx="4500594" cy="2677656"/>
          </a:xfrm>
          <a:prstGeom prst="rect">
            <a:avLst/>
          </a:prstGeom>
          <a:ln>
            <a:headEnd/>
            <a:tailEnd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Refactor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 Goal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interface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IDatabase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/>
            </a:r>
            <a:b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{</a:t>
            </a:r>
            <a:b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 void Save(Student 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student</a:t>
            </a: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);</a:t>
            </a:r>
            <a:b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</a:b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ourier New" pitchFamily="49" charset="0"/>
                <a:cs typeface="Courier New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cs typeface="Arial" pitchFamily="34" charset="0"/>
              </a:rPr>
              <a:t>Inject via constructor.</a:t>
            </a:r>
          </a:p>
        </p:txBody>
      </p:sp>
      <p:sp>
        <p:nvSpPr>
          <p:cNvPr id="7" name="Half Frame 6"/>
          <p:cNvSpPr/>
          <p:nvPr/>
        </p:nvSpPr>
        <p:spPr>
          <a:xfrm>
            <a:off x="4500562" y="3643314"/>
            <a:ext cx="4643438" cy="3000396"/>
          </a:xfrm>
          <a:prstGeom prst="halfFrame">
            <a:avLst>
              <a:gd name="adj1" fmla="val 1973"/>
              <a:gd name="adj2" fmla="val 1302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621</TotalTime>
  <Words>2651</Words>
  <Application>Microsoft Office PowerPoint</Application>
  <PresentationFormat>On-screen Show (4:3)</PresentationFormat>
  <Paragraphs>422</Paragraphs>
  <Slides>29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List of the key Concepts, Principles, and Components of OPP.</vt:lpstr>
      <vt:lpstr>The Four Pillars of OOP</vt:lpstr>
      <vt:lpstr>The Four Pillars of OOP</vt:lpstr>
      <vt:lpstr>The Four Pillars of OOP</vt:lpstr>
      <vt:lpstr>The Four Pillars of OOP</vt:lpstr>
      <vt:lpstr>Basic Building Blocks</vt:lpstr>
      <vt:lpstr>Access Modifiers (Visibility)</vt:lpstr>
      <vt:lpstr>Class Relationships</vt:lpstr>
      <vt:lpstr>Advanced OOP Concepts</vt:lpstr>
      <vt:lpstr>SOLID Principles</vt:lpstr>
      <vt:lpstr>Benefits of OOP</vt:lpstr>
      <vt:lpstr>Drawbacks of OOP</vt:lpstr>
      <vt:lpstr>Popular OOP Languages</vt:lpstr>
      <vt:lpstr>BAD CODE Examples for SOLID Refactoring</vt:lpstr>
      <vt:lpstr>Single Responsibility Principle (SRP) Violation</vt:lpstr>
      <vt:lpstr>Single Responsibility Principle (SRP) Violation</vt:lpstr>
      <vt:lpstr>Single Responsibility Principle (SRP) Violation</vt:lpstr>
      <vt:lpstr>Open/Closed Principle (OCP) Violation</vt:lpstr>
      <vt:lpstr>Open/Closed Principle (OCP) Violation</vt:lpstr>
      <vt:lpstr>Open/Closed Principle (OCP) Violation</vt:lpstr>
      <vt:lpstr>Liskov Substitution Principle (LSP) Violation</vt:lpstr>
      <vt:lpstr>Liskov Substitution Principle (LSP) Violation</vt:lpstr>
      <vt:lpstr>Liskov Substitution Principle (LSP) Violation</vt:lpstr>
      <vt:lpstr>Interface Segregation Principle (ISP) Violation</vt:lpstr>
      <vt:lpstr>Interface Segregation Principle (ISP) Violation</vt:lpstr>
      <vt:lpstr>Interface Segregation Principle (ISP) Violation</vt:lpstr>
      <vt:lpstr>Dependency Inversion Principle (DIP) Violation</vt:lpstr>
      <vt:lpstr>Dependency Inversion Principle (DIP) Violation</vt:lpstr>
      <vt:lpstr>Dependency Inversion Principle (DIP) Violation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and Object-Oriented Programming </dc:title>
  <dc:creator>tmik</dc:creator>
  <cp:lastModifiedBy>tmik</cp:lastModifiedBy>
  <cp:revision>190</cp:revision>
  <dcterms:created xsi:type="dcterms:W3CDTF">2026-02-15T10:58:32Z</dcterms:created>
  <dcterms:modified xsi:type="dcterms:W3CDTF">2026-03-03T17:48:28Z</dcterms:modified>
</cp:coreProperties>
</file>