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95" r:id="rId9"/>
    <p:sldId id="294" r:id="rId10"/>
    <p:sldId id="262" r:id="rId11"/>
    <p:sldId id="285" r:id="rId12"/>
    <p:sldId id="263" r:id="rId13"/>
    <p:sldId id="286" r:id="rId14"/>
    <p:sldId id="264" r:id="rId15"/>
    <p:sldId id="265" r:id="rId16"/>
    <p:sldId id="266" r:id="rId17"/>
    <p:sldId id="287" r:id="rId18"/>
    <p:sldId id="267" r:id="rId19"/>
    <p:sldId id="288" r:id="rId20"/>
    <p:sldId id="290" r:id="rId21"/>
    <p:sldId id="292" r:id="rId22"/>
    <p:sldId id="291" r:id="rId23"/>
    <p:sldId id="268" r:id="rId24"/>
    <p:sldId id="289" r:id="rId25"/>
    <p:sldId id="269" r:id="rId26"/>
    <p:sldId id="270" r:id="rId27"/>
    <p:sldId id="28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994" autoAdjust="0"/>
    <p:restoredTop sz="94660"/>
  </p:normalViewPr>
  <p:slideViewPr>
    <p:cSldViewPr>
      <p:cViewPr varScale="1">
        <p:scale>
          <a:sx n="80" d="100"/>
          <a:sy n="80" d="100"/>
        </p:scale>
        <p:origin x="-179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/>
              <a:t>(Placeholder for an image of a house blueprint)</a:t>
            </a:r>
            <a:endParaRPr lang="en-US" sz="2400" dirty="0" smtClean="0"/>
          </a:p>
          <a:p>
            <a:r>
              <a:rPr lang="en-US" sz="2400" b="1" dirty="0" smtClean="0"/>
              <a:t>Object = The Actual House</a:t>
            </a:r>
            <a:endParaRPr lang="en-US" sz="2400" dirty="0" smtClean="0"/>
          </a:p>
          <a:p>
            <a:pPr lvl="1"/>
            <a:r>
              <a:rPr lang="en-US" sz="2400" dirty="0" smtClean="0"/>
              <a:t>It is a concrete instance built from the blueprint.</a:t>
            </a:r>
          </a:p>
          <a:p>
            <a:pPr lvl="1"/>
            <a:r>
              <a:rPr lang="en-US" sz="2400" dirty="0" smtClean="0"/>
              <a:t>It has actual values for the attributes (e.g., 3 rooms, blue color).</a:t>
            </a:r>
          </a:p>
          <a:p>
            <a:pPr lvl="1"/>
            <a:r>
              <a:rPr lang="en-US" sz="2400" dirty="0" smtClean="0"/>
              <a:t>You can live in it (interact with it).</a:t>
            </a:r>
          </a:p>
          <a:p>
            <a:r>
              <a:rPr lang="en-US" sz="2400" i="1" dirty="0" smtClean="0"/>
              <a:t>(Placeholder for an image of a real house)</a:t>
            </a:r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8737"/>
            <a:ext cx="7772400" cy="2171714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 Java and Object-Oriented Programming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Building a Foundation for OOP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>
            <a:noAutofit/>
          </a:bodyPr>
          <a:lstStyle/>
          <a:p>
            <a:r>
              <a:rPr lang="en-US" sz="6600" b="1" dirty="0" smtClean="0">
                <a:latin typeface="+mn-lt"/>
              </a:rPr>
              <a:t>Agenda</a:t>
            </a:r>
            <a:endParaRPr lang="en-US" sz="6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715436" cy="535785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cs typeface="Times New Roman" pitchFamily="18" charset="0"/>
              </a:rPr>
              <a:t>Part </a:t>
            </a:r>
            <a:r>
              <a:rPr lang="en-US" sz="2800" b="1" dirty="0">
                <a:cs typeface="Times New Roman" pitchFamily="18" charset="0"/>
              </a:rPr>
              <a:t>1:</a:t>
            </a:r>
            <a:r>
              <a:rPr lang="en-US" sz="2800" dirty="0">
                <a:cs typeface="Times New Roman" pitchFamily="18" charset="0"/>
              </a:rPr>
              <a:t> What is Java? (The Basics)</a:t>
            </a:r>
          </a:p>
          <a:p>
            <a:r>
              <a:rPr lang="en-US" sz="2800" b="1" dirty="0">
                <a:cs typeface="Times New Roman" pitchFamily="18" charset="0"/>
              </a:rPr>
              <a:t>Part 2:</a:t>
            </a:r>
            <a:r>
              <a:rPr lang="en-US" sz="2800" dirty="0">
                <a:cs typeface="Times New Roman" pitchFamily="18" charset="0"/>
              </a:rPr>
              <a:t> Quick Revision of Programming Fundamentals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Variables, Data Types, Control Flow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Arrays and Methods</a:t>
            </a:r>
          </a:p>
          <a:p>
            <a:r>
              <a:rPr lang="en-US" sz="2800" b="1" dirty="0">
                <a:cs typeface="Times New Roman" pitchFamily="18" charset="0"/>
              </a:rPr>
              <a:t>Part 3:</a:t>
            </a:r>
            <a:r>
              <a:rPr lang="en-US" sz="2800" dirty="0">
                <a:cs typeface="Times New Roman" pitchFamily="18" charset="0"/>
              </a:rPr>
              <a:t> The Big Shift: Introduction to Classes &amp; Objects</a:t>
            </a:r>
          </a:p>
          <a:p>
            <a:r>
              <a:rPr lang="en-US" sz="2800" b="1" dirty="0">
                <a:cs typeface="Times New Roman" pitchFamily="18" charset="0"/>
              </a:rPr>
              <a:t>Part 4:</a:t>
            </a:r>
            <a:r>
              <a:rPr lang="en-US" sz="2800" dirty="0">
                <a:cs typeface="Times New Roman" pitchFamily="18" charset="0"/>
              </a:rPr>
              <a:t> Diving Deeper into OOP Concepts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Classes vs. Objects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Attributes and Methods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The static and final keywords</a:t>
            </a:r>
          </a:p>
          <a:p>
            <a:r>
              <a:rPr lang="en-US" sz="2800" b="1" dirty="0">
                <a:cs typeface="Times New Roman" pitchFamily="18" charset="0"/>
              </a:rPr>
              <a:t>Part 5:</a:t>
            </a:r>
            <a:r>
              <a:rPr lang="en-US" sz="2800" dirty="0">
                <a:cs typeface="Times New Roman" pitchFamily="18" charset="0"/>
              </a:rPr>
              <a:t> Procedural Programming vs. Object-Oriented Programming</a:t>
            </a:r>
          </a:p>
          <a:p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71414"/>
            <a:ext cx="8715436" cy="857256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 to Java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786478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cs typeface="Times New Roman" pitchFamily="18" charset="0"/>
              </a:rPr>
              <a:t>What </a:t>
            </a:r>
            <a:r>
              <a:rPr lang="en-US" sz="2800" b="1" dirty="0">
                <a:cs typeface="Times New Roman" pitchFamily="18" charset="0"/>
              </a:rPr>
              <a:t>is Java?</a:t>
            </a:r>
            <a:endParaRPr lang="en-US" sz="2800" dirty="0">
              <a:cs typeface="Times New Roman" pitchFamily="18" charset="0"/>
            </a:endParaRPr>
          </a:p>
          <a:p>
            <a:pPr lvl="1"/>
            <a:r>
              <a:rPr lang="en-US" sz="2400" dirty="0">
                <a:cs typeface="Times New Roman" pitchFamily="18" charset="0"/>
              </a:rPr>
              <a:t>A high-level, object-oriented programming language.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Known for its principle: </a:t>
            </a:r>
            <a:r>
              <a:rPr lang="en-US" sz="2400" b="1" dirty="0">
                <a:cs typeface="Times New Roman" pitchFamily="18" charset="0"/>
              </a:rPr>
              <a:t>"Write Once, Run Anywhere" (WORA)</a:t>
            </a:r>
            <a:r>
              <a:rPr lang="en-US" sz="2400" dirty="0">
                <a:cs typeface="Times New Roman" pitchFamily="18" charset="0"/>
              </a:rPr>
              <a:t> .</a:t>
            </a:r>
          </a:p>
          <a:p>
            <a:r>
              <a:rPr lang="en-US" sz="2800" b="1" dirty="0">
                <a:cs typeface="Times New Roman" pitchFamily="18" charset="0"/>
              </a:rPr>
              <a:t>Key Features:</a:t>
            </a:r>
            <a:endParaRPr lang="en-US" sz="2800" dirty="0">
              <a:cs typeface="Times New Roman" pitchFamily="18" charset="0"/>
            </a:endParaRPr>
          </a:p>
          <a:p>
            <a:pPr lvl="1"/>
            <a:r>
              <a:rPr lang="en-US" sz="2400" b="1" dirty="0">
                <a:cs typeface="Times New Roman" pitchFamily="18" charset="0"/>
              </a:rPr>
              <a:t>Platform Independent:</a:t>
            </a:r>
            <a:r>
              <a:rPr lang="en-US" sz="2400" dirty="0">
                <a:cs typeface="Times New Roman" pitchFamily="18" charset="0"/>
              </a:rPr>
              <a:t> Java code is compiled into </a:t>
            </a:r>
            <a:r>
              <a:rPr lang="en-US" sz="2400" dirty="0" err="1">
                <a:cs typeface="Times New Roman" pitchFamily="18" charset="0"/>
              </a:rPr>
              <a:t>bytecode</a:t>
            </a:r>
            <a:r>
              <a:rPr lang="en-US" sz="2400" dirty="0">
                <a:cs typeface="Times New Roman" pitchFamily="18" charset="0"/>
              </a:rPr>
              <a:t>, which runs on the Java Virtual Machine (JVM). This makes it portable across different operating systems.</a:t>
            </a:r>
          </a:p>
          <a:p>
            <a:pPr lvl="1"/>
            <a:r>
              <a:rPr lang="en-US" sz="2400" b="1" dirty="0">
                <a:cs typeface="Times New Roman" pitchFamily="18" charset="0"/>
              </a:rPr>
              <a:t>Object-Oriented:</a:t>
            </a:r>
            <a:r>
              <a:rPr lang="en-US" sz="2400" dirty="0">
                <a:cs typeface="Times New Roman" pitchFamily="18" charset="0"/>
              </a:rPr>
              <a:t> Everything in Java (except primitives) is an object, promoting modular and reusable code.</a:t>
            </a:r>
          </a:p>
          <a:p>
            <a:pPr lvl="1"/>
            <a:r>
              <a:rPr lang="en-US" sz="2400" b="1" dirty="0">
                <a:cs typeface="Times New Roman" pitchFamily="18" charset="0"/>
              </a:rPr>
              <a:t>Robust &amp; Secure:</a:t>
            </a:r>
            <a:r>
              <a:rPr lang="en-US" sz="2400" dirty="0">
                <a:cs typeface="Times New Roman" pitchFamily="18" charset="0"/>
              </a:rPr>
              <a:t> It has strong memory management and no explicit pointers, making it secure.</a:t>
            </a:r>
          </a:p>
          <a:p>
            <a:r>
              <a:rPr lang="en-US" sz="2800" b="1" dirty="0">
                <a:cs typeface="Times New Roman" pitchFamily="18" charset="0"/>
              </a:rPr>
              <a:t>Common Uses:</a:t>
            </a:r>
            <a:r>
              <a:rPr lang="en-US" sz="2800" dirty="0">
                <a:cs typeface="Times New Roman" pitchFamily="18" charset="0"/>
              </a:rPr>
              <a:t> </a:t>
            </a:r>
            <a:r>
              <a:rPr lang="en-US" sz="2400" dirty="0">
                <a:cs typeface="Times New Roman" pitchFamily="18" charset="0"/>
              </a:rPr>
              <a:t>Android development, enterprise web applications, big data technologies, and more</a:t>
            </a:r>
            <a:r>
              <a:rPr lang="en-US" sz="2400" dirty="0" smtClean="0">
                <a:cs typeface="Times New Roman" pitchFamily="18" charset="0"/>
              </a:rPr>
              <a:t>.</a:t>
            </a:r>
            <a:endParaRPr lang="en-US" sz="2400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/>
          <a:lstStyle/>
          <a:p>
            <a:r>
              <a:rPr lang="en-US" b="1" dirty="0" smtClean="0"/>
              <a:t>Variables and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69" y="1357298"/>
            <a:ext cx="8715436" cy="4525963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cs typeface="Times New Roman" pitchFamily="18" charset="0"/>
              </a:rPr>
              <a:t>Variable</a:t>
            </a:r>
            <a:r>
              <a:rPr lang="en-US" sz="2800" b="1" dirty="0">
                <a:cs typeface="Times New Roman" pitchFamily="18" charset="0"/>
              </a:rPr>
              <a:t>:</a:t>
            </a:r>
            <a:r>
              <a:rPr lang="en-US" sz="2800" dirty="0">
                <a:cs typeface="Times New Roman" pitchFamily="18" charset="0"/>
              </a:rPr>
              <a:t> A container that holds data. It has a name, a type, and a value.</a:t>
            </a:r>
          </a:p>
          <a:p>
            <a:r>
              <a:rPr lang="en-US" sz="2800" b="1" dirty="0">
                <a:cs typeface="Times New Roman" pitchFamily="18" charset="0"/>
              </a:rPr>
              <a:t>Data Types:</a:t>
            </a:r>
            <a:r>
              <a:rPr lang="en-US" sz="2800" dirty="0">
                <a:cs typeface="Times New Roman" pitchFamily="18" charset="0"/>
              </a:rPr>
              <a:t> Defines the type of data a variable can store.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Primitive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Store simple values.</a:t>
            </a:r>
          </a:p>
          <a:p>
            <a:pPr marL="895350" lvl="2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 (integer): 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age = 25;</a:t>
            </a:r>
          </a:p>
          <a:p>
            <a:pPr marL="895350" lvl="2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double (decimal): double price = 19.99;</a:t>
            </a:r>
          </a:p>
          <a:p>
            <a:pPr marL="895350" lvl="2"/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 (true/false): 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isJavaFun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pPr marL="895350" lvl="2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char (single character): char grade = 'A';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Non-Primitive Types: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Store references to objects.</a:t>
            </a:r>
          </a:p>
          <a:p>
            <a:pPr marL="809625" lvl="2" indent="-180975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String, Arrays, Classes, etc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.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442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+mn-lt"/>
                <a:cs typeface="Times New Roman" pitchFamily="18" charset="0"/>
              </a:rPr>
              <a:t>Revision: Operators and Control Structures</a:t>
            </a:r>
            <a:endParaRPr lang="en-US" sz="3600" dirty="0"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786874" cy="5214974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itchFamily="18" charset="0"/>
              </a:rPr>
              <a:t> </a:t>
            </a:r>
            <a:r>
              <a:rPr lang="en-US" b="1" dirty="0" smtClean="0">
                <a:cs typeface="Times New Roman" pitchFamily="18" charset="0"/>
              </a:rPr>
              <a:t>Operators</a:t>
            </a:r>
            <a:r>
              <a:rPr lang="en-US" b="1" dirty="0">
                <a:cs typeface="Times New Roman" pitchFamily="18" charset="0"/>
              </a:rPr>
              <a:t>:</a:t>
            </a:r>
            <a:r>
              <a:rPr lang="en-US" dirty="0">
                <a:cs typeface="Times New Roman" pitchFamily="18" charset="0"/>
              </a:rPr>
              <a:t> Symbols that perform operations on variables and values.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Arithmetic: +, -, *, /, %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Relational: ==, !=, &gt;, &lt;, &gt;=, &lt;=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Logical: &amp;&amp; (AND), || (OR), ! (NOT)</a:t>
            </a:r>
          </a:p>
          <a:p>
            <a:r>
              <a:rPr lang="en-US" b="1" dirty="0">
                <a:cs typeface="Times New Roman" pitchFamily="18" charset="0"/>
              </a:rPr>
              <a:t>Control Structures:</a:t>
            </a:r>
            <a:r>
              <a:rPr lang="en-US" dirty="0">
                <a:cs typeface="Times New Roman" pitchFamily="18" charset="0"/>
              </a:rPr>
              <a:t> Determine the flow of execution</a:t>
            </a:r>
            <a:r>
              <a:rPr lang="en-US" dirty="0" smtClean="0">
                <a:cs typeface="Times New Roman" pitchFamily="18" charset="0"/>
              </a:rPr>
              <a:t>.</a:t>
            </a:r>
          </a:p>
          <a:p>
            <a:pPr marL="742950" lvl="2" indent="-342900">
              <a:buFontTx/>
              <a:buChar char="-"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if else</a:t>
            </a:r>
          </a:p>
          <a:p>
            <a:pPr marL="742950" lvl="2" indent="-342900">
              <a:buFontTx/>
              <a:buChar char="-"/>
            </a:pP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swich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case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68346"/>
          </a:xfrm>
        </p:spPr>
        <p:txBody>
          <a:bodyPr>
            <a:noAutofit/>
          </a:bodyPr>
          <a:lstStyle/>
          <a:p>
            <a:r>
              <a:rPr lang="en-US" sz="5400" b="1" dirty="0"/>
              <a:t>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85926"/>
            <a:ext cx="8715436" cy="2286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temperature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30)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("It's hot!");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("It's pleasant.");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2844" y="4643446"/>
            <a:ext cx="8715436" cy="2000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switch case (value){</a:t>
            </a:r>
            <a:b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case 0: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(“OFF"); </a:t>
            </a:r>
            <a:endParaRPr lang="nn-NO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case 1: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(“ON"); </a:t>
            </a:r>
            <a:endParaRPr lang="nn-NO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1071546"/>
            <a:ext cx="9144000" cy="714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if else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3929066"/>
            <a:ext cx="9144000" cy="714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</a:rPr>
              <a:t>switch case</a:t>
            </a: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32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Loops: for loop</a:t>
            </a:r>
            <a:endParaRPr lang="en-US" sz="54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071546"/>
            <a:ext cx="8715436" cy="5429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Count from 1 to 5</a:t>
            </a:r>
            <a:r>
              <a:rPr lang="nn-NO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(int i = 1; i &lt;= 5; i++) {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("Iteration " + i);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nn-NO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nn-NO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Countdown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(int i = 3; i &gt;= 1; i--) {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System.out.print(i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+ " ");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}</a:t>
            </a:r>
            <a:endParaRPr lang="nn-NO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endParaRPr lang="nn-NO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nn-NO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Iterating through an array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[] fruits = {"Apple", "Banana", "Cherry"};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(int i = 0; i &lt; fruits.length; i++) {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System.out.println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("Fruit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+ i + ": " + fruits[i]);</a:t>
            </a:r>
          </a:p>
          <a:p>
            <a:pPr marL="342900" lvl="0" indent="-342900">
              <a:spcBef>
                <a:spcPct val="20000"/>
              </a:spcBef>
            </a:pP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nn-NO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32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Loops: while</a:t>
            </a:r>
            <a:endParaRPr lang="en-US" sz="5400" b="1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14282" y="1214422"/>
            <a:ext cx="8715436" cy="221457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number = 1;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while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(number &lt;= 100) 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("Current number: " + number);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number *= 2;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14282" y="3857628"/>
            <a:ext cx="8715436" cy="26432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userChoice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counter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= 0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counter++;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("Menu option " + counter + " selected");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userChoice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!= 1);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68346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Loops</a:t>
            </a:r>
            <a:endParaRPr lang="en-US" sz="54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2844" y="1714488"/>
            <a:ext cx="8715436" cy="1285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nn-NO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 (int i = 0; i &lt; 5; i++) { System.out.println("Count: " + i); </a:t>
            </a:r>
            <a:endParaRPr lang="nn-NO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nn-NO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1000108"/>
            <a:ext cx="9144000" cy="714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3200" b="1" dirty="0" smtClean="0"/>
              <a:t>for </a:t>
            </a:r>
            <a:r>
              <a:rPr lang="en-US" sz="3200" b="1" dirty="0" smtClean="0"/>
              <a:t>Loops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14282" y="3643314"/>
            <a:ext cx="8715436" cy="2714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temperature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30)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8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("It's hot!");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8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("It's pleasant.");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8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3000372"/>
            <a:ext cx="9144000" cy="714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smtClean="0"/>
              <a:t>While loop</a:t>
            </a:r>
            <a:endParaRPr lang="en-US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+mn-lt"/>
              </a:rPr>
              <a:t>Revision: Arrays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43312"/>
          </a:xfrm>
        </p:spPr>
        <p:txBody>
          <a:bodyPr/>
          <a:lstStyle/>
          <a:p>
            <a:r>
              <a:rPr lang="en-US" b="1" dirty="0" smtClean="0"/>
              <a:t>What </a:t>
            </a:r>
            <a:r>
              <a:rPr lang="en-US" b="1" dirty="0"/>
              <a:t>is an Array?</a:t>
            </a:r>
            <a:r>
              <a:rPr lang="en-US" dirty="0"/>
              <a:t> A container object that holds a fixed number of values of a </a:t>
            </a:r>
            <a:r>
              <a:rPr lang="en-US" b="1" dirty="0"/>
              <a:t>single data type</a:t>
            </a:r>
            <a:r>
              <a:rPr lang="en-US" dirty="0"/>
              <a:t>.</a:t>
            </a:r>
          </a:p>
          <a:p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Index starts at 0.</a:t>
            </a:r>
          </a:p>
          <a:p>
            <a:pPr lvl="1"/>
            <a:r>
              <a:rPr lang="en-US" dirty="0"/>
              <a:t>Length is fixed once created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Arrays: Syntax and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369" y="1357298"/>
            <a:ext cx="885828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Declaration and Creation</a:t>
            </a:r>
          </a:p>
          <a:p>
            <a:r>
              <a:rPr lang="en-US" sz="23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[] numbers = new </a:t>
            </a:r>
            <a:r>
              <a:rPr lang="en-US" sz="23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[5]; </a:t>
            </a:r>
            <a:r>
              <a:rPr lang="en-US" sz="2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An array of 5 integers</a:t>
            </a:r>
          </a:p>
          <a:p>
            <a:endParaRPr lang="en-US" sz="23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Initialization</a:t>
            </a:r>
          </a:p>
          <a:p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numbers[0] = 10;</a:t>
            </a:r>
          </a:p>
          <a:p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numbers[1] = 20;</a:t>
            </a:r>
          </a:p>
          <a:p>
            <a:endParaRPr lang="en-US" sz="23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Alternate way (Declaration, Creation &amp; Initialization)</a:t>
            </a:r>
          </a:p>
          <a:p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String[] names = {"Alice", "Bob", "Charlie"};</a:t>
            </a:r>
          </a:p>
          <a:p>
            <a:endParaRPr lang="en-US" sz="23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Accessing elements</a:t>
            </a:r>
          </a:p>
          <a:p>
            <a:r>
              <a:rPr lang="en-US" sz="23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(names[1]); </a:t>
            </a:r>
            <a:r>
              <a:rPr lang="en-US" sz="2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Output: Bob</a:t>
            </a:r>
            <a:endParaRPr lang="en-US" sz="23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+mn-lt"/>
              </a:rPr>
              <a:t>Revision: Methods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3"/>
            <a:ext cx="8229600" cy="4286280"/>
          </a:xfrm>
        </p:spPr>
        <p:txBody>
          <a:bodyPr>
            <a:normAutofit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a Method?</a:t>
            </a:r>
            <a:r>
              <a:rPr lang="en-US" dirty="0"/>
              <a:t> A block of code that performs a specific task. It's used to define the behavior of an object or a class.</a:t>
            </a:r>
          </a:p>
          <a:p>
            <a:r>
              <a:rPr lang="en-US" b="1" dirty="0"/>
              <a:t>Why use methods?</a:t>
            </a:r>
            <a:endParaRPr lang="en-US" dirty="0"/>
          </a:p>
          <a:p>
            <a:pPr lvl="1"/>
            <a:r>
              <a:rPr lang="en-US" b="1" dirty="0"/>
              <a:t>Code Reusability:</a:t>
            </a:r>
            <a:r>
              <a:rPr lang="en-US" dirty="0"/>
              <a:t> Write once, use many times.</a:t>
            </a:r>
          </a:p>
          <a:p>
            <a:pPr lvl="1"/>
            <a:r>
              <a:rPr lang="en-US" b="1" dirty="0"/>
              <a:t>Modularity:</a:t>
            </a:r>
            <a:r>
              <a:rPr lang="en-US" dirty="0"/>
              <a:t> Breaks a complex problem into smaller parts.</a:t>
            </a:r>
          </a:p>
          <a:p>
            <a:r>
              <a:rPr lang="en-US" b="1" dirty="0"/>
              <a:t>Method Structure (Signature):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85786" y="5429264"/>
            <a:ext cx="76438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returnType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methodName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(parameters) 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method body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 value;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if </a:t>
            </a:r>
            <a:r>
              <a:rPr lang="en-US" sz="20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returnType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is not 'void'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+mn-lt"/>
              </a:rPr>
              <a:t>Methods: Example</a:t>
            </a:r>
            <a:endParaRPr lang="en-US" dirty="0">
              <a:latin typeface="+mn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add(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b) {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sum = a + b;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return sum;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Call the method: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result = add(5, 3);</a:t>
            </a:r>
            <a:endParaRPr 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" y="-24"/>
            <a:ext cx="9144064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+mn-lt"/>
              </a:rPr>
              <a:t>Part 3: Introduction to Classes and Objects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285860"/>
            <a:ext cx="8858312" cy="53578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So </a:t>
            </a:r>
            <a:r>
              <a:rPr lang="en-US" b="1" dirty="0"/>
              <a:t>far, we've used procedural building blocks (methods, variables).</a:t>
            </a:r>
            <a:endParaRPr lang="en-US" dirty="0"/>
          </a:p>
          <a:p>
            <a:r>
              <a:rPr lang="en-US" b="1" dirty="0"/>
              <a:t>Object-Oriented Programming (OOP)</a:t>
            </a:r>
            <a:r>
              <a:rPr lang="en-US" dirty="0"/>
              <a:t> is a different way to structure our code.</a:t>
            </a:r>
          </a:p>
          <a:p>
            <a:r>
              <a:rPr lang="en-US" dirty="0"/>
              <a:t>It models real-world things as </a:t>
            </a:r>
            <a:r>
              <a:rPr lang="en-US" b="1" dirty="0"/>
              <a:t>objects</a:t>
            </a:r>
            <a:r>
              <a:rPr lang="en-US" dirty="0"/>
              <a:t>.</a:t>
            </a:r>
          </a:p>
          <a:p>
            <a:r>
              <a:rPr lang="en-US" dirty="0"/>
              <a:t>An </a:t>
            </a:r>
            <a:r>
              <a:rPr lang="en-US" b="1" dirty="0"/>
              <a:t>object</a:t>
            </a:r>
            <a:r>
              <a:rPr lang="en-US" dirty="0"/>
              <a:t> has:</a:t>
            </a:r>
          </a:p>
          <a:p>
            <a:pPr lvl="1"/>
            <a:r>
              <a:rPr lang="en-US" b="1" dirty="0"/>
              <a:t>State (Attributes/Properties):</a:t>
            </a:r>
            <a:r>
              <a:rPr lang="en-US" dirty="0"/>
              <a:t> What it </a:t>
            </a:r>
            <a:r>
              <a:rPr lang="en-US" i="1" dirty="0"/>
              <a:t>has</a:t>
            </a:r>
            <a:r>
              <a:rPr lang="en-US" dirty="0"/>
              <a:t> (e.g., a car has a color, a model, a speed).</a:t>
            </a:r>
          </a:p>
          <a:p>
            <a:pPr lvl="1"/>
            <a:r>
              <a:rPr lang="en-US" b="1" dirty="0"/>
              <a:t>Behavior (Methods):</a:t>
            </a:r>
            <a:r>
              <a:rPr lang="en-US" dirty="0"/>
              <a:t> What it </a:t>
            </a:r>
            <a:r>
              <a:rPr lang="en-US" i="1" dirty="0"/>
              <a:t>does</a:t>
            </a:r>
            <a:r>
              <a:rPr lang="en-US" dirty="0"/>
              <a:t> (e.g., a car can start, brake, accelerate).</a:t>
            </a:r>
          </a:p>
          <a:p>
            <a:r>
              <a:rPr lang="en-US" dirty="0"/>
              <a:t>A </a:t>
            </a:r>
            <a:r>
              <a:rPr lang="en-US" b="1" dirty="0"/>
              <a:t>Class</a:t>
            </a:r>
            <a:r>
              <a:rPr lang="en-US" dirty="0"/>
              <a:t> is the blueprint or template from which individual objects are created.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Blueprint and the House (Analogy)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857232"/>
            <a:ext cx="8929718" cy="5857916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Class </a:t>
            </a:r>
            <a:r>
              <a:rPr lang="en-US" sz="2400" b="1" dirty="0"/>
              <a:t>= The Blueprint</a:t>
            </a:r>
            <a:endParaRPr lang="en-US" sz="2400" dirty="0"/>
          </a:p>
          <a:p>
            <a:pPr lvl="1"/>
            <a:r>
              <a:rPr lang="en-US" sz="2400" dirty="0"/>
              <a:t>It defines what attributes a house </a:t>
            </a:r>
            <a:r>
              <a:rPr lang="en-US" sz="2400" i="1" dirty="0"/>
              <a:t>will have</a:t>
            </a:r>
            <a:r>
              <a:rPr lang="en-US" sz="2400" dirty="0"/>
              <a:t> (e.g., number of rooms, color).</a:t>
            </a:r>
          </a:p>
          <a:p>
            <a:pPr lvl="1"/>
            <a:r>
              <a:rPr lang="en-US" sz="2400" dirty="0"/>
              <a:t>It defines what actions a house </a:t>
            </a:r>
            <a:r>
              <a:rPr lang="en-US" sz="2400" i="1" dirty="0"/>
              <a:t>can do</a:t>
            </a:r>
            <a:r>
              <a:rPr lang="en-US" sz="2400" dirty="0"/>
              <a:t> (e.g., open door, turn on light).</a:t>
            </a:r>
          </a:p>
          <a:p>
            <a:pPr lvl="1"/>
            <a:r>
              <a:rPr lang="en-US" sz="2400" dirty="0"/>
              <a:t>It exists only on paper (in code).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Object </a:t>
            </a:r>
            <a:r>
              <a:rPr lang="en-US" sz="2400" b="1" dirty="0"/>
              <a:t>= The Actual House</a:t>
            </a:r>
            <a:endParaRPr lang="en-US" sz="2400" dirty="0"/>
          </a:p>
          <a:p>
            <a:pPr lvl="1"/>
            <a:r>
              <a:rPr lang="en-US" sz="2400" dirty="0"/>
              <a:t>It is a concrete instance built from the blueprint.</a:t>
            </a:r>
          </a:p>
          <a:p>
            <a:pPr lvl="1"/>
            <a:r>
              <a:rPr lang="en-US" sz="2400" dirty="0"/>
              <a:t>It has actual values for the attributes (e.g., 3 rooms, blue color).</a:t>
            </a:r>
          </a:p>
          <a:p>
            <a:pPr lvl="1"/>
            <a:r>
              <a:rPr lang="en-US" sz="2400" dirty="0"/>
              <a:t>You can live in it (interact with it).</a:t>
            </a:r>
          </a:p>
          <a:p>
            <a:r>
              <a:rPr lang="en-US" sz="2400" dirty="0" smtClean="0"/>
              <a:t>You </a:t>
            </a:r>
            <a:r>
              <a:rPr lang="en-US" sz="2400" dirty="0"/>
              <a:t>can create many different houses (objects) from the same blueprint (class).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b="1" dirty="0" smtClean="0"/>
              <a:t>Classes and Objects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5886"/>
            <a:ext cx="8658196" cy="7572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Defining a Class (The Blueprint):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142844" y="2504257"/>
            <a:ext cx="885828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class Car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Attributes (variables)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String color;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String model;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year;</a:t>
            </a:r>
          </a:p>
          <a:p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Methods (behavior)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void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startEngine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("The " + model + " engine is starting!");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b="1" dirty="0" smtClean="0"/>
              <a:t>Classes and Objects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5886"/>
            <a:ext cx="8658196" cy="7572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Creating an Object (The Instance):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142844" y="2000240"/>
            <a:ext cx="8858280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'new' keyword creates the object in memory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myFirstCar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new Car();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Accessing attributes and methods using the 'dot' operator</a:t>
            </a:r>
          </a:p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myFirstCar.color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"Red";</a:t>
            </a:r>
          </a:p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myFirstCar.model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"Tesla Model 3";</a:t>
            </a:r>
          </a:p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myFirstCar.startEngine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Attributes and Methods (A Deeper Look)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142984"/>
            <a:ext cx="8715436" cy="5214974"/>
          </a:xfrm>
        </p:spPr>
        <p:txBody>
          <a:bodyPr>
            <a:normAutofit/>
          </a:bodyPr>
          <a:lstStyle/>
          <a:p>
            <a:r>
              <a:rPr lang="en-US" b="1" dirty="0" smtClean="0"/>
              <a:t>Attributes </a:t>
            </a:r>
            <a:r>
              <a:rPr lang="en-US" b="1" dirty="0"/>
              <a:t>(Instance Variables):</a:t>
            </a:r>
            <a:endParaRPr lang="en-US" dirty="0"/>
          </a:p>
          <a:p>
            <a:pPr lvl="1"/>
            <a:r>
              <a:rPr lang="en-US" dirty="0"/>
              <a:t>Declared inside a class but outside any method.</a:t>
            </a:r>
          </a:p>
          <a:p>
            <a:pPr lvl="1"/>
            <a:r>
              <a:rPr lang="en-US" dirty="0"/>
              <a:t>Each object (instance) of the class gets its </a:t>
            </a:r>
            <a:r>
              <a:rPr lang="en-US" i="1" dirty="0"/>
              <a:t>own copy</a:t>
            </a:r>
            <a:r>
              <a:rPr lang="en-US" dirty="0"/>
              <a:t> of these variables.</a:t>
            </a:r>
          </a:p>
          <a:p>
            <a:pPr lvl="1"/>
            <a:r>
              <a:rPr lang="en-US" dirty="0"/>
              <a:t>They define the state of the object.</a:t>
            </a:r>
          </a:p>
          <a:p>
            <a:r>
              <a:rPr lang="en-US" b="1" dirty="0"/>
              <a:t>Methods (Instance Methods):</a:t>
            </a:r>
            <a:endParaRPr lang="en-US" dirty="0"/>
          </a:p>
          <a:p>
            <a:pPr lvl="1"/>
            <a:r>
              <a:rPr lang="en-US" dirty="0"/>
              <a:t>They define the operations or behaviors that an object can perform.</a:t>
            </a:r>
          </a:p>
          <a:p>
            <a:pPr lvl="1"/>
            <a:r>
              <a:rPr lang="en-US" dirty="0"/>
              <a:t>They often operate on the attributes of the object.</a:t>
            </a:r>
          </a:p>
          <a:p>
            <a:pPr lvl="1"/>
            <a:r>
              <a:rPr lang="en-US" dirty="0"/>
              <a:t>Example in our Car class: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Attributes and Methods (A Deeper Look)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715436" cy="64294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Example </a:t>
            </a:r>
            <a:r>
              <a:rPr lang="en-US" b="1" dirty="0"/>
              <a:t>in our Car class:</a:t>
            </a:r>
          </a:p>
          <a:p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42844" y="1785926"/>
            <a:ext cx="88582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class Car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Attributes (variables)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String color;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String model;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year;</a:t>
            </a:r>
          </a:p>
          <a:p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Methods (behavior)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void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startEngine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("The " + model + " engine is starting!");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  <a:p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displayInfo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("Model: " + model + ", Color: " + color + ", Year: " + year);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  <a:p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28670"/>
          </a:xfrm>
        </p:spPr>
        <p:txBody>
          <a:bodyPr/>
          <a:lstStyle/>
          <a:p>
            <a:r>
              <a:rPr lang="en-US" b="1" dirty="0" smtClean="0"/>
              <a:t>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857232"/>
            <a:ext cx="8786874" cy="457203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b="1" dirty="0" smtClean="0"/>
              <a:t>Definition</a:t>
            </a:r>
            <a:r>
              <a:rPr lang="en-US" sz="2600" b="1" dirty="0"/>
              <a:t>:</a:t>
            </a:r>
            <a:r>
              <a:rPr lang="en-US" sz="2600" dirty="0"/>
              <a:t> A special method that is </a:t>
            </a:r>
            <a:r>
              <a:rPr lang="en-US" sz="2600" b="1" dirty="0"/>
              <a:t>automatically called</a:t>
            </a:r>
            <a:r>
              <a:rPr lang="en-US" sz="2600" dirty="0"/>
              <a:t> when an object of a class is created (instantiated).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Purpose:</a:t>
            </a:r>
            <a:r>
              <a:rPr lang="en-US" sz="2600" dirty="0"/>
              <a:t> To </a:t>
            </a:r>
            <a:r>
              <a:rPr lang="en-US" sz="2600" b="1" dirty="0"/>
              <a:t>initialize the new object's state</a:t>
            </a:r>
            <a:r>
              <a:rPr lang="en-US" sz="2600" dirty="0"/>
              <a:t> (set initial values for attributes).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Key Characteristics:</a:t>
            </a:r>
            <a:endParaRPr lang="en-US" sz="2600" dirty="0"/>
          </a:p>
          <a:p>
            <a:pPr lvl="1">
              <a:lnSpc>
                <a:spcPct val="150000"/>
              </a:lnSpc>
            </a:pPr>
            <a:r>
              <a:rPr lang="en-US" sz="2600" dirty="0"/>
              <a:t>It has the </a:t>
            </a:r>
            <a:r>
              <a:rPr lang="en-US" sz="2600" b="1" dirty="0"/>
              <a:t>same name</a:t>
            </a:r>
            <a:r>
              <a:rPr lang="en-US" sz="2600" dirty="0"/>
              <a:t> as the class.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It does </a:t>
            </a:r>
            <a:r>
              <a:rPr lang="en-US" sz="2600" b="1" dirty="0"/>
              <a:t>not</a:t>
            </a:r>
            <a:r>
              <a:rPr lang="en-US" sz="2600" dirty="0"/>
              <a:t> have a return type (not even void).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It is called using the new keyword.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Syntax:</a:t>
            </a: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214282" y="5357826"/>
            <a:ext cx="89297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ClassName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ClassName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Constructor code - runs when an object is made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0108"/>
          </a:xfrm>
        </p:spPr>
        <p:txBody>
          <a:bodyPr>
            <a:normAutofit/>
          </a:bodyPr>
          <a:lstStyle/>
          <a:p>
            <a:r>
              <a:rPr lang="en-US" b="1" dirty="0" smtClean="0"/>
              <a:t>Types of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142984"/>
            <a:ext cx="8786874" cy="535785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Default </a:t>
            </a:r>
            <a:r>
              <a:rPr lang="en-US" sz="2400" b="1" dirty="0"/>
              <a:t>Constructor:</a:t>
            </a:r>
            <a:endParaRPr lang="en-US" sz="2400" dirty="0"/>
          </a:p>
          <a:p>
            <a:pPr lvl="1"/>
            <a:r>
              <a:rPr lang="en-US" sz="2400" dirty="0"/>
              <a:t>If you do </a:t>
            </a:r>
            <a:r>
              <a:rPr lang="en-US" sz="2400" b="1" dirty="0"/>
              <a:t>not</a:t>
            </a:r>
            <a:r>
              <a:rPr lang="en-US" sz="2400" dirty="0"/>
              <a:t> define any constructor in a class, Java provides one for free.</a:t>
            </a:r>
          </a:p>
          <a:p>
            <a:pPr lvl="1"/>
            <a:r>
              <a:rPr lang="en-US" sz="2400" dirty="0"/>
              <a:t>It takes no parameters and sets numeric attributes to 0, </a:t>
            </a:r>
            <a:r>
              <a:rPr lang="en-US" sz="2400" dirty="0" err="1"/>
              <a:t>booleans</a:t>
            </a:r>
            <a:r>
              <a:rPr lang="en-US" sz="2400" dirty="0"/>
              <a:t> to false, and object references to null.</a:t>
            </a:r>
          </a:p>
          <a:p>
            <a:pPr lvl="1"/>
            <a:r>
              <a:rPr lang="en-US" sz="2400" i="1" dirty="0"/>
              <a:t>Note:</a:t>
            </a:r>
            <a:r>
              <a:rPr lang="en-US" sz="2400" dirty="0"/>
              <a:t> Once you create your own constructor, the default one is no longer provided.</a:t>
            </a:r>
          </a:p>
          <a:p>
            <a:r>
              <a:rPr lang="en-US" sz="2400" b="1" dirty="0"/>
              <a:t>Parameterized Constructor:</a:t>
            </a:r>
            <a:endParaRPr lang="en-US" sz="2400" dirty="0"/>
          </a:p>
          <a:p>
            <a:pPr lvl="1"/>
            <a:r>
              <a:rPr lang="en-US" sz="2400" dirty="0"/>
              <a:t>A constructor that </a:t>
            </a:r>
            <a:r>
              <a:rPr lang="en-US" sz="2400" b="1" dirty="0"/>
              <a:t>accepts parameters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Allows you to initialize an object with </a:t>
            </a:r>
            <a:r>
              <a:rPr lang="en-US" sz="2400" b="1" dirty="0"/>
              <a:t>specific, custom values</a:t>
            </a:r>
            <a:r>
              <a:rPr lang="en-US" sz="2400" dirty="0"/>
              <a:t> at the time of creation.</a:t>
            </a:r>
          </a:p>
          <a:p>
            <a:pPr lvl="1"/>
            <a:r>
              <a:rPr lang="en-US" sz="2400" dirty="0"/>
              <a:t>This is much more flexible than creating an empty object and setting fields line-by-line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4356"/>
          </a:xfrm>
        </p:spPr>
        <p:txBody>
          <a:bodyPr>
            <a:noAutofit/>
          </a:bodyPr>
          <a:lstStyle/>
          <a:p>
            <a:r>
              <a:rPr lang="en-US" b="1" dirty="0"/>
              <a:t>Constructors in Action (Example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857232"/>
            <a:ext cx="8858312" cy="4071966"/>
          </a:xfrm>
          <a:ln w="31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class Car 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String color;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String model;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--- Parameterized Constructor ---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public Car(String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carColor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String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carModel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color =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carColor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model =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carModel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("A new " + color + " " + model + " has been built!");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void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startEngine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("The " + model + " is starting...");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20" y="5309258"/>
            <a:ext cx="84296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Passing values directly when creating the object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 car1 = new Car("Red", "Ferrari");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 car2 = new Car("Blue", "Porsche");</a:t>
            </a:r>
          </a:p>
          <a:p>
            <a:endParaRPr lang="en-US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car1.startEngine();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Output: The Ferrari is starting...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The static 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5785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The</a:t>
            </a:r>
            <a:r>
              <a:rPr lang="en-US" sz="2800" dirty="0"/>
              <a:t> static keyword means the member (variable or method) </a:t>
            </a:r>
            <a:r>
              <a:rPr lang="en-US" sz="2800" b="1" dirty="0"/>
              <a:t>belongs to the class itself, not to any specific object instance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Static Variable (Class Variable):</a:t>
            </a:r>
            <a:r>
              <a:rPr lang="en-US" sz="2800" dirty="0"/>
              <a:t> There is only </a:t>
            </a:r>
            <a:r>
              <a:rPr lang="en-US" sz="2800" i="1" dirty="0"/>
              <a:t>one</a:t>
            </a:r>
            <a:r>
              <a:rPr lang="en-US" sz="2800" dirty="0"/>
              <a:t> copy of this variable, shared by all objects of the class.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Static Method (Class Method):</a:t>
            </a:r>
            <a:r>
              <a:rPr lang="en-US" sz="2800" dirty="0"/>
              <a:t> Can be called without creating an object. It can only directly access other static members.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The static 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7143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smtClean="0"/>
              <a:t>Example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14282" y="1928802"/>
            <a:ext cx="878687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MathUtility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static variable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public static final double PI = 3.14159; </a:t>
            </a:r>
          </a:p>
          <a:p>
            <a:endParaRPr lang="en-US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static method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public static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add(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a,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b) {     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  return a + b;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Usage: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circleArea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MathUtility.PI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* radius * radius;</a:t>
            </a:r>
          </a:p>
          <a:p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Called on the class, not an object</a:t>
            </a:r>
            <a:endParaRPr lang="en-US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MathUtility.add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(5, 3); </a:t>
            </a:r>
            <a:endParaRPr lang="en-US" sz="20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The final 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071546"/>
            <a:ext cx="8858312" cy="564360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</a:t>
            </a:r>
            <a:r>
              <a:rPr lang="en-US" dirty="0"/>
              <a:t> final keyword is used to create constants or to restrict further modification.</a:t>
            </a:r>
          </a:p>
          <a:p>
            <a:r>
              <a:rPr lang="en-US" dirty="0"/>
              <a:t>It can be applied to:</a:t>
            </a:r>
          </a:p>
          <a:p>
            <a:pPr lvl="1"/>
            <a:r>
              <a:rPr lang="en-US" b="1" dirty="0"/>
              <a:t>Variables:</a:t>
            </a:r>
            <a:r>
              <a:rPr lang="en-US" dirty="0"/>
              <a:t> The variable's value cannot be changed once assigned (it becomes a constant</a:t>
            </a:r>
            <a:r>
              <a:rPr lang="en-US" dirty="0" smtClean="0"/>
              <a:t>).</a:t>
            </a:r>
          </a:p>
          <a:p>
            <a:pPr lvl="1">
              <a:buNone/>
            </a:pPr>
            <a:endParaRPr lang="en-US" sz="900" dirty="0" smtClean="0"/>
          </a:p>
          <a:p>
            <a:pPr>
              <a:buNone/>
            </a:pP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final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MAX_SPEED = 120;</a:t>
            </a:r>
          </a:p>
          <a:p>
            <a:pPr>
              <a:buNone/>
            </a:pPr>
            <a:r>
              <a:rPr lang="en-US" sz="19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// MAX_SPEED = 100; // This would cause a compiler error!</a:t>
            </a:r>
          </a:p>
          <a:p>
            <a:pPr>
              <a:buNone/>
            </a:pPr>
            <a:endParaRPr lang="en-US" sz="1300" dirty="0" smtClean="0"/>
          </a:p>
          <a:p>
            <a:pPr lvl="1"/>
            <a:r>
              <a:rPr lang="en-US" b="1" dirty="0" smtClean="0"/>
              <a:t>Methods</a:t>
            </a:r>
            <a:r>
              <a:rPr lang="en-US" b="1" dirty="0"/>
              <a:t>:</a:t>
            </a:r>
            <a:r>
              <a:rPr lang="en-US" dirty="0"/>
              <a:t> The method cannot be overridden by a subclass.</a:t>
            </a:r>
          </a:p>
          <a:p>
            <a:pPr lvl="1"/>
            <a:r>
              <a:rPr lang="en-US" b="1" dirty="0"/>
              <a:t>Classes:</a:t>
            </a:r>
            <a:r>
              <a:rPr lang="en-US" dirty="0"/>
              <a:t> The class cannot be </a:t>
            </a:r>
            <a:r>
              <a:rPr lang="en-US" dirty="0" err="1"/>
              <a:t>subclassed</a:t>
            </a:r>
            <a:r>
              <a:rPr lang="en-US" dirty="0"/>
              <a:t> (extended).</a:t>
            </a:r>
          </a:p>
          <a:p>
            <a:r>
              <a:rPr lang="en-US" b="1" dirty="0"/>
              <a:t>Note:</a:t>
            </a:r>
            <a:r>
              <a:rPr lang="en-US" dirty="0"/>
              <a:t> static final is a common combination to create true class-level constants (e.g., </a:t>
            </a:r>
            <a:r>
              <a:rPr lang="en-US" dirty="0" err="1"/>
              <a:t>Math.PI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32"/>
          </a:xfrm>
        </p:spPr>
        <p:txBody>
          <a:bodyPr>
            <a:normAutofit/>
          </a:bodyPr>
          <a:lstStyle/>
          <a:p>
            <a:r>
              <a:rPr lang="en-US" sz="3600" b="1" dirty="0"/>
              <a:t>Procedural vs. Object-Oriented Programming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4281" y="857232"/>
          <a:ext cx="8715438" cy="448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85"/>
                <a:gridCol w="3000396"/>
                <a:gridCol w="4429157"/>
              </a:tblGrid>
              <a:tr h="50578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Procedural Programming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Object-Oriented Programming</a:t>
                      </a:r>
                      <a:endParaRPr lang="en-US" dirty="0"/>
                    </a:p>
                  </a:txBody>
                  <a:tcPr/>
                </a:tc>
              </a:tr>
              <a:tr h="505782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Focus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Functions / Procedures</a:t>
                      </a:r>
                      <a:r>
                        <a:rPr lang="en-US" sz="1800" dirty="0" smtClean="0"/>
                        <a:t> that operate on data.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/>
                        <a:t>Objects</a:t>
                      </a:r>
                      <a:r>
                        <a:rPr lang="en-US" sz="1800" dirty="0" smtClean="0"/>
                        <a:t> that contain both data and functions.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505782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Data is often global or passed between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functions.Data</a:t>
                      </a:r>
                      <a:r>
                        <a:rPr lang="en-US" sz="1800" dirty="0" smtClean="0"/>
                        <a:t> is </a:t>
                      </a:r>
                      <a:r>
                        <a:rPr lang="en-US" sz="1800" b="1" dirty="0" smtClean="0"/>
                        <a:t>encapsulated</a:t>
                      </a:r>
                      <a:r>
                        <a:rPr lang="en-US" sz="1800" dirty="0" smtClean="0"/>
                        <a:t> (hidden) within objects.</a:t>
                      </a:r>
                      <a:endParaRPr lang="en-US" dirty="0"/>
                    </a:p>
                  </a:txBody>
                  <a:tcPr/>
                </a:tc>
              </a:tr>
              <a:tr h="505782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Approach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Top-down approach (break problem into functions).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Bottom-up approach (design objects and their interactions).</a:t>
                      </a:r>
                      <a:endParaRPr lang="en-US" dirty="0"/>
                    </a:p>
                  </a:txBody>
                  <a:tcPr/>
                </a:tc>
              </a:tr>
              <a:tr h="505782">
                <a:tc>
                  <a:txBody>
                    <a:bodyPr/>
                    <a:lstStyle/>
                    <a:p>
                      <a:r>
                        <a:rPr lang="en-US" sz="1800" b="1" smtClean="0"/>
                        <a:t>Code Reuse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Limited</a:t>
                      </a:r>
                      <a:r>
                        <a:rPr lang="en-US" sz="1800" dirty="0" smtClean="0"/>
                        <a:t>. Functions can be </a:t>
                      </a:r>
                      <a:r>
                        <a:rPr lang="en-US" sz="1800" err="1" smtClean="0"/>
                        <a:t>reused</a:t>
                      </a:r>
                      <a:r>
                        <a:rPr lang="en-US" sz="180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Extensive. Through classes, objects, and inheritance.</a:t>
                      </a:r>
                      <a:endParaRPr lang="en-US" dirty="0"/>
                    </a:p>
                  </a:txBody>
                  <a:tcPr/>
                </a:tc>
              </a:tr>
              <a:tr h="505782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 is a procedural language.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Java, C++, Python are OOP languages.</a:t>
                      </a:r>
                      <a:endParaRPr lang="en-US" dirty="0"/>
                    </a:p>
                  </a:txBody>
                  <a:tcPr/>
                </a:tc>
              </a:tr>
              <a:tr h="505782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Analogy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 series of cooking steps (functions) using ingredients (data).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kitchen with specialized chefs (objects) who have their own ingredients and tools.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0108"/>
          </a:xfrm>
        </p:spPr>
        <p:txBody>
          <a:bodyPr>
            <a:normAutofit/>
          </a:bodyPr>
          <a:lstStyle/>
          <a:p>
            <a:r>
              <a:rPr lang="en-US" b="1" dirty="0" smtClean="0"/>
              <a:t>Summary and Key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89027"/>
            <a:ext cx="8715436" cy="555468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 smtClean="0"/>
              <a:t>Java</a:t>
            </a:r>
            <a:r>
              <a:rPr lang="en-US" sz="2200" dirty="0"/>
              <a:t> is a powerful, platform-independent, object-oriented language.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/>
              <a:t>Basic Constructs</a:t>
            </a:r>
            <a:r>
              <a:rPr lang="en-US" sz="2200" dirty="0"/>
              <a:t> (variables, loops, arrays, methods) are the building blocks of any Java program.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/>
              <a:t>A Class</a:t>
            </a:r>
            <a:r>
              <a:rPr lang="en-US" sz="2200" dirty="0"/>
              <a:t> is a blueprint; </a:t>
            </a:r>
            <a:r>
              <a:rPr lang="en-US" sz="2200" b="1" dirty="0"/>
              <a:t>an Object</a:t>
            </a:r>
            <a:r>
              <a:rPr lang="en-US" sz="2200" dirty="0"/>
              <a:t> is an instance of that blueprint.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Objects have </a:t>
            </a:r>
            <a:r>
              <a:rPr lang="en-US" sz="2200" b="1" dirty="0"/>
              <a:t>Attributes</a:t>
            </a:r>
            <a:r>
              <a:rPr lang="en-US" sz="2200" dirty="0"/>
              <a:t> (what they know) and </a:t>
            </a:r>
            <a:r>
              <a:rPr lang="en-US" sz="2200" b="1" dirty="0"/>
              <a:t>Methods</a:t>
            </a:r>
            <a:r>
              <a:rPr lang="en-US" sz="2200" dirty="0"/>
              <a:t> (what they do).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/>
              <a:t>static</a:t>
            </a:r>
            <a:r>
              <a:rPr lang="en-US" sz="2200" dirty="0"/>
              <a:t> members belong to the class itself.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/>
              <a:t>final</a:t>
            </a:r>
            <a:r>
              <a:rPr lang="en-US" sz="2200" dirty="0"/>
              <a:t> creates unchangeable values or restricts inheritance/overriding.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/>
              <a:t>OOP</a:t>
            </a:r>
            <a:r>
              <a:rPr lang="en-US" sz="2200" dirty="0"/>
              <a:t> differs from </a:t>
            </a:r>
            <a:r>
              <a:rPr lang="en-US" sz="2200" b="1" dirty="0"/>
              <a:t>Procedural Programming</a:t>
            </a:r>
            <a:r>
              <a:rPr lang="en-US" sz="2200" dirty="0"/>
              <a:t> by combining data and behavior into objects, leading to more modular, maintainable, and reusable code.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b="1" dirty="0"/>
              <a:t>Next Topic:</a:t>
            </a:r>
            <a:r>
              <a:rPr lang="en-US" sz="2200" dirty="0"/>
              <a:t> Constructors, this keyword, and deeper dive into Encapsulation</a:t>
            </a:r>
            <a:r>
              <a:rPr lang="en-US" sz="2200" dirty="0" smtClean="0"/>
              <a:t>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1128</Words>
  <Application>Microsoft Office PowerPoint</Application>
  <PresentationFormat>On-screen Show (4:3)</PresentationFormat>
  <Paragraphs>303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Introduction to Java and Object-Oriented Programming </vt:lpstr>
      <vt:lpstr>Agenda</vt:lpstr>
      <vt:lpstr>Introduction to Java</vt:lpstr>
      <vt:lpstr>Variables and Data Types</vt:lpstr>
      <vt:lpstr>Revision: Operators and Control Structures</vt:lpstr>
      <vt:lpstr>Control Structures</vt:lpstr>
      <vt:lpstr>Loops: for loop</vt:lpstr>
      <vt:lpstr>Loops: while</vt:lpstr>
      <vt:lpstr>Loops</vt:lpstr>
      <vt:lpstr>Revision: Arrays</vt:lpstr>
      <vt:lpstr>Arrays: Syntax and Example</vt:lpstr>
      <vt:lpstr>Revision: Methods</vt:lpstr>
      <vt:lpstr>Methods: Example</vt:lpstr>
      <vt:lpstr>Part 3: Introduction to Classes and Objects</vt:lpstr>
      <vt:lpstr>The Blueprint and the House (Analogy)</vt:lpstr>
      <vt:lpstr>Classes and Objects in Java</vt:lpstr>
      <vt:lpstr>Classes and Objects in Java</vt:lpstr>
      <vt:lpstr>Attributes and Methods (A Deeper Look)</vt:lpstr>
      <vt:lpstr>Attributes and Methods (A Deeper Look)</vt:lpstr>
      <vt:lpstr>Constructor</vt:lpstr>
      <vt:lpstr>Types of Constructors</vt:lpstr>
      <vt:lpstr>Constructors in Action (Example)</vt:lpstr>
      <vt:lpstr>The static Keyword</vt:lpstr>
      <vt:lpstr>The static Keyword</vt:lpstr>
      <vt:lpstr>The final Keyword</vt:lpstr>
      <vt:lpstr>Procedural vs. Object-Oriented Programming</vt:lpstr>
      <vt:lpstr>Summary and Key Takeaways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57</cp:revision>
  <dcterms:created xsi:type="dcterms:W3CDTF">2026-02-15T10:58:32Z</dcterms:created>
  <dcterms:modified xsi:type="dcterms:W3CDTF">2026-02-15T13:29:08Z</dcterms:modified>
</cp:coreProperties>
</file>