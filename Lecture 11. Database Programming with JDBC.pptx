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defTabSz="9144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CA" sz="2000" b="0" u="none" strike="noStrike">
                <a:solidFill>
                  <a:srgbClr val="000000"/>
                </a:solidFill>
                <a:effectLst/>
                <a:uFillTx/>
                <a:latin typeface="Arial"/>
              </a:rPr>
              <a:t>Click to edit the notes format</a:t>
            </a:r>
            <a:endParaRPr lang="en-CA"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CA" sz="1400" b="0" u="none" strike="noStrike">
                <a:solidFill>
                  <a:srgbClr val="000000"/>
                </a:solidFill>
                <a:effectLst/>
                <a:uFillTx/>
                <a:latin typeface="Times New Roman"/>
              </a:rPr>
              <a:t>&lt;header&gt;</a:t>
            </a:r>
            <a:endParaRPr lang="en-CA"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CA" sz="1400" b="0" u="none" strike="noStrike">
                <a:solidFill>
                  <a:srgbClr val="000000"/>
                </a:solidFill>
                <a:effectLst/>
                <a:uFillTx/>
                <a:latin typeface="Times New Roman"/>
              </a:defRPr>
            </a:lvl1pPr>
          </a:lstStyle>
          <a:p>
            <a:pPr indent="0" algn="r">
              <a:buNone/>
            </a:pPr>
            <a:r>
              <a:rPr lang="en-CA" sz="1400" b="0" u="none" strike="noStrike">
                <a:solidFill>
                  <a:srgbClr val="000000"/>
                </a:solidFill>
                <a:effectLst/>
                <a:uFillTx/>
                <a:latin typeface="Times New Roman"/>
              </a:rPr>
              <a:t>&lt;date/time&gt;</a:t>
            </a:r>
            <a:endParaRPr lang="en-CA"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CA" sz="1400" b="0" u="none" strike="noStrike">
                <a:solidFill>
                  <a:srgbClr val="000000"/>
                </a:solidFill>
                <a:effectLst/>
                <a:uFillTx/>
                <a:latin typeface="Times New Roman"/>
              </a:defRPr>
            </a:lvl1pPr>
          </a:lstStyle>
          <a:p>
            <a:pPr indent="0" algn="l">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CA" sz="1400" b="0" u="none" strike="noStrike">
                <a:solidFill>
                  <a:srgbClr val="000000"/>
                </a:solidFill>
                <a:effectLst/>
                <a:uFillTx/>
                <a:latin typeface="Times New Roman"/>
              </a:defRPr>
            </a:lvl1pPr>
          </a:lstStyle>
          <a:p>
            <a:pPr indent="0" algn="r">
              <a:buNone/>
            </a:pPr>
            <a:fld id="{A6C58D99-75F4-455C-AC7B-7E74CB701080}" type="slidenum">
              <a:rPr lang="en-CA" sz="1400" b="0" u="none" strike="noStrike">
                <a:solidFill>
                  <a:srgbClr val="000000"/>
                </a:solidFill>
                <a:effectLst/>
                <a:uFillTx/>
                <a:latin typeface="Times New Roman"/>
              </a:rPr>
              <a:t>&lt;number&gt;</a:t>
            </a:fld>
            <a:endParaRPr lang="en-CA"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1143000" y="685800"/>
            <a:ext cx="4571640" cy="3428640"/>
          </a:xfrm>
          <a:prstGeom prst="rect">
            <a:avLst/>
          </a:prstGeom>
          <a:ln w="0">
            <a:noFill/>
          </a:ln>
        </p:spPr>
      </p:sp>
      <p:sp>
        <p:nvSpPr>
          <p:cNvPr id="10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2000" b="0" u="none" strike="noStrike">
                <a:solidFill>
                  <a:srgbClr val="000000"/>
                </a:solidFill>
                <a:effectLst/>
                <a:uFillTx/>
                <a:latin typeface="Arial"/>
              </a:rPr>
              <a:t>Speaker Notes:</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"Data persistence is the backbone of enterprise applications. Today we move from saving files to saving data in a relational database using Java's standard API: JDBC."</a:t>
            </a:r>
            <a:endParaRPr lang="en-CA" sz="2000" b="0" u="none" strike="noStrike">
              <a:solidFill>
                <a:srgbClr val="000000"/>
              </a:solidFill>
              <a:effectLst/>
              <a:uFillTx/>
              <a:latin typeface="Arial"/>
            </a:endParaRPr>
          </a:p>
          <a:p>
            <a:pPr indent="0" algn="l">
              <a:lnSpc>
                <a:spcPct val="100000"/>
              </a:lnSpc>
              <a:buNone/>
            </a:pPr>
            <a:endParaRPr lang="en-CA" sz="2000" b="0" u="none" strike="noStrike">
              <a:solidFill>
                <a:srgbClr val="000000"/>
              </a:solidFill>
              <a:effectLst/>
              <a:uFillTx/>
              <a:latin typeface="Arial"/>
            </a:endParaRPr>
          </a:p>
        </p:txBody>
      </p:sp>
      <p:sp>
        <p:nvSpPr>
          <p:cNvPr id="109"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02CAC3C-D371-48DC-90FA-27930F29C5F2}" type="slidenum">
              <a:rPr lang="en-US" sz="1200" b="0" u="none" strike="noStrike">
                <a:solidFill>
                  <a:schemeClr val="dk1"/>
                </a:solidFill>
                <a:effectLst/>
                <a:uFillTx/>
                <a:latin typeface="+mn-lt"/>
                <a:ea typeface="+mn-ea"/>
              </a:rPr>
              <a:t>2</a:t>
            </a:fld>
            <a:endParaRPr lang="en-CA"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1143000" y="685800"/>
            <a:ext cx="4571640" cy="3428640"/>
          </a:xfrm>
          <a:prstGeom prst="rect">
            <a:avLst/>
          </a:prstGeom>
          <a:ln w="0">
            <a:noFill/>
          </a:ln>
        </p:spPr>
      </p:sp>
      <p:sp>
        <p:nvSpPr>
          <p:cNvPr id="11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2000" b="0" u="none" strike="noStrike">
                <a:solidFill>
                  <a:srgbClr val="000000"/>
                </a:solidFill>
                <a:effectLst/>
                <a:uFillTx/>
                <a:latin typeface="Arial"/>
              </a:rPr>
              <a:t>Visual Suggestion:</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Layered diagram: [Java App] -&gt; [JDBC API] -&gt; [JDBC Driver] -&gt; [Database].</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Speaker Notes:</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"Java doesn't speak SQL directly. It speaks JDBC. The Driver translates JDBC calls into the specific protocol the database understands. This allows you to switch databases without rewriting your Java code."</a:t>
            </a:r>
            <a:endParaRPr lang="en-CA" sz="2000" b="0" u="none" strike="noStrike">
              <a:solidFill>
                <a:srgbClr val="000000"/>
              </a:solidFill>
              <a:effectLst/>
              <a:uFillTx/>
              <a:latin typeface="Arial"/>
            </a:endParaRPr>
          </a:p>
          <a:p>
            <a:pPr indent="0" algn="l">
              <a:lnSpc>
                <a:spcPct val="100000"/>
              </a:lnSpc>
              <a:buNone/>
            </a:pPr>
            <a:endParaRPr lang="en-CA" sz="2000" b="0" u="none" strike="noStrike">
              <a:solidFill>
                <a:srgbClr val="000000"/>
              </a:solidFill>
              <a:effectLst/>
              <a:uFillTx/>
              <a:latin typeface="Arial"/>
            </a:endParaRPr>
          </a:p>
        </p:txBody>
      </p:sp>
      <p:sp>
        <p:nvSpPr>
          <p:cNvPr id="112"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832E31-21AB-448F-A07E-BFF52C912374}" type="slidenum">
              <a:rPr lang="en-US" sz="1200" b="0" u="none" strike="noStrike">
                <a:solidFill>
                  <a:schemeClr val="dk1"/>
                </a:solidFill>
                <a:effectLst/>
                <a:uFillTx/>
                <a:latin typeface="+mn-lt"/>
                <a:ea typeface="+mn-ea"/>
              </a:rPr>
              <a:t>3</a:t>
            </a:fld>
            <a:endParaRPr lang="en-CA"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1143000" y="685800"/>
            <a:ext cx="4571640" cy="3428640"/>
          </a:xfrm>
          <a:prstGeom prst="rect">
            <a:avLst/>
          </a:prstGeom>
          <a:ln w="0">
            <a:noFill/>
          </a:ln>
        </p:spPr>
      </p:sp>
      <p:sp>
        <p:nvSpPr>
          <p:cNvPr id="11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1200" b="1" u="none" strike="noStrike">
                <a:solidFill>
                  <a:schemeClr val="dk1"/>
                </a:solidFill>
                <a:effectLst/>
                <a:uFillTx/>
                <a:latin typeface="+mn-lt"/>
                <a:ea typeface="+mn-ea"/>
              </a:rPr>
              <a:t>Visual Suggestion:</a:t>
            </a:r>
            <a:endParaRPr lang="en-CA"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Screenshot of a pom.xml (Maven) or build.gradle showing the dependency addition.</a:t>
            </a:r>
            <a:endParaRPr lang="en-CA" sz="1200" b="0" u="none" strike="noStrike">
              <a:solidFill>
                <a:srgbClr val="000000"/>
              </a:solidFill>
              <a:effectLst/>
              <a:uFillTx/>
              <a:latin typeface="Arial"/>
            </a:endParaRPr>
          </a:p>
          <a:p>
            <a:pPr indent="0" algn="l">
              <a:lnSpc>
                <a:spcPct val="100000"/>
              </a:lnSpc>
              <a:buNone/>
            </a:pPr>
            <a:r>
              <a:rPr lang="en-US" sz="1200" b="1" u="none" strike="noStrike">
                <a:solidFill>
                  <a:schemeClr val="dk1"/>
                </a:solidFill>
                <a:effectLst/>
                <a:uFillTx/>
                <a:latin typeface="+mn-lt"/>
                <a:ea typeface="+mn-ea"/>
              </a:rPr>
              <a:t>Speaker Notes:</a:t>
            </a:r>
            <a:r>
              <a:rPr lang="en-US" sz="1200" b="0" u="none" strike="noStrike">
                <a:solidFill>
                  <a:schemeClr val="dk1"/>
                </a:solidFill>
                <a:effectLst/>
                <a:uFillTx/>
                <a:latin typeface="+mn-lt"/>
                <a:ea typeface="+mn-ea"/>
              </a:rPr>
              <a:t> "This is the most common setup error. You must download the driver JAR and add it to your project libraries. The URL tells JDBC where the database lives, which port, and which schema."</a:t>
            </a:r>
            <a:endParaRPr lang="en-CA" sz="1200" b="0" u="none" strike="noStrike">
              <a:solidFill>
                <a:srgbClr val="000000"/>
              </a:solidFill>
              <a:effectLst/>
              <a:uFillTx/>
              <a:latin typeface="Arial"/>
            </a:endParaRPr>
          </a:p>
          <a:p>
            <a:pPr indent="0" algn="l">
              <a:lnSpc>
                <a:spcPct val="100000"/>
              </a:lnSpc>
              <a:buNone/>
            </a:pPr>
            <a:endParaRPr lang="en-CA" sz="1200" b="0" u="none" strike="noStrike">
              <a:solidFill>
                <a:srgbClr val="000000"/>
              </a:solidFill>
              <a:effectLst/>
              <a:uFillTx/>
              <a:latin typeface="Arial"/>
            </a:endParaRPr>
          </a:p>
        </p:txBody>
      </p:sp>
      <p:sp>
        <p:nvSpPr>
          <p:cNvPr id="115"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FC2D86-0A29-48F4-921A-FE24FCCC5C23}" type="slidenum">
              <a:rPr lang="en-US" sz="1200" b="0" u="none" strike="noStrike">
                <a:solidFill>
                  <a:schemeClr val="dk1"/>
                </a:solidFill>
                <a:effectLst/>
                <a:uFillTx/>
                <a:latin typeface="+mn-lt"/>
                <a:ea typeface="+mn-ea"/>
              </a:rPr>
              <a:t>4</a:t>
            </a:fld>
            <a:endParaRPr lang="en-CA"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1143000" y="685800"/>
            <a:ext cx="4571640" cy="3428640"/>
          </a:xfrm>
          <a:prstGeom prst="rect">
            <a:avLst/>
          </a:prstGeom>
          <a:ln w="0">
            <a:noFill/>
          </a:ln>
        </p:spPr>
      </p:sp>
      <p:sp>
        <p:nvSpPr>
          <p:cNvPr id="11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2000" b="0" u="none" strike="noStrike">
                <a:solidFill>
                  <a:srgbClr val="000000"/>
                </a:solidFill>
                <a:effectLst/>
                <a:uFillTx/>
                <a:latin typeface="Arial"/>
              </a:rPr>
              <a:t>Visual Suggestion:</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Icon of a plug connecting to a database cylinder.</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Speaker Notes:</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"Connections are expensive resources. Never leave them open. Try-with-resources ensures conn.close() is called even if an exception occurs."</a:t>
            </a:r>
            <a:endParaRPr lang="en-CA" sz="2000" b="0" u="none" strike="noStrike">
              <a:solidFill>
                <a:srgbClr val="000000"/>
              </a:solidFill>
              <a:effectLst/>
              <a:uFillTx/>
              <a:latin typeface="Arial"/>
            </a:endParaRPr>
          </a:p>
        </p:txBody>
      </p:sp>
      <p:sp>
        <p:nvSpPr>
          <p:cNvPr id="118"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C62416-CEAB-4413-82A7-AEF66A2A24EC}" type="slidenum">
              <a:rPr lang="en-US" sz="1200" b="0" u="none" strike="noStrike">
                <a:solidFill>
                  <a:schemeClr val="dk1"/>
                </a:solidFill>
                <a:effectLst/>
                <a:uFillTx/>
                <a:latin typeface="+mn-lt"/>
                <a:ea typeface="+mn-ea"/>
              </a:rPr>
              <a:t>5</a:t>
            </a:fld>
            <a:endParaRPr lang="en-CA"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1143000" y="685800"/>
            <a:ext cx="4571640" cy="3428640"/>
          </a:xfrm>
          <a:prstGeom prst="rect">
            <a:avLst/>
          </a:prstGeom>
          <a:ln w="0">
            <a:noFill/>
          </a:ln>
        </p:spPr>
      </p:sp>
      <p:sp>
        <p:nvSpPr>
          <p:cNvPr id="12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1200" b="1" u="none" strike="noStrike">
                <a:solidFill>
                  <a:schemeClr val="dk1"/>
                </a:solidFill>
                <a:effectLst/>
                <a:uFillTx/>
                <a:latin typeface="+mn-lt"/>
                <a:ea typeface="+mn-ea"/>
              </a:rPr>
              <a:t>Visual Suggestion:</a:t>
            </a:r>
            <a:endParaRPr lang="en-CA"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Warning sign next to Statement, Green Checkmark next to PreparedStatement.</a:t>
            </a:r>
            <a:endParaRPr lang="en-CA" sz="1200" b="0" u="none" strike="noStrike">
              <a:solidFill>
                <a:srgbClr val="000000"/>
              </a:solidFill>
              <a:effectLst/>
              <a:uFillTx/>
              <a:latin typeface="Arial"/>
            </a:endParaRPr>
          </a:p>
          <a:p>
            <a:pPr indent="0" algn="l">
              <a:lnSpc>
                <a:spcPct val="100000"/>
              </a:lnSpc>
              <a:buNone/>
            </a:pPr>
            <a:r>
              <a:rPr lang="en-US" sz="1200" b="1" u="none" strike="noStrike">
                <a:solidFill>
                  <a:schemeClr val="dk1"/>
                </a:solidFill>
                <a:effectLst/>
                <a:uFillTx/>
                <a:latin typeface="+mn-lt"/>
                <a:ea typeface="+mn-ea"/>
              </a:rPr>
              <a:t>Speaker Notes:</a:t>
            </a:r>
            <a:r>
              <a:rPr lang="en-US" sz="1200" b="0" u="none" strike="noStrike">
                <a:solidFill>
                  <a:schemeClr val="dk1"/>
                </a:solidFill>
                <a:effectLst/>
                <a:uFillTx/>
                <a:latin typeface="+mn-lt"/>
                <a:ea typeface="+mn-ea"/>
              </a:rPr>
              <a:t> "Rule of thumb: Always use PreparedStatement. Never concatenate user input into a SQL string. It's a massive security risk."</a:t>
            </a:r>
            <a:endParaRPr lang="en-CA" sz="1200" b="0" u="none" strike="noStrike">
              <a:solidFill>
                <a:srgbClr val="000000"/>
              </a:solidFill>
              <a:effectLst/>
              <a:uFillTx/>
              <a:latin typeface="Arial"/>
            </a:endParaRPr>
          </a:p>
          <a:p>
            <a:pPr indent="0" algn="l">
              <a:lnSpc>
                <a:spcPct val="100000"/>
              </a:lnSpc>
              <a:buNone/>
            </a:pPr>
            <a:endParaRPr lang="en-CA" sz="1200" b="0" u="none" strike="noStrike">
              <a:solidFill>
                <a:srgbClr val="000000"/>
              </a:solidFill>
              <a:effectLst/>
              <a:uFillTx/>
              <a:latin typeface="Arial"/>
            </a:endParaRPr>
          </a:p>
        </p:txBody>
      </p:sp>
      <p:sp>
        <p:nvSpPr>
          <p:cNvPr id="121"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D540AA-726A-4D4E-BBE7-A0891A777DDC}" type="slidenum">
              <a:rPr lang="en-US" sz="1200" b="0" u="none" strike="noStrike">
                <a:solidFill>
                  <a:schemeClr val="dk1"/>
                </a:solidFill>
                <a:effectLst/>
                <a:uFillTx/>
                <a:latin typeface="+mn-lt"/>
                <a:ea typeface="+mn-ea"/>
              </a:rPr>
              <a:t>6</a:t>
            </a:fld>
            <a:endParaRPr lang="en-CA"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1143000" y="685800"/>
            <a:ext cx="4571640" cy="3428640"/>
          </a:xfrm>
          <a:prstGeom prst="rect">
            <a:avLst/>
          </a:prstGeom>
          <a:ln w="0">
            <a:noFill/>
          </a:ln>
        </p:spPr>
      </p:sp>
      <p:sp>
        <p:nvSpPr>
          <p:cNvPr id="12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1200" b="1" u="none" strike="noStrike">
                <a:solidFill>
                  <a:schemeClr val="dk1"/>
                </a:solidFill>
                <a:effectLst/>
                <a:uFillTx/>
                <a:latin typeface="+mn-lt"/>
                <a:ea typeface="+mn-ea"/>
              </a:rPr>
              <a:t>Visual Suggestion:</a:t>
            </a:r>
            <a:endParaRPr lang="en-CA"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Diagram of a table with a cursor arrow moving down rows.</a:t>
            </a:r>
            <a:endParaRPr lang="en-CA" sz="1200" b="0" u="none" strike="noStrike">
              <a:solidFill>
                <a:srgbClr val="000000"/>
              </a:solidFill>
              <a:effectLst/>
              <a:uFillTx/>
              <a:latin typeface="Arial"/>
            </a:endParaRPr>
          </a:p>
          <a:p>
            <a:pPr indent="0" algn="l">
              <a:lnSpc>
                <a:spcPct val="100000"/>
              </a:lnSpc>
              <a:buNone/>
            </a:pPr>
            <a:r>
              <a:rPr lang="en-US" sz="1200" b="1" u="none" strike="noStrike">
                <a:solidFill>
                  <a:schemeClr val="dk1"/>
                </a:solidFill>
                <a:effectLst/>
                <a:uFillTx/>
                <a:latin typeface="+mn-lt"/>
                <a:ea typeface="+mn-ea"/>
              </a:rPr>
              <a:t>Speaker Notes:</a:t>
            </a:r>
            <a:r>
              <a:rPr lang="en-US" sz="1200" b="0" u="none" strike="noStrike">
                <a:solidFill>
                  <a:schemeClr val="dk1"/>
                </a:solidFill>
                <a:effectLst/>
                <a:uFillTx/>
                <a:latin typeface="+mn-lt"/>
                <a:ea typeface="+mn-ea"/>
              </a:rPr>
              <a:t> "ResultSet is like an iterator. You must call next() to access data. If next() returns false, you've reached the end. Always match column types (getInt for INT, etc.)."</a:t>
            </a:r>
            <a:endParaRPr lang="en-CA" sz="1200" b="0" u="none" strike="noStrike">
              <a:solidFill>
                <a:srgbClr val="000000"/>
              </a:solidFill>
              <a:effectLst/>
              <a:uFillTx/>
              <a:latin typeface="Arial"/>
            </a:endParaRPr>
          </a:p>
          <a:p>
            <a:pPr indent="0" algn="l">
              <a:lnSpc>
                <a:spcPct val="100000"/>
              </a:lnSpc>
              <a:buNone/>
            </a:pPr>
            <a:br>
              <a:rPr sz="2000"/>
            </a:br>
            <a:endParaRPr lang="en-CA" sz="2000" b="0" u="none" strike="noStrike">
              <a:solidFill>
                <a:srgbClr val="000000"/>
              </a:solidFill>
              <a:effectLst/>
              <a:uFillTx/>
              <a:latin typeface="Arial"/>
            </a:endParaRPr>
          </a:p>
        </p:txBody>
      </p:sp>
      <p:sp>
        <p:nvSpPr>
          <p:cNvPr id="124"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EC15C1-A53B-406F-9240-56A4525DC323}" type="slidenum">
              <a:rPr lang="en-US" sz="1200" b="0" u="none" strike="noStrike">
                <a:solidFill>
                  <a:schemeClr val="dk1"/>
                </a:solidFill>
                <a:effectLst/>
                <a:uFillTx/>
                <a:latin typeface="+mn-lt"/>
                <a:ea typeface="+mn-ea"/>
              </a:rPr>
              <a:t>7</a:t>
            </a:fld>
            <a:endParaRPr lang="en-CA"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1143000" y="685800"/>
            <a:ext cx="4571640" cy="3428640"/>
          </a:xfrm>
          <a:prstGeom prst="rect">
            <a:avLst/>
          </a:prstGeom>
          <a:ln w="0">
            <a:noFill/>
          </a:ln>
        </p:spPr>
      </p:sp>
      <p:sp>
        <p:nvSpPr>
          <p:cNvPr id="12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1200" b="1" u="none" strike="noStrike">
                <a:solidFill>
                  <a:schemeClr val="dk1"/>
                </a:solidFill>
                <a:effectLst/>
                <a:uFillTx/>
                <a:latin typeface="+mn-lt"/>
                <a:ea typeface="+mn-ea"/>
              </a:rPr>
              <a:t>Visual Suggestion:</a:t>
            </a:r>
            <a:endParaRPr lang="en-CA"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Icon showing data being written into a database table.</a:t>
            </a:r>
            <a:endParaRPr lang="en-CA" sz="1200" b="0" u="none" strike="noStrike">
              <a:solidFill>
                <a:srgbClr val="000000"/>
              </a:solidFill>
              <a:effectLst/>
              <a:uFillTx/>
              <a:latin typeface="Arial"/>
            </a:endParaRPr>
          </a:p>
          <a:p>
            <a:pPr indent="0" algn="l">
              <a:lnSpc>
                <a:spcPct val="100000"/>
              </a:lnSpc>
              <a:buNone/>
            </a:pPr>
            <a:r>
              <a:rPr lang="en-US" sz="1200" b="1" u="none" strike="noStrike">
                <a:solidFill>
                  <a:schemeClr val="dk1"/>
                </a:solidFill>
                <a:effectLst/>
                <a:uFillTx/>
                <a:latin typeface="+mn-lt"/>
                <a:ea typeface="+mn-ea"/>
              </a:rPr>
              <a:t>Speaker Notes:</a:t>
            </a:r>
            <a:r>
              <a:rPr lang="en-US" sz="1200" b="0" u="none" strike="noStrike">
                <a:solidFill>
                  <a:schemeClr val="dk1"/>
                </a:solidFill>
                <a:effectLst/>
                <a:uFillTx/>
                <a:latin typeface="+mn-lt"/>
                <a:ea typeface="+mn-ea"/>
              </a:rPr>
              <a:t> "Note the method name: executeUpdate, not executeQuery. It returns the count of rows changed, not a ResultSet. Use this for any command that modifies data."</a:t>
            </a:r>
            <a:endParaRPr lang="en-CA" sz="1200" b="0" u="none" strike="noStrike">
              <a:solidFill>
                <a:srgbClr val="000000"/>
              </a:solidFill>
              <a:effectLst/>
              <a:uFillTx/>
              <a:latin typeface="Arial"/>
            </a:endParaRPr>
          </a:p>
          <a:p>
            <a:pPr indent="0" algn="l">
              <a:lnSpc>
                <a:spcPct val="100000"/>
              </a:lnSpc>
              <a:buNone/>
            </a:pPr>
            <a:br>
              <a:rPr sz="2000"/>
            </a:br>
            <a:endParaRPr lang="en-CA" sz="2000" b="0" u="none" strike="noStrike">
              <a:solidFill>
                <a:srgbClr val="000000"/>
              </a:solidFill>
              <a:effectLst/>
              <a:uFillTx/>
              <a:latin typeface="Arial"/>
            </a:endParaRPr>
          </a:p>
        </p:txBody>
      </p:sp>
      <p:sp>
        <p:nvSpPr>
          <p:cNvPr id="127"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C3C59E-72EB-4DA0-A22E-10011503971A}" type="slidenum">
              <a:rPr lang="en-US" sz="1200" b="0" u="none" strike="noStrike">
                <a:solidFill>
                  <a:schemeClr val="dk1"/>
                </a:solidFill>
                <a:effectLst/>
                <a:uFillTx/>
                <a:latin typeface="+mn-lt"/>
                <a:ea typeface="+mn-ea"/>
              </a:rPr>
              <a:t>8</a:t>
            </a:fld>
            <a:endParaRPr lang="en-CA"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1143000" y="685800"/>
            <a:ext cx="4571640" cy="3428640"/>
          </a:xfrm>
          <a:prstGeom prst="rect">
            <a:avLst/>
          </a:prstGeom>
          <a:ln w="0">
            <a:noFill/>
          </a:ln>
        </p:spPr>
      </p:sp>
      <p:sp>
        <p:nvSpPr>
          <p:cNvPr id="12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2000" b="0" u="none" strike="noStrike">
                <a:solidFill>
                  <a:srgbClr val="000000"/>
                </a:solidFill>
                <a:effectLst/>
                <a:uFillTx/>
                <a:latin typeface="Arial"/>
              </a:rPr>
              <a:t>Visual Suggestion:</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Diagram showing malicious input breaking the query structure vs. PreparedStatement sanitizing it.</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Speaker Notes:</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is one of the most common web vulnerabilities. If you ever find yourself doing "... WHERE name = '" + userInput + "'", stop. Use ? placeholders instead."</a:t>
            </a:r>
            <a:endParaRPr lang="en-CA" sz="2000" b="0" u="none" strike="noStrike">
              <a:solidFill>
                <a:srgbClr val="000000"/>
              </a:solidFill>
              <a:effectLst/>
              <a:uFillTx/>
              <a:latin typeface="Arial"/>
            </a:endParaRPr>
          </a:p>
          <a:p>
            <a:pPr indent="0" algn="l">
              <a:lnSpc>
                <a:spcPct val="100000"/>
              </a:lnSpc>
              <a:buNone/>
            </a:pPr>
            <a:endParaRPr lang="en-CA" sz="2000" b="0" u="none" strike="noStrike">
              <a:solidFill>
                <a:srgbClr val="000000"/>
              </a:solidFill>
              <a:effectLst/>
              <a:uFillTx/>
              <a:latin typeface="Arial"/>
            </a:endParaRPr>
          </a:p>
        </p:txBody>
      </p:sp>
      <p:sp>
        <p:nvSpPr>
          <p:cNvPr id="130"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B61C74-D6EA-408F-88ED-3F7E3EA873EB}" type="slidenum">
              <a:rPr lang="en-US" sz="1200" b="0" u="none" strike="noStrike">
                <a:solidFill>
                  <a:schemeClr val="dk1"/>
                </a:solidFill>
                <a:effectLst/>
                <a:uFillTx/>
                <a:latin typeface="+mn-lt"/>
                <a:ea typeface="+mn-ea"/>
              </a:rPr>
              <a:t>9</a:t>
            </a:fld>
            <a:endParaRPr lang="en-CA"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1143000" y="685800"/>
            <a:ext cx="4571640" cy="3428640"/>
          </a:xfrm>
          <a:prstGeom prst="rect">
            <a:avLst/>
          </a:prstGeom>
          <a:ln w="0">
            <a:noFill/>
          </a:ln>
        </p:spPr>
      </p:sp>
      <p:sp>
        <p:nvSpPr>
          <p:cNvPr id="13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1200" b="1" u="none" strike="noStrike">
                <a:solidFill>
                  <a:schemeClr val="dk1"/>
                </a:solidFill>
                <a:effectLst/>
                <a:uFillTx/>
                <a:latin typeface="+mn-lt"/>
                <a:ea typeface="+mn-ea"/>
              </a:rPr>
              <a:t>Visual Suggestion:</a:t>
            </a:r>
            <a:endParaRPr lang="en-CA"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Scale balance icon showing two operations needing to balance.</a:t>
            </a:r>
            <a:endParaRPr lang="en-CA" sz="1200" b="0" u="none" strike="noStrike">
              <a:solidFill>
                <a:srgbClr val="000000"/>
              </a:solidFill>
              <a:effectLst/>
              <a:uFillTx/>
              <a:latin typeface="Arial"/>
            </a:endParaRPr>
          </a:p>
          <a:p>
            <a:pPr indent="0" algn="l">
              <a:lnSpc>
                <a:spcPct val="100000"/>
              </a:lnSpc>
              <a:buNone/>
            </a:pPr>
            <a:r>
              <a:rPr lang="en-US" sz="1200" b="1" u="none" strike="noStrike">
                <a:solidFill>
                  <a:schemeClr val="dk1"/>
                </a:solidFill>
                <a:effectLst/>
                <a:uFillTx/>
                <a:latin typeface="+mn-lt"/>
                <a:ea typeface="+mn-ea"/>
              </a:rPr>
              <a:t>Speaker Notes:</a:t>
            </a:r>
            <a:r>
              <a:rPr lang="en-US" sz="1200" b="0" u="none" strike="noStrike">
                <a:solidFill>
                  <a:schemeClr val="dk1"/>
                </a:solidFill>
                <a:effectLst/>
                <a:uFillTx/>
                <a:latin typeface="+mn-lt"/>
                <a:ea typeface="+mn-ea"/>
              </a:rPr>
              <a:t> "By default, JDBC auto-commits every statement. For critical operations, turn this off. If step 2 fails, you don't want step 1 to remain saved."</a:t>
            </a:r>
            <a:endParaRPr lang="en-CA" sz="1200" b="0" u="none" strike="noStrike">
              <a:solidFill>
                <a:srgbClr val="000000"/>
              </a:solidFill>
              <a:effectLst/>
              <a:uFillTx/>
              <a:latin typeface="Arial"/>
            </a:endParaRPr>
          </a:p>
          <a:p>
            <a:pPr indent="0" algn="l">
              <a:lnSpc>
                <a:spcPct val="100000"/>
              </a:lnSpc>
              <a:buNone/>
            </a:pPr>
            <a:endParaRPr lang="en-CA" sz="1200" b="0" u="none" strike="noStrike">
              <a:solidFill>
                <a:srgbClr val="000000"/>
              </a:solidFill>
              <a:effectLst/>
              <a:uFillTx/>
              <a:latin typeface="Arial"/>
            </a:endParaRPr>
          </a:p>
        </p:txBody>
      </p:sp>
      <p:sp>
        <p:nvSpPr>
          <p:cNvPr id="133"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A987B0A-7B03-4B87-9587-FEBCC7D1E55D}"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1143000" y="685800"/>
            <a:ext cx="4571640" cy="3428640"/>
          </a:xfrm>
          <a:prstGeom prst="rect">
            <a:avLst/>
          </a:prstGeom>
          <a:ln w="0">
            <a:noFill/>
          </a:ln>
        </p:spPr>
      </p:sp>
      <p:sp>
        <p:nvSpPr>
          <p:cNvPr id="13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2000" b="0" u="none" strike="noStrike">
                <a:solidFill>
                  <a:srgbClr val="000000"/>
                </a:solidFill>
                <a:effectLst/>
                <a:uFillTx/>
                <a:latin typeface="Arial"/>
              </a:rPr>
              <a:t>Visual Suggestion:</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Diagram: [Swing UI] -&gt; [SwingWorker] -&gt; [JDBC] -&gt; [DB].</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Speaker Notes:</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repeats the lesson from Networking. DB calls can take seconds. If you put them in a Button Listener, your app will hang. Always background the work."</a:t>
            </a:r>
            <a:endParaRPr lang="en-CA" sz="2000" b="0" u="none" strike="noStrike">
              <a:solidFill>
                <a:srgbClr val="000000"/>
              </a:solidFill>
              <a:effectLst/>
              <a:uFillTx/>
              <a:latin typeface="Arial"/>
            </a:endParaRPr>
          </a:p>
          <a:p>
            <a:pPr indent="0" algn="l">
              <a:lnSpc>
                <a:spcPct val="100000"/>
              </a:lnSpc>
              <a:buNone/>
            </a:pPr>
            <a:endParaRPr lang="en-CA" sz="2000" b="0" u="none" strike="noStrike">
              <a:solidFill>
                <a:srgbClr val="000000"/>
              </a:solidFill>
              <a:effectLst/>
              <a:uFillTx/>
              <a:latin typeface="Arial"/>
            </a:endParaRPr>
          </a:p>
        </p:txBody>
      </p:sp>
      <p:sp>
        <p:nvSpPr>
          <p:cNvPr id="136"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05EAF3A-AEEE-4D1A-9AEE-B2CE741213E2}"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1143000" y="685800"/>
            <a:ext cx="4571640" cy="3428640"/>
          </a:xfrm>
          <a:prstGeom prst="rect">
            <a:avLst/>
          </a:prstGeom>
          <a:ln w="0">
            <a:noFill/>
          </a:ln>
        </p:spPr>
      </p:sp>
      <p:sp>
        <p:nvSpPr>
          <p:cNvPr id="13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1200" b="1" u="none" strike="noStrike">
                <a:solidFill>
                  <a:schemeClr val="dk1"/>
                </a:solidFill>
                <a:effectLst/>
                <a:uFillTx/>
                <a:latin typeface="+mn-lt"/>
                <a:ea typeface="+mn-ea"/>
              </a:rPr>
              <a:t>Visual Suggestion:</a:t>
            </a:r>
            <a:endParaRPr lang="en-CA"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MVC/DAO Architecture diagram showing separation of UI, Logic, and Data.</a:t>
            </a:r>
            <a:endParaRPr lang="en-CA" sz="1200" b="0" u="none" strike="noStrike">
              <a:solidFill>
                <a:srgbClr val="000000"/>
              </a:solidFill>
              <a:effectLst/>
              <a:uFillTx/>
              <a:latin typeface="Arial"/>
            </a:endParaRPr>
          </a:p>
          <a:p>
            <a:pPr indent="0" algn="l">
              <a:lnSpc>
                <a:spcPct val="100000"/>
              </a:lnSpc>
              <a:buNone/>
            </a:pPr>
            <a:r>
              <a:rPr lang="en-US" sz="1200" b="1" u="none" strike="noStrike">
                <a:solidFill>
                  <a:schemeClr val="dk1"/>
                </a:solidFill>
                <a:effectLst/>
                <a:uFillTx/>
                <a:latin typeface="+mn-lt"/>
                <a:ea typeface="+mn-ea"/>
              </a:rPr>
              <a:t>Speaker Notes:</a:t>
            </a:r>
            <a:r>
              <a:rPr lang="en-US" sz="1200" b="0" u="none" strike="noStrike">
                <a:solidFill>
                  <a:schemeClr val="dk1"/>
                </a:solidFill>
                <a:effectLst/>
                <a:uFillTx/>
                <a:latin typeface="+mn-lt"/>
                <a:ea typeface="+mn-ea"/>
              </a:rPr>
              <a:t> "Your Swing classes should not contain Connection or PreparedStatement. Create a separate class dedicated to database operations. This is industry standard."</a:t>
            </a:r>
            <a:endParaRPr lang="en-CA" sz="1200" b="0" u="none" strike="noStrike">
              <a:solidFill>
                <a:srgbClr val="000000"/>
              </a:solidFill>
              <a:effectLst/>
              <a:uFillTx/>
              <a:latin typeface="Arial"/>
            </a:endParaRPr>
          </a:p>
          <a:p>
            <a:pPr indent="0" algn="l">
              <a:lnSpc>
                <a:spcPct val="100000"/>
              </a:lnSpc>
              <a:buNone/>
            </a:pPr>
            <a:endParaRPr lang="en-CA" sz="1200" b="0" u="none" strike="noStrike">
              <a:solidFill>
                <a:srgbClr val="000000"/>
              </a:solidFill>
              <a:effectLst/>
              <a:uFillTx/>
              <a:latin typeface="Arial"/>
            </a:endParaRPr>
          </a:p>
        </p:txBody>
      </p:sp>
      <p:sp>
        <p:nvSpPr>
          <p:cNvPr id="139"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5CBA10-C7A4-4336-8A1C-5C740208C8FF}"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1143000" y="685800"/>
            <a:ext cx="4571640" cy="3428640"/>
          </a:xfrm>
          <a:prstGeom prst="rect">
            <a:avLst/>
          </a:prstGeom>
          <a:ln w="0">
            <a:noFill/>
          </a:ln>
        </p:spPr>
      </p:sp>
      <p:sp>
        <p:nvSpPr>
          <p:cNvPr id="14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1200" b="1" u="none" strike="noStrike">
                <a:solidFill>
                  <a:schemeClr val="dk1"/>
                </a:solidFill>
                <a:effectLst/>
                <a:uFillTx/>
                <a:latin typeface="+mn-lt"/>
                <a:ea typeface="+mn-ea"/>
              </a:rPr>
              <a:t>Visual Suggestion:</a:t>
            </a:r>
            <a:endParaRPr lang="en-CA"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Diagram showing a pool of connections being borrowed and returned.</a:t>
            </a:r>
            <a:endParaRPr lang="en-CA" sz="1200" b="0" u="none" strike="noStrike">
              <a:solidFill>
                <a:srgbClr val="000000"/>
              </a:solidFill>
              <a:effectLst/>
              <a:uFillTx/>
              <a:latin typeface="Arial"/>
            </a:endParaRPr>
          </a:p>
          <a:p>
            <a:pPr indent="0" algn="l">
              <a:lnSpc>
                <a:spcPct val="100000"/>
              </a:lnSpc>
              <a:buNone/>
            </a:pPr>
            <a:r>
              <a:rPr lang="en-US" sz="1200" b="1" u="none" strike="noStrike">
                <a:solidFill>
                  <a:schemeClr val="dk1"/>
                </a:solidFill>
                <a:effectLst/>
                <a:uFillTx/>
                <a:latin typeface="+mn-lt"/>
                <a:ea typeface="+mn-ea"/>
              </a:rPr>
              <a:t>Speaker Notes:</a:t>
            </a:r>
            <a:r>
              <a:rPr lang="en-US" sz="1200" b="0" u="none" strike="noStrike">
                <a:solidFill>
                  <a:schemeClr val="dk1"/>
                </a:solidFill>
                <a:effectLst/>
                <a:uFillTx/>
                <a:latin typeface="+mn-lt"/>
                <a:ea typeface="+mn-ea"/>
              </a:rPr>
              <a:t> "For your lab, DriverManager is fine. In the real world, creating a connection for every click is too slow. We keep a pool of open connections ready to use."</a:t>
            </a:r>
            <a:endParaRPr lang="en-CA" sz="1200" b="0" u="none" strike="noStrike">
              <a:solidFill>
                <a:srgbClr val="000000"/>
              </a:solidFill>
              <a:effectLst/>
              <a:uFillTx/>
              <a:latin typeface="Arial"/>
            </a:endParaRPr>
          </a:p>
          <a:p>
            <a:pPr indent="0" algn="l">
              <a:lnSpc>
                <a:spcPct val="100000"/>
              </a:lnSpc>
              <a:buNone/>
            </a:pPr>
            <a:br>
              <a:rPr sz="2000"/>
            </a:br>
            <a:endParaRPr lang="en-CA" sz="2000" b="0" u="none" strike="noStrike">
              <a:solidFill>
                <a:srgbClr val="000000"/>
              </a:solidFill>
              <a:effectLst/>
              <a:uFillTx/>
              <a:latin typeface="Arial"/>
            </a:endParaRPr>
          </a:p>
        </p:txBody>
      </p:sp>
      <p:sp>
        <p:nvSpPr>
          <p:cNvPr id="142"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E24678-F77C-483A-BB91-1C27675F8D52}"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1143000" y="685800"/>
            <a:ext cx="4571640" cy="3428640"/>
          </a:xfrm>
          <a:prstGeom prst="rect">
            <a:avLst/>
          </a:prstGeom>
          <a:ln w="0">
            <a:noFill/>
          </a:ln>
        </p:spPr>
      </p:sp>
      <p:sp>
        <p:nvSpPr>
          <p:cNvPr id="14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2000" b="1" u="none" strike="noStrike">
                <a:solidFill>
                  <a:srgbClr val="000000"/>
                </a:solidFill>
                <a:effectLst/>
                <a:uFillTx/>
                <a:latin typeface="Arial"/>
              </a:rPr>
              <a:t>Visual Suggestion:</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Checklist graphic with Green Checks and Red Crosses.</a:t>
            </a:r>
            <a:endParaRPr lang="en-CA" sz="2000" b="0" u="none" strike="noStrike">
              <a:solidFill>
                <a:srgbClr val="000000"/>
              </a:solidFill>
              <a:effectLst/>
              <a:uFillTx/>
              <a:latin typeface="Arial"/>
            </a:endParaRPr>
          </a:p>
          <a:p>
            <a:pPr indent="0" algn="l">
              <a:lnSpc>
                <a:spcPct val="100000"/>
              </a:lnSpc>
              <a:buNone/>
            </a:pPr>
            <a:r>
              <a:rPr lang="en-US" sz="2000" b="1" u="none" strike="noStrike">
                <a:solidFill>
                  <a:srgbClr val="000000"/>
                </a:solidFill>
                <a:effectLst/>
                <a:uFillTx/>
                <a:latin typeface="Arial"/>
              </a:rPr>
              <a:t>Speaker Notes:</a:t>
            </a:r>
            <a:r>
              <a:rPr lang="en-US" sz="2000" b="0" u="none" strike="noStrike">
                <a:solidFill>
                  <a:srgbClr val="000000"/>
                </a:solidFill>
                <a:effectLst/>
                <a:uFillTx/>
                <a:latin typeface="Arial"/>
              </a:rPr>
              <a:t> "Hardcoding passwords is a security nightmare. Use configuration files or environment variables. Also, never ignore SQL warnings; they often indicate schema mismatches."</a:t>
            </a:r>
            <a:endParaRPr lang="en-CA" sz="2000" b="0" u="none" strike="noStrike">
              <a:solidFill>
                <a:srgbClr val="000000"/>
              </a:solidFill>
              <a:effectLst/>
              <a:uFillTx/>
              <a:latin typeface="Arial"/>
            </a:endParaRPr>
          </a:p>
          <a:p>
            <a:pPr indent="0" algn="l">
              <a:lnSpc>
                <a:spcPct val="100000"/>
              </a:lnSpc>
              <a:buNone/>
            </a:pPr>
            <a:endParaRPr lang="en-CA" sz="2000" b="0" u="none" strike="noStrike">
              <a:solidFill>
                <a:srgbClr val="000000"/>
              </a:solidFill>
              <a:effectLst/>
              <a:uFillTx/>
              <a:latin typeface="Arial"/>
            </a:endParaRPr>
          </a:p>
        </p:txBody>
      </p:sp>
      <p:sp>
        <p:nvSpPr>
          <p:cNvPr id="145"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F99FB0-80F3-4F1C-B37E-63F7089D737C}"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1143000" y="685800"/>
            <a:ext cx="4571640" cy="3428640"/>
          </a:xfrm>
          <a:prstGeom prst="rect">
            <a:avLst/>
          </a:prstGeom>
          <a:ln w="0">
            <a:noFill/>
          </a:ln>
        </p:spPr>
      </p:sp>
      <p:sp>
        <p:nvSpPr>
          <p:cNvPr id="14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rmAutofit/>
          </a:bodyPr>
          <a:p>
            <a:pPr indent="0" algn="l">
              <a:lnSpc>
                <a:spcPct val="100000"/>
              </a:lnSpc>
              <a:buNone/>
            </a:pPr>
            <a:r>
              <a:rPr lang="en-US" sz="2000" b="0" u="none" strike="noStrike">
                <a:solidFill>
                  <a:srgbClr val="000000"/>
                </a:solidFill>
                <a:effectLst/>
                <a:uFillTx/>
                <a:latin typeface="Arial"/>
              </a:rPr>
              <a:t>Speaker Notes:</a:t>
            </a:r>
            <a:endParaRPr lang="en-CA"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lab combines everything: Swing UI, JDBC logic, Exception Handling, and Threading. It's a mini real-world application."</a:t>
            </a:r>
            <a:endParaRPr lang="en-CA" sz="2000" b="0" u="none" strike="noStrike">
              <a:solidFill>
                <a:srgbClr val="000000"/>
              </a:solidFill>
              <a:effectLst/>
              <a:uFillTx/>
              <a:latin typeface="Arial"/>
            </a:endParaRPr>
          </a:p>
          <a:p>
            <a:pPr indent="0" algn="l">
              <a:lnSpc>
                <a:spcPct val="100000"/>
              </a:lnSpc>
              <a:buNone/>
            </a:pPr>
            <a:endParaRPr lang="en-CA" sz="2000" b="0" u="none" strike="noStrike">
              <a:solidFill>
                <a:srgbClr val="000000"/>
              </a:solidFill>
              <a:effectLst/>
              <a:uFillTx/>
              <a:latin typeface="Arial"/>
            </a:endParaRPr>
          </a:p>
        </p:txBody>
      </p:sp>
      <p:sp>
        <p:nvSpPr>
          <p:cNvPr id="148"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66C394D-286A-4818-80B2-7DE60C5BA4BB}"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 </a:t>
            </a:r>
            <a:endParaRPr lang="en-CA"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 </a:t>
            </a:r>
            <a:endParaRPr lang="en-CA"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12B74DF-7986-4A25-B639-FAE6C11730F4}" type="slidenum">
              <a:rPr lang="en-US" sz="1200" b="0" u="none" strike="noStrike">
                <a:solidFill>
                  <a:schemeClr val="dk1">
                    <a:tint val="75000"/>
                  </a:schemeClr>
                </a:solidFill>
                <a:effectLst/>
                <a:uFillTx/>
                <a:latin typeface="Calibri"/>
              </a:rPr>
              <a:t>13</a:t>
            </a:fld>
            <a:endParaRPr lang="en-CA" sz="1200" b="0" u="none" strike="noStrike">
              <a:solidFill>
                <a:srgbClr val="000000"/>
              </a:solidFill>
              <a:effectLst/>
              <a:uFillTx/>
              <a:latin typeface="Times New Roman"/>
            </a:endParaRPr>
          </a:p>
        </p:txBody>
      </p:sp>
      <p:sp>
        <p:nvSpPr>
          <p:cNvPr id="6"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8"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F599B5D-F4AA-450B-9D0B-DEDC92AB5919}"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4"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720213D-82A0-4806-AB5F-2ED1AF1A5C6A}"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9"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4C00827-FBDC-4450-9251-B3F624355CBF}"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3"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4"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C01ADD9-8A4E-4466-8B26-A9C565AE309D}"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8"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30"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7619950-3D43-4FED-97C5-1911B4A5E24A}"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5"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6"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7"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8"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DAC6876-713F-4FF0-B6ED-6E3C41500D28}"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2"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33351E3-21C2-4EFA-91A5-1F1164AC8FCE}"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1C175E9-BD6F-4715-81D2-83F54FEC87E5}"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49"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0"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1"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2930EB7-1124-4F3D-847A-1A64D9D942FB}"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5"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1pPr>
            <a:lvl2pPr lvl="1" algn="l" defTabSz="914400">
              <a:spcBef>
                <a:spcPts val="1134"/>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914400">
              <a:spcBef>
                <a:spcPts val="85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914400">
              <a:spcBef>
                <a:spcPts val="567"/>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914400">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algn="l" defTabSz="914400">
              <a:spcBef>
                <a:spcPts val="281"/>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914400">
              <a:spcBef>
                <a:spcPts val="1134"/>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914400">
              <a:spcBef>
                <a:spcPts val="85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914400">
              <a:spcBef>
                <a:spcPts val="567"/>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914400">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914400">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914400">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6"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7"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CA"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CA" sz="1400" b="0" u="none" strike="noStrike">
                <a:solidFill>
                  <a:srgbClr val="000000"/>
                </a:solidFill>
                <a:effectLst/>
                <a:uFillTx/>
                <a:latin typeface="Times New Roman"/>
              </a:defRPr>
            </a:lvl1pPr>
          </a:lstStyle>
          <a:p>
            <a:pPr indent="0" algn="ctr">
              <a:buNone/>
            </a:pPr>
            <a:r>
              <a:rPr lang="en-CA" sz="1400" b="0" u="none" strike="noStrike">
                <a:solidFill>
                  <a:srgbClr val="000000"/>
                </a:solidFill>
                <a:effectLst/>
                <a:uFillTx/>
                <a:latin typeface="Times New Roman"/>
              </a:rPr>
              <a:t>&lt;footer&gt;</a:t>
            </a:r>
            <a:endParaRPr lang="en-CA"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49CBDC7-3076-43BE-801A-0E395AE3FC10}" type="slidenum">
              <a:rPr lang="en-US" sz="1200" b="0" u="none" strike="noStrike">
                <a:solidFill>
                  <a:schemeClr val="dk1">
                    <a:tint val="75000"/>
                  </a:schemeClr>
                </a:solidFill>
                <a:effectLst/>
                <a:uFillTx/>
                <a:latin typeface="Calibri"/>
              </a:rPr>
              <a:t>&lt;number&gt;</a:t>
            </a:fld>
            <a:endParaRPr lang="en-CA"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28760" y="900000"/>
            <a:ext cx="8357760" cy="2171520"/>
          </a:xfrm>
          <a:prstGeom prst="rect">
            <a:avLst/>
          </a:prstGeom>
          <a:noFill/>
          <a:ln w="0">
            <a:noFill/>
          </a:ln>
        </p:spPr>
        <p:txBody>
          <a:bodyPr lIns="91440" tIns="45720" rIns="91440" bIns="45720" anchor="ctr">
            <a:noAutofit/>
          </a:bodyPr>
          <a:p>
            <a:pPr indent="0" algn="ctr" defTabSz="914400">
              <a:lnSpc>
                <a:spcPct val="100000"/>
              </a:lnSpc>
              <a:buNone/>
            </a:pPr>
            <a:r>
              <a:rPr lang="en-US" sz="4800" b="1" u="none" strike="noStrike">
                <a:solidFill>
                  <a:schemeClr val="dk1"/>
                </a:solidFill>
                <a:effectLst/>
                <a:uFillTx/>
                <a:latin typeface="Calibri"/>
              </a:rPr>
              <a:t>Database Programming with JDBC</a:t>
            </a:r>
            <a:endParaRPr lang="en-US" sz="4800" b="0" u="none" strike="noStrike">
              <a:solidFill>
                <a:schemeClr val="dk1"/>
              </a:solidFill>
              <a:effectLst/>
              <a:uFillTx/>
              <a:latin typeface="Calibri"/>
            </a:endParaRPr>
          </a:p>
        </p:txBody>
      </p:sp>
      <p:sp>
        <p:nvSpPr>
          <p:cNvPr id="67" name="Title 1"/>
          <p:cNvSpPr/>
          <p:nvPr/>
        </p:nvSpPr>
        <p:spPr>
          <a:xfrm>
            <a:off x="428760" y="3429000"/>
            <a:ext cx="8357760" cy="1428480"/>
          </a:xfrm>
          <a:prstGeom prst="rect">
            <a:avLst/>
          </a:prstGeom>
          <a:noFill/>
          <a:ln w="0">
            <a:noFill/>
          </a:ln>
        </p:spPr>
        <p:style>
          <a:lnRef idx="0"/>
          <a:fillRef idx="0"/>
          <a:effectRef idx="0"/>
          <a:fontRef idx="minor"/>
        </p:style>
        <p:txBody>
          <a:bodyPr anchor="ctr">
            <a:noAutofit/>
          </a:bodyPr>
          <a:p>
            <a:pPr algn="ctr" defTabSz="914400">
              <a:lnSpc>
                <a:spcPct val="100000"/>
              </a:lnSpc>
            </a:pPr>
            <a:r>
              <a:rPr lang="en-US" sz="4000" b="1" u="none" strike="noStrike">
                <a:solidFill>
                  <a:schemeClr val="dk1"/>
                </a:solidFill>
                <a:effectLst/>
                <a:uFillTx/>
                <a:latin typeface="Calibri"/>
              </a:rPr>
              <a:t>Connecting Java Applications to Data</a:t>
            </a:r>
            <a:endParaRPr lang="en-CA"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0" u="none" strike="noStrike">
                <a:solidFill>
                  <a:schemeClr val="dk1"/>
                </a:solidFill>
                <a:effectLst/>
                <a:uFillTx/>
                <a:latin typeface="Calibri"/>
              </a:rPr>
              <a:t>Learning Objectives</a:t>
            </a:r>
            <a:endParaRPr lang="en-US" sz="4400" b="0" u="none" strike="noStrike">
              <a:solidFill>
                <a:schemeClr val="dk1"/>
              </a:solidFill>
              <a:effectLst/>
              <a:uFillTx/>
              <a:latin typeface="Calibri"/>
            </a:endParaRPr>
          </a:p>
        </p:txBody>
      </p:sp>
      <p:sp>
        <p:nvSpPr>
          <p:cNvPr id="69" name="PlaceHolder 2"/>
          <p:cNvSpPr>
            <a:spLocks noGrp="1"/>
          </p:cNvSpPr>
          <p:nvPr>
            <p:ph/>
          </p:nvPr>
        </p:nvSpPr>
        <p:spPr>
          <a:xfrm>
            <a:off x="457200" y="1600200"/>
            <a:ext cx="8229240" cy="4525560"/>
          </a:xfrm>
          <a:prstGeom prst="rect">
            <a:avLst/>
          </a:prstGeom>
          <a:noFill/>
          <a:ln w="0">
            <a:noFill/>
          </a:ln>
        </p:spPr>
        <p:txBody>
          <a:bodyPr lIns="91440" tIns="45720" rIns="91440" bIns="45720" anchor="t">
            <a:normAutofit fontScale="85000" lnSpcReduction="9999"/>
          </a:bodyPr>
          <a:p>
            <a:pPr marL="343080" indent="-343080" algn="l" defTabSz="914400">
              <a:lnSpc>
                <a:spcPct val="100000"/>
              </a:lnSpc>
              <a:spcBef>
                <a:spcPts val="601"/>
              </a:spcBef>
              <a:spcAft>
                <a:spcPts val="601"/>
              </a:spcAft>
              <a:buClr>
                <a:srgbClr val="000000"/>
              </a:buClr>
              <a:buFont typeface="Arial"/>
              <a:buChar char="•"/>
            </a:pPr>
            <a:r>
              <a:rPr lang="en-US" sz="3200" b="1" u="none" strike="noStrike">
                <a:solidFill>
                  <a:schemeClr val="dk1"/>
                </a:solidFill>
                <a:effectLst/>
                <a:uFillTx/>
                <a:latin typeface="Calibri"/>
              </a:rPr>
              <a:t>What We Will Learn</a:t>
            </a:r>
            <a:endParaRPr lang="en-US" sz="32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Understand the JDBC Architecture.</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Load Drivers and Establish Connections (DriverManager).</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Execute SQL Queries (SELECT) and Updates (INSERT, UPDATE, DELETE).</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Process Results using ResultSet.</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Prevent SQL Injection using PreparedStatement.</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Manage Transactions (Commit/Rollback).</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Integrate JDBC with Swing (Threading &amp; DAO Pattern).</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Handle SQLException properly.</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0" u="none" strike="noStrike">
                <a:solidFill>
                  <a:schemeClr val="dk1"/>
                </a:solidFill>
                <a:effectLst/>
                <a:uFillTx/>
                <a:latin typeface="Calibri"/>
              </a:rPr>
              <a:t>What is JDBC?</a:t>
            </a:r>
            <a:endParaRPr lang="en-US" sz="4400" b="0" u="none" strike="noStrike">
              <a:solidFill>
                <a:schemeClr val="dk1"/>
              </a:solidFill>
              <a:effectLst/>
              <a:uFillTx/>
              <a:latin typeface="Calibri"/>
            </a:endParaRPr>
          </a:p>
        </p:txBody>
      </p:sp>
      <p:sp>
        <p:nvSpPr>
          <p:cNvPr id="71" name="PlaceHolder 2"/>
          <p:cNvSpPr>
            <a:spLocks noGrp="1"/>
          </p:cNvSpPr>
          <p:nvPr>
            <p:ph/>
          </p:nvPr>
        </p:nvSpPr>
        <p:spPr>
          <a:xfrm>
            <a:off x="457200" y="1600200"/>
            <a:ext cx="8229240" cy="4686120"/>
          </a:xfrm>
          <a:prstGeom prst="rect">
            <a:avLst/>
          </a:prstGeom>
          <a:noFill/>
          <a:ln w="0">
            <a:noFill/>
          </a:ln>
        </p:spPr>
        <p:txBody>
          <a:bodyPr lIns="91440" tIns="45720" rIns="91440" bIns="45720" anchor="t">
            <a:normAutofit/>
          </a:bodyPr>
          <a:p>
            <a:pPr marL="343080" indent="-34308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Java Database Connectivity (JDBC)</a:t>
            </a:r>
            <a:endParaRPr lang="en-US" sz="24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Definition: A Java API that defines how a Java application accesses a database.</a:t>
            </a:r>
            <a:endParaRPr lang="en-US" sz="24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Architecture:</a:t>
            </a:r>
            <a:endParaRPr lang="en-US" sz="2400" b="0" u="none" strike="noStrike">
              <a:solidFill>
                <a:schemeClr val="dk1"/>
              </a:solidFill>
              <a:effectLst/>
              <a:uFillTx/>
              <a:latin typeface="Calibri"/>
            </a:endParaRPr>
          </a:p>
          <a:p>
            <a:pPr marL="1143000" lvl="2" indent="-228600" algn="l" defTabSz="914400">
              <a:spcBef>
                <a:spcPts val="479"/>
              </a:spcBef>
              <a:buClr>
                <a:srgbClr val="000000"/>
              </a:buClr>
              <a:buFont typeface="OpenSymbol"/>
              <a:buAutoNum type="arabicPeriod"/>
            </a:pPr>
            <a:r>
              <a:rPr lang="en-US" sz="2400" b="0" u="none" strike="noStrike">
                <a:solidFill>
                  <a:schemeClr val="dk1"/>
                </a:solidFill>
                <a:effectLst/>
                <a:uFillTx/>
                <a:latin typeface="Calibri"/>
              </a:rPr>
              <a:t>Java Application</a:t>
            </a:r>
            <a:endParaRPr lang="en-US" sz="2400" b="0" u="none" strike="noStrike">
              <a:solidFill>
                <a:schemeClr val="dk1"/>
              </a:solidFill>
              <a:effectLst/>
              <a:uFillTx/>
              <a:latin typeface="Calibri"/>
            </a:endParaRPr>
          </a:p>
          <a:p>
            <a:pPr marL="1143000" lvl="2" indent="-228600" algn="l" defTabSz="914400">
              <a:spcBef>
                <a:spcPts val="479"/>
              </a:spcBef>
              <a:buClr>
                <a:srgbClr val="000000"/>
              </a:buClr>
              <a:buFont typeface="OpenSymbol"/>
              <a:buAutoNum type="arabicPeriod"/>
            </a:pPr>
            <a:r>
              <a:rPr lang="en-US" sz="2400" b="0" u="none" strike="noStrike">
                <a:solidFill>
                  <a:schemeClr val="dk1"/>
                </a:solidFill>
                <a:effectLst/>
                <a:uFillTx/>
                <a:latin typeface="Calibri"/>
              </a:rPr>
              <a:t>JDBC API (java.sql package)</a:t>
            </a:r>
            <a:endParaRPr lang="en-US" sz="2400" b="0" u="none" strike="noStrike">
              <a:solidFill>
                <a:schemeClr val="dk1"/>
              </a:solidFill>
              <a:effectLst/>
              <a:uFillTx/>
              <a:latin typeface="Calibri"/>
            </a:endParaRPr>
          </a:p>
          <a:p>
            <a:pPr marL="1143000" lvl="2" indent="-228600" algn="l" defTabSz="914400">
              <a:spcBef>
                <a:spcPts val="479"/>
              </a:spcBef>
              <a:buClr>
                <a:srgbClr val="000000"/>
              </a:buClr>
              <a:buFont typeface="OpenSymbol"/>
              <a:buAutoNum type="arabicPeriod"/>
            </a:pPr>
            <a:r>
              <a:rPr lang="en-US" sz="2400" b="0" u="none" strike="noStrike">
                <a:solidFill>
                  <a:schemeClr val="dk1"/>
                </a:solidFill>
                <a:effectLst/>
                <a:uFillTx/>
                <a:latin typeface="Calibri"/>
              </a:rPr>
              <a:t>JDBC Driver (Vendor-specific, e.g., MySQL, PostgreSQL)</a:t>
            </a:r>
            <a:endParaRPr lang="en-US" sz="2400" b="0" u="none" strike="noStrike">
              <a:solidFill>
                <a:schemeClr val="dk1"/>
              </a:solidFill>
              <a:effectLst/>
              <a:uFillTx/>
              <a:latin typeface="Calibri"/>
            </a:endParaRPr>
          </a:p>
          <a:p>
            <a:pPr marL="1143000" lvl="2" indent="-228600" algn="l" defTabSz="914400">
              <a:spcBef>
                <a:spcPts val="479"/>
              </a:spcBef>
              <a:buClr>
                <a:srgbClr val="000000"/>
              </a:buClr>
              <a:buFont typeface="OpenSymbol"/>
              <a:buAutoNum type="arabicPeriod"/>
            </a:pPr>
            <a:r>
              <a:rPr lang="en-US" sz="2400" b="0" u="none" strike="noStrike">
                <a:solidFill>
                  <a:schemeClr val="dk1"/>
                </a:solidFill>
                <a:effectLst/>
                <a:uFillTx/>
                <a:latin typeface="Calibri"/>
              </a:rPr>
              <a:t>Database</a:t>
            </a:r>
            <a:endParaRPr lang="en-US" sz="2400" b="0" u="none" strike="noStrike">
              <a:solidFill>
                <a:schemeClr val="dk1"/>
              </a:solidFill>
              <a:effectLst/>
              <a:uFillTx/>
              <a:latin typeface="Calibri"/>
            </a:endParaRPr>
          </a:p>
          <a:p>
            <a:pPr marL="743040" lvl="1" indent="-285840" algn="l" defTabSz="914400">
              <a:spcBef>
                <a:spcPts val="561"/>
              </a:spcBef>
              <a:buClr>
                <a:srgbClr val="000000"/>
              </a:buClr>
              <a:buFont typeface="Arial"/>
              <a:buChar char="–"/>
            </a:pPr>
            <a:r>
              <a:rPr lang="en-US" sz="2400" b="0" u="none" strike="noStrike">
                <a:solidFill>
                  <a:schemeClr val="dk1"/>
                </a:solidFill>
                <a:effectLst/>
                <a:uFillTx/>
                <a:latin typeface="Calibri"/>
              </a:rPr>
              <a:t>Role: Acts as a bridge/translator between Java code and SQL database.</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712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1" u="none" strike="noStrike">
                <a:solidFill>
                  <a:schemeClr val="dk1"/>
                </a:solidFill>
                <a:effectLst/>
                <a:uFillTx/>
                <a:latin typeface="Calibri"/>
              </a:rPr>
              <a:t>Setup &amp; Drivers</a:t>
            </a:r>
            <a:endParaRPr lang="en-US" sz="4400" b="0" u="none" strike="noStrike">
              <a:solidFill>
                <a:schemeClr val="dk1"/>
              </a:solidFill>
              <a:effectLst/>
              <a:uFillTx/>
              <a:latin typeface="Calibri"/>
            </a:endParaRPr>
          </a:p>
        </p:txBody>
      </p:sp>
      <p:sp>
        <p:nvSpPr>
          <p:cNvPr id="73" name="PlaceHolder 2"/>
          <p:cNvSpPr>
            <a:spLocks noGrp="1"/>
          </p:cNvSpPr>
          <p:nvPr>
            <p:ph/>
          </p:nvPr>
        </p:nvSpPr>
        <p:spPr>
          <a:xfrm>
            <a:off x="457200" y="1143000"/>
            <a:ext cx="8229240" cy="4071600"/>
          </a:xfrm>
          <a:prstGeom prst="rect">
            <a:avLst/>
          </a:prstGeom>
          <a:noFill/>
          <a:ln w="0">
            <a:noFill/>
          </a:ln>
        </p:spPr>
        <p:txBody>
          <a:bodyPr lIns="91440" tIns="45720" rIns="91440" bIns="45720" anchor="t">
            <a:noAutofit/>
          </a:bodyPr>
          <a:p>
            <a:pPr marL="343080" indent="-343080" algn="l" defTabSz="914400">
              <a:lnSpc>
                <a:spcPct val="100000"/>
              </a:lnSpc>
              <a:spcBef>
                <a:spcPts val="439"/>
              </a:spcBef>
              <a:buClr>
                <a:srgbClr val="000000"/>
              </a:buClr>
              <a:buFont typeface="Arial"/>
              <a:buChar char="•"/>
            </a:pPr>
            <a:r>
              <a:rPr lang="en-US" sz="2200" b="1" u="none" strike="noStrike">
                <a:solidFill>
                  <a:schemeClr val="dk1"/>
                </a:solidFill>
                <a:effectLst/>
                <a:uFillTx/>
                <a:latin typeface="Calibri"/>
              </a:rPr>
              <a:t>Title:</a:t>
            </a:r>
            <a:r>
              <a:rPr lang="en-US" sz="2200" b="0" u="none" strike="noStrike">
                <a:solidFill>
                  <a:schemeClr val="dk1"/>
                </a:solidFill>
                <a:effectLst/>
                <a:uFillTx/>
                <a:latin typeface="Calibri"/>
              </a:rPr>
              <a:t> Setting Up JDBC</a:t>
            </a:r>
            <a:endParaRPr lang="en-US" sz="2200" b="0" u="none" strike="noStrike">
              <a:solidFill>
                <a:schemeClr val="dk1"/>
              </a:solidFill>
              <a:effectLst/>
              <a:uFillTx/>
              <a:latin typeface="Calibri"/>
            </a:endParaRPr>
          </a:p>
          <a:p>
            <a:pPr marL="743040" lvl="1" indent="-285840" algn="l" defTabSz="914400">
              <a:lnSpc>
                <a:spcPct val="100000"/>
              </a:lnSpc>
              <a:spcBef>
                <a:spcPts val="439"/>
              </a:spcBef>
              <a:buClr>
                <a:srgbClr val="000000"/>
              </a:buClr>
              <a:buFont typeface="Arial"/>
              <a:buChar char="–"/>
            </a:pPr>
            <a:r>
              <a:rPr lang="en-US" sz="2200" b="1" u="none" strike="noStrike">
                <a:solidFill>
                  <a:schemeClr val="dk1"/>
                </a:solidFill>
                <a:effectLst/>
                <a:uFillTx/>
                <a:latin typeface="Calibri"/>
              </a:rPr>
              <a:t>JDBC Driver:</a:t>
            </a:r>
            <a:r>
              <a:rPr lang="en-US" sz="2200" b="0" u="none" strike="noStrike">
                <a:solidFill>
                  <a:schemeClr val="dk1"/>
                </a:solidFill>
                <a:effectLst/>
                <a:uFillTx/>
                <a:latin typeface="Calibri"/>
              </a:rPr>
              <a:t> Not included in standard JDK. Must be added separately.</a:t>
            </a:r>
            <a:endParaRPr lang="en-US" sz="2200" b="0" u="none" strike="noStrike">
              <a:solidFill>
                <a:schemeClr val="dk1"/>
              </a:solidFill>
              <a:effectLst/>
              <a:uFillTx/>
              <a:latin typeface="Calibri"/>
            </a:endParaRPr>
          </a:p>
          <a:p>
            <a:pPr marL="1143000" lvl="2" indent="-228600" algn="l" defTabSz="914400">
              <a:lnSpc>
                <a:spcPct val="100000"/>
              </a:lnSpc>
              <a:spcBef>
                <a:spcPts val="439"/>
              </a:spcBef>
              <a:buClr>
                <a:srgbClr val="000000"/>
              </a:buClr>
              <a:buFont typeface="Arial"/>
              <a:buChar char="•"/>
            </a:pPr>
            <a:r>
              <a:rPr lang="en-US" sz="2200" b="1" u="none" strike="noStrike">
                <a:solidFill>
                  <a:schemeClr val="dk1"/>
                </a:solidFill>
                <a:effectLst/>
                <a:uFillTx/>
                <a:latin typeface="Calibri"/>
              </a:rPr>
              <a:t>MySQL:</a:t>
            </a:r>
            <a:r>
              <a:rPr lang="en-US" sz="2200" b="0" u="none" strike="noStrike">
                <a:solidFill>
                  <a:schemeClr val="dk1"/>
                </a:solidFill>
                <a:effectLst/>
                <a:uFillTx/>
                <a:latin typeface="Calibri"/>
              </a:rPr>
              <a:t> mysql-connector-j</a:t>
            </a:r>
            <a:endParaRPr lang="en-US" sz="2200" b="0" u="none" strike="noStrike">
              <a:solidFill>
                <a:schemeClr val="dk1"/>
              </a:solidFill>
              <a:effectLst/>
              <a:uFillTx/>
              <a:latin typeface="Calibri"/>
            </a:endParaRPr>
          </a:p>
          <a:p>
            <a:pPr marL="1143000" lvl="2" indent="-228600" algn="l" defTabSz="914400">
              <a:lnSpc>
                <a:spcPct val="100000"/>
              </a:lnSpc>
              <a:spcBef>
                <a:spcPts val="439"/>
              </a:spcBef>
              <a:buClr>
                <a:srgbClr val="000000"/>
              </a:buClr>
              <a:buFont typeface="Arial"/>
              <a:buChar char="•"/>
            </a:pPr>
            <a:r>
              <a:rPr lang="en-US" sz="2200" b="1" u="none" strike="noStrike">
                <a:solidFill>
                  <a:schemeClr val="dk1"/>
                </a:solidFill>
                <a:effectLst/>
                <a:uFillTx/>
                <a:latin typeface="Calibri"/>
              </a:rPr>
              <a:t>PostgreSQL:</a:t>
            </a:r>
            <a:r>
              <a:rPr lang="en-US" sz="2200" b="0" u="none" strike="noStrike">
                <a:solidFill>
                  <a:schemeClr val="dk1"/>
                </a:solidFill>
                <a:effectLst/>
                <a:uFillTx/>
                <a:latin typeface="Calibri"/>
              </a:rPr>
              <a:t> postgresql</a:t>
            </a:r>
            <a:endParaRPr lang="en-US" sz="2200" b="0" u="none" strike="noStrike">
              <a:solidFill>
                <a:schemeClr val="dk1"/>
              </a:solidFill>
              <a:effectLst/>
              <a:uFillTx/>
              <a:latin typeface="Calibri"/>
            </a:endParaRPr>
          </a:p>
          <a:p>
            <a:pPr marL="1143000" lvl="2" indent="-228600" algn="l" defTabSz="914400">
              <a:lnSpc>
                <a:spcPct val="100000"/>
              </a:lnSpc>
              <a:spcBef>
                <a:spcPts val="439"/>
              </a:spcBef>
              <a:buClr>
                <a:srgbClr val="000000"/>
              </a:buClr>
              <a:buFont typeface="Arial"/>
              <a:buChar char="•"/>
            </a:pPr>
            <a:r>
              <a:rPr lang="en-US" sz="2200" b="1" u="none" strike="noStrike">
                <a:solidFill>
                  <a:schemeClr val="dk1"/>
                </a:solidFill>
                <a:effectLst/>
                <a:uFillTx/>
                <a:latin typeface="Calibri"/>
              </a:rPr>
              <a:t>SQLite:</a:t>
            </a:r>
            <a:r>
              <a:rPr lang="en-US" sz="2200" b="0" u="none" strike="noStrike">
                <a:solidFill>
                  <a:schemeClr val="dk1"/>
                </a:solidFill>
                <a:effectLst/>
                <a:uFillTx/>
                <a:latin typeface="Calibri"/>
              </a:rPr>
              <a:t> sqlite-jdbc</a:t>
            </a:r>
            <a:endParaRPr lang="en-US" sz="2200" b="0" u="none" strike="noStrike">
              <a:solidFill>
                <a:schemeClr val="dk1"/>
              </a:solidFill>
              <a:effectLst/>
              <a:uFillTx/>
              <a:latin typeface="Calibri"/>
            </a:endParaRPr>
          </a:p>
          <a:p>
            <a:pPr marL="743040" lvl="1" indent="-285840" algn="l" defTabSz="914400">
              <a:lnSpc>
                <a:spcPct val="100000"/>
              </a:lnSpc>
              <a:spcBef>
                <a:spcPts val="439"/>
              </a:spcBef>
              <a:buClr>
                <a:srgbClr val="000000"/>
              </a:buClr>
              <a:buFont typeface="Arial"/>
              <a:buChar char="–"/>
            </a:pPr>
            <a:r>
              <a:rPr lang="en-US" sz="2200" b="1" u="none" strike="noStrike">
                <a:solidFill>
                  <a:schemeClr val="dk1"/>
                </a:solidFill>
                <a:effectLst/>
                <a:uFillTx/>
                <a:latin typeface="Calibri"/>
              </a:rPr>
              <a:t>Loading Drivers:</a:t>
            </a:r>
            <a:endParaRPr lang="en-US" sz="2200" b="0" u="none" strike="noStrike">
              <a:solidFill>
                <a:schemeClr val="dk1"/>
              </a:solidFill>
              <a:effectLst/>
              <a:uFillTx/>
              <a:latin typeface="Calibri"/>
            </a:endParaRPr>
          </a:p>
          <a:p>
            <a:pPr marL="1143000" lvl="2" indent="-228600" algn="l" defTabSz="914400">
              <a:lnSpc>
                <a:spcPct val="100000"/>
              </a:lnSpc>
              <a:spcBef>
                <a:spcPts val="439"/>
              </a:spcBef>
              <a:buClr>
                <a:srgbClr val="000000"/>
              </a:buClr>
              <a:buFont typeface="Arial"/>
              <a:buChar char="•"/>
            </a:pPr>
            <a:r>
              <a:rPr lang="en-US" sz="2200" b="1" u="none" strike="noStrike">
                <a:solidFill>
                  <a:schemeClr val="dk1"/>
                </a:solidFill>
                <a:effectLst/>
                <a:uFillTx/>
                <a:latin typeface="Calibri"/>
              </a:rPr>
              <a:t>JDBC 4+ (Modern):</a:t>
            </a:r>
            <a:r>
              <a:rPr lang="en-US" sz="2200" b="0" u="none" strike="noStrike">
                <a:solidFill>
                  <a:schemeClr val="dk1"/>
                </a:solidFill>
                <a:effectLst/>
                <a:uFillTx/>
                <a:latin typeface="Calibri"/>
              </a:rPr>
              <a:t> Auto-loaded via classpath (no code needed).</a:t>
            </a:r>
            <a:endParaRPr lang="en-US" sz="2200" b="0" u="none" strike="noStrike">
              <a:solidFill>
                <a:schemeClr val="dk1"/>
              </a:solidFill>
              <a:effectLst/>
              <a:uFillTx/>
              <a:latin typeface="Calibri"/>
            </a:endParaRPr>
          </a:p>
          <a:p>
            <a:pPr marL="1143000" lvl="2" indent="-228600" algn="l" defTabSz="914400">
              <a:lnSpc>
                <a:spcPct val="100000"/>
              </a:lnSpc>
              <a:spcBef>
                <a:spcPts val="439"/>
              </a:spcBef>
              <a:buClr>
                <a:srgbClr val="000000"/>
              </a:buClr>
              <a:buFont typeface="Arial"/>
              <a:buChar char="•"/>
            </a:pPr>
            <a:r>
              <a:rPr lang="en-US" sz="2200" b="1" u="none" strike="noStrike">
                <a:solidFill>
                  <a:schemeClr val="dk1"/>
                </a:solidFill>
                <a:effectLst/>
                <a:uFillTx/>
                <a:latin typeface="Calibri"/>
              </a:rPr>
              <a:t>Legacy:</a:t>
            </a:r>
            <a:r>
              <a:rPr lang="en-US" sz="2200" b="0" u="none" strike="noStrike">
                <a:solidFill>
                  <a:schemeClr val="dk1"/>
                </a:solidFill>
                <a:effectLst/>
                <a:uFillTx/>
                <a:latin typeface="Calibri"/>
              </a:rPr>
              <a:t> Class.forName("com.mysql.cj.jdbc.Driver").</a:t>
            </a:r>
            <a:br>
              <a:rPr sz="2200"/>
            </a:br>
            <a:r>
              <a:rPr lang="en-US" sz="2200" b="0" u="none" strike="noStrike">
                <a:solidFill>
                  <a:schemeClr val="dk1"/>
                </a:solidFill>
                <a:effectLst/>
                <a:uFillTx/>
                <a:latin typeface="Calibri"/>
              </a:rPr>
              <a:t> </a:t>
            </a:r>
            <a:endParaRPr lang="en-US" sz="2200" b="0" u="none" strike="noStrike">
              <a:solidFill>
                <a:schemeClr val="dk1"/>
              </a:solidFill>
              <a:effectLst/>
              <a:uFillTx/>
              <a:latin typeface="Calibri"/>
            </a:endParaRPr>
          </a:p>
        </p:txBody>
      </p:sp>
      <p:sp>
        <p:nvSpPr>
          <p:cNvPr id="74" name="Rectangle 3"/>
          <p:cNvSpPr/>
          <p:nvPr/>
        </p:nvSpPr>
        <p:spPr>
          <a:xfrm>
            <a:off x="357120" y="5429160"/>
            <a:ext cx="8572320" cy="101520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2000" b="1" u="none" strike="noStrike">
                <a:solidFill>
                  <a:schemeClr val="dk1"/>
                </a:solidFill>
                <a:effectLst/>
                <a:uFillTx/>
                <a:latin typeface="Courier New"/>
              </a:rPr>
              <a:t>String url = "jdbc:mysql://localhost:3306/mydatabase";</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String user = "root";</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String password = "password";</a:t>
            </a:r>
            <a:endParaRPr lang="en-CA"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1" u="none" strike="noStrike">
                <a:solidFill>
                  <a:schemeClr val="dk1"/>
                </a:solidFill>
                <a:effectLst/>
                <a:uFillTx/>
                <a:latin typeface="Calibri"/>
              </a:rPr>
              <a:t>Establishing a Connection</a:t>
            </a:r>
            <a:endParaRPr lang="en-US" sz="4400" b="0" u="none" strike="noStrike">
              <a:solidFill>
                <a:schemeClr val="dk1"/>
              </a:solidFill>
              <a:effectLst/>
              <a:uFillTx/>
              <a:latin typeface="Calibri"/>
            </a:endParaRPr>
          </a:p>
        </p:txBody>
      </p:sp>
      <p:sp>
        <p:nvSpPr>
          <p:cNvPr id="76" name="PlaceHolder 2"/>
          <p:cNvSpPr>
            <a:spLocks noGrp="1"/>
          </p:cNvSpPr>
          <p:nvPr>
            <p:ph/>
          </p:nvPr>
        </p:nvSpPr>
        <p:spPr>
          <a:xfrm>
            <a:off x="457200" y="1600200"/>
            <a:ext cx="8229240" cy="2042640"/>
          </a:xfrm>
          <a:prstGeom prst="rect">
            <a:avLst/>
          </a:prstGeom>
          <a:noFill/>
          <a:ln w="0">
            <a:noFill/>
          </a:ln>
        </p:spPr>
        <p:txBody>
          <a:bodyPr lIns="91440" tIns="45720" rIns="91440" bIns="45720" anchor="t">
            <a:noAutofit/>
          </a:bodyPr>
          <a:p>
            <a:pPr marL="343080" indent="-34308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The Connection Object</a:t>
            </a:r>
            <a:endParaRPr lang="en-US" sz="24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Entry Point:</a:t>
            </a:r>
            <a:r>
              <a:rPr lang="en-US" sz="2400" b="0" u="none" strike="noStrike">
                <a:solidFill>
                  <a:schemeClr val="dk1"/>
                </a:solidFill>
                <a:effectLst/>
                <a:uFillTx/>
                <a:latin typeface="Calibri"/>
              </a:rPr>
              <a:t> DriverManager.getConnection().</a:t>
            </a:r>
            <a:endParaRPr lang="en-US" sz="24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Resource Management:</a:t>
            </a:r>
            <a:r>
              <a:rPr lang="en-US" sz="2400" b="0" u="none" strike="noStrike">
                <a:solidFill>
                  <a:schemeClr val="dk1"/>
                </a:solidFill>
                <a:effectLst/>
                <a:uFillTx/>
                <a:latin typeface="Calibri"/>
              </a:rPr>
              <a:t> Always close connections to avoid leaks.</a:t>
            </a:r>
            <a:endParaRPr lang="en-US" sz="24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Best Practice:</a:t>
            </a:r>
            <a:r>
              <a:rPr lang="en-US" sz="2400" b="0" u="none" strike="noStrike">
                <a:solidFill>
                  <a:schemeClr val="dk1"/>
                </a:solidFill>
                <a:effectLst/>
                <a:uFillTx/>
                <a:latin typeface="Calibri"/>
              </a:rPr>
              <a:t> Use </a:t>
            </a:r>
            <a:r>
              <a:rPr lang="en-US" sz="2400" b="1" u="none" strike="noStrike">
                <a:solidFill>
                  <a:schemeClr val="dk1"/>
                </a:solidFill>
                <a:effectLst/>
                <a:uFillTx/>
                <a:latin typeface="Calibri"/>
              </a:rPr>
              <a:t>Try-With-Resources</a:t>
            </a:r>
            <a:r>
              <a:rPr lang="en-US" sz="2400" b="0" u="none" strike="noStrike">
                <a:solidFill>
                  <a:schemeClr val="dk1"/>
                </a:solidFill>
                <a:effectLst/>
                <a:uFillTx/>
                <a:latin typeface="Calibri"/>
              </a:rPr>
              <a:t>.</a:t>
            </a:r>
            <a:endParaRPr lang="en-US" sz="2400" b="0" u="none" strike="noStrike">
              <a:solidFill>
                <a:schemeClr val="dk1"/>
              </a:solidFill>
              <a:effectLst/>
              <a:uFillTx/>
              <a:latin typeface="Calibri"/>
            </a:endParaRPr>
          </a:p>
          <a:p>
            <a:pPr indent="0" algn="l" defTabSz="914400">
              <a:lnSpc>
                <a:spcPct val="100000"/>
              </a:lnSpc>
              <a:spcBef>
                <a:spcPts val="479"/>
              </a:spcBef>
              <a:buNone/>
            </a:pPr>
            <a:endParaRPr lang="en-US" sz="2400" b="0" u="none" strike="noStrike">
              <a:solidFill>
                <a:schemeClr val="dk1"/>
              </a:solidFill>
              <a:effectLst/>
              <a:uFillTx/>
              <a:latin typeface="Calibri"/>
            </a:endParaRPr>
          </a:p>
        </p:txBody>
      </p:sp>
      <p:sp>
        <p:nvSpPr>
          <p:cNvPr id="77" name="Rectangle 3"/>
          <p:cNvSpPr/>
          <p:nvPr/>
        </p:nvSpPr>
        <p:spPr>
          <a:xfrm>
            <a:off x="642960" y="4143240"/>
            <a:ext cx="8072280" cy="255420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2000" b="1" u="none" strike="noStrike">
                <a:solidFill>
                  <a:schemeClr val="dk1"/>
                </a:solidFill>
                <a:effectLst/>
                <a:uFillTx/>
                <a:latin typeface="Courier New"/>
              </a:rPr>
              <a:t>String url = "jdbc:mysql://localhost:3306/shop";</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try (Connection conn = DriverManager.getConnection(url, user, pass)) {</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a:t>
            </a:r>
            <a:r>
              <a:rPr lang="en-US" sz="2000" b="1" u="none" strike="noStrike">
                <a:solidFill>
                  <a:schemeClr val="lt1">
                    <a:lumMod val="50000"/>
                  </a:schemeClr>
                </a:solidFill>
                <a:effectLst/>
                <a:uFillTx/>
                <a:latin typeface="Courier New"/>
              </a:rPr>
              <a:t>// Use connection</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catch (SQLException e) {</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e.printStackTrace();</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lt1">
                    <a:lumMod val="50000"/>
                  </a:schemeClr>
                </a:solidFill>
                <a:effectLst/>
                <a:uFillTx/>
                <a:latin typeface="Courier New"/>
              </a:rPr>
              <a:t>// Connection automatically closed here</a:t>
            </a:r>
            <a:endParaRPr lang="en-CA"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14292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1" u="none" strike="noStrike">
                <a:solidFill>
                  <a:schemeClr val="dk1"/>
                </a:solidFill>
                <a:effectLst/>
                <a:uFillTx/>
                <a:latin typeface="Calibri"/>
              </a:rPr>
              <a:t>Statement vs. PreparedStatement</a:t>
            </a:r>
            <a:endParaRPr lang="en-US" sz="4400" b="0" u="none" strike="noStrike">
              <a:solidFill>
                <a:schemeClr val="dk1"/>
              </a:solidFill>
              <a:effectLst/>
              <a:uFillTx/>
              <a:latin typeface="Calibri"/>
            </a:endParaRPr>
          </a:p>
        </p:txBody>
      </p:sp>
      <p:sp>
        <p:nvSpPr>
          <p:cNvPr id="79" name="PlaceHolder 2"/>
          <p:cNvSpPr>
            <a:spLocks noGrp="1"/>
          </p:cNvSpPr>
          <p:nvPr>
            <p:ph/>
          </p:nvPr>
        </p:nvSpPr>
        <p:spPr>
          <a:xfrm>
            <a:off x="457200" y="1285920"/>
            <a:ext cx="8229240" cy="1757160"/>
          </a:xfrm>
          <a:prstGeom prst="rect">
            <a:avLst/>
          </a:prstGeom>
          <a:noFill/>
          <a:ln w="0">
            <a:noFill/>
          </a:ln>
        </p:spPr>
        <p:txBody>
          <a:bodyPr lIns="91440" tIns="45720" rIns="91440" bIns="45720" anchor="t">
            <a:noAutofit/>
          </a:bodyPr>
          <a:p>
            <a:pPr marL="343080" indent="-343080" algn="l"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Executing SQL</a:t>
            </a:r>
            <a:endParaRPr lang="en-US" sz="2400" b="0" u="none" strike="noStrike">
              <a:solidFill>
                <a:schemeClr val="dk1"/>
              </a:solidFill>
              <a:effectLst/>
              <a:uFillTx/>
              <a:latin typeface="Calibri"/>
            </a:endParaRPr>
          </a:p>
          <a:p>
            <a:pPr marL="743040" lvl="1" indent="-285840" algn="l"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Statement:</a:t>
            </a:r>
            <a:endParaRPr lang="en-US" sz="2400" b="0" u="none" strike="noStrike">
              <a:solidFill>
                <a:schemeClr val="dk1"/>
              </a:solidFill>
              <a:effectLst/>
              <a:uFillTx/>
              <a:latin typeface="Calibri"/>
            </a:endParaRPr>
          </a:p>
          <a:p>
            <a:pPr marL="1143000" lvl="2" indent="-228600" algn="l" defTabSz="914400">
              <a:lnSpc>
                <a:spcPct val="100000"/>
              </a:lnSpc>
              <a:spcBef>
                <a:spcPts val="601"/>
              </a:spcBef>
              <a:buClr>
                <a:srgbClr val="000000"/>
              </a:buClr>
              <a:buFont typeface="Arial"/>
              <a:buChar char="•"/>
            </a:pPr>
            <a:r>
              <a:rPr lang="en-US" sz="2400" b="0" u="none" strike="noStrike">
                <a:solidFill>
                  <a:schemeClr val="dk1"/>
                </a:solidFill>
                <a:effectLst/>
                <a:uFillTx/>
                <a:latin typeface="Calibri"/>
              </a:rPr>
              <a:t>Used for static SQL strings.</a:t>
            </a:r>
            <a:endParaRPr lang="en-US" sz="2400" b="0" u="none" strike="noStrike">
              <a:solidFill>
                <a:schemeClr val="dk1"/>
              </a:solidFill>
              <a:effectLst/>
              <a:uFillTx/>
              <a:latin typeface="Calibri"/>
            </a:endParaRPr>
          </a:p>
          <a:p>
            <a:pPr marL="1143000" lvl="2" indent="-228600" algn="l"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Vulnerable to SQL Injection.</a:t>
            </a:r>
            <a:endParaRPr lang="en-US" sz="2400" b="0" u="none" strike="noStrike">
              <a:solidFill>
                <a:schemeClr val="dk1"/>
              </a:solidFill>
              <a:effectLst/>
              <a:uFillTx/>
              <a:latin typeface="Calibri"/>
            </a:endParaRPr>
          </a:p>
        </p:txBody>
      </p:sp>
      <p:sp>
        <p:nvSpPr>
          <p:cNvPr id="80" name="Content Placeholder 2"/>
          <p:cNvSpPr/>
          <p:nvPr/>
        </p:nvSpPr>
        <p:spPr>
          <a:xfrm>
            <a:off x="451800" y="4000680"/>
            <a:ext cx="8229240" cy="1757160"/>
          </a:xfrm>
          <a:prstGeom prst="rect">
            <a:avLst/>
          </a:prstGeom>
          <a:noFill/>
          <a:ln w="0">
            <a:noFill/>
          </a:ln>
        </p:spPr>
        <p:style>
          <a:lnRef idx="0"/>
          <a:fillRef idx="0"/>
          <a:effectRef idx="0"/>
          <a:fontRef idx="minor"/>
        </p:style>
        <p:txBody>
          <a:bodyPr anchor="t">
            <a:noAutofit/>
          </a:bodyPr>
          <a:p>
            <a:pPr marL="743040" lvl="1" indent="-285840"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PreparedStatement:</a:t>
            </a:r>
            <a:endParaRPr lang="en-CA" sz="2400" b="0" u="none" strike="noStrike">
              <a:solidFill>
                <a:srgbClr val="000000"/>
              </a:solidFill>
              <a:effectLst/>
              <a:uFillTx/>
              <a:latin typeface="Arial"/>
            </a:endParaRPr>
          </a:p>
          <a:p>
            <a:pPr marL="1200240" lvl="2" indent="-285840" defTabSz="914400">
              <a:lnSpc>
                <a:spcPct val="100000"/>
              </a:lnSpc>
              <a:spcBef>
                <a:spcPts val="601"/>
              </a:spcBef>
              <a:buClr>
                <a:srgbClr val="000000"/>
              </a:buClr>
              <a:buFont typeface="Arial"/>
              <a:buChar char="•"/>
            </a:pPr>
            <a:r>
              <a:rPr lang="en-US" sz="2400" b="0" u="none" strike="noStrike">
                <a:solidFill>
                  <a:schemeClr val="dk1"/>
                </a:solidFill>
                <a:effectLst/>
                <a:uFillTx/>
                <a:latin typeface="Calibri"/>
              </a:rPr>
              <a:t>Used for dynamic SQL (parameters).</a:t>
            </a:r>
            <a:endParaRPr lang="en-CA" sz="2400" b="0" u="none" strike="noStrike">
              <a:solidFill>
                <a:srgbClr val="000000"/>
              </a:solidFill>
              <a:effectLst/>
              <a:uFillTx/>
              <a:latin typeface="Arial"/>
            </a:endParaRPr>
          </a:p>
          <a:p>
            <a:pPr marL="1200240" lvl="2" indent="-285840"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Prevents SQL Injection.</a:t>
            </a:r>
            <a:endParaRPr lang="en-CA" sz="2400" b="0" u="none" strike="noStrike">
              <a:solidFill>
                <a:srgbClr val="000000"/>
              </a:solidFill>
              <a:effectLst/>
              <a:uFillTx/>
              <a:latin typeface="Arial"/>
            </a:endParaRPr>
          </a:p>
          <a:p>
            <a:pPr marL="1200240" lvl="2" indent="-285840"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Better Performance</a:t>
            </a:r>
            <a:r>
              <a:rPr lang="en-US" sz="2400" b="0" u="none" strike="noStrike">
                <a:solidFill>
                  <a:schemeClr val="dk1"/>
                </a:solidFill>
                <a:effectLst/>
                <a:uFillTx/>
                <a:latin typeface="Calibri"/>
              </a:rPr>
              <a:t> (pre-compiled)</a:t>
            </a:r>
            <a:endParaRPr lang="en-CA" sz="2400" b="0" u="none" strike="noStrike">
              <a:solidFill>
                <a:srgbClr val="000000"/>
              </a:solidFill>
              <a:effectLst/>
              <a:uFillTx/>
              <a:latin typeface="Arial"/>
            </a:endParaRPr>
          </a:p>
        </p:txBody>
      </p:sp>
      <p:sp>
        <p:nvSpPr>
          <p:cNvPr id="81" name="Rectangle 4"/>
          <p:cNvSpPr/>
          <p:nvPr/>
        </p:nvSpPr>
        <p:spPr>
          <a:xfrm>
            <a:off x="1000080" y="3143160"/>
            <a:ext cx="7714800" cy="64584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1800" b="1" u="none" strike="noStrike">
                <a:solidFill>
                  <a:schemeClr val="dk1"/>
                </a:solidFill>
                <a:effectLst/>
                <a:uFillTx/>
                <a:latin typeface="Courier New"/>
              </a:rPr>
              <a:t>Statement stmt = conn.createStatement();</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stmt.execute("SELECT * FROM users WHERE id = 1");</a:t>
            </a:r>
            <a:endParaRPr lang="en-CA" sz="1800" b="0" u="none" strike="noStrike">
              <a:solidFill>
                <a:srgbClr val="000000"/>
              </a:solidFill>
              <a:effectLst/>
              <a:uFillTx/>
              <a:latin typeface="Arial"/>
            </a:endParaRPr>
          </a:p>
        </p:txBody>
      </p:sp>
      <p:sp>
        <p:nvSpPr>
          <p:cNvPr id="82" name="Rectangle 5"/>
          <p:cNvSpPr/>
          <p:nvPr/>
        </p:nvSpPr>
        <p:spPr>
          <a:xfrm>
            <a:off x="857160" y="5857920"/>
            <a:ext cx="7786440" cy="92304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1800" b="1" u="none" strike="noStrike">
                <a:solidFill>
                  <a:schemeClr val="dk1"/>
                </a:solidFill>
                <a:effectLst/>
                <a:uFillTx/>
                <a:latin typeface="Courier New"/>
              </a:rPr>
              <a:t>PreparedStatement pstmt = conn.prepareStatement("SELECT * FROM users WHERE id = ?");</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pstmt.setInt(1, 1);</a:t>
            </a:r>
            <a:endParaRPr lang="en-CA"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1420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1" u="none" strike="noStrike">
                <a:solidFill>
                  <a:schemeClr val="dk1"/>
                </a:solidFill>
                <a:effectLst/>
                <a:uFillTx/>
                <a:latin typeface="Calibri"/>
              </a:rPr>
              <a:t>Querying Data (SELECT)</a:t>
            </a:r>
            <a:endParaRPr lang="en-US" sz="4400" b="0" u="none" strike="noStrike">
              <a:solidFill>
                <a:schemeClr val="dk1"/>
              </a:solidFill>
              <a:effectLst/>
              <a:uFillTx/>
              <a:latin typeface="Calibri"/>
            </a:endParaRPr>
          </a:p>
        </p:txBody>
      </p:sp>
      <p:sp>
        <p:nvSpPr>
          <p:cNvPr id="84" name="PlaceHolder 2"/>
          <p:cNvSpPr>
            <a:spLocks noGrp="1"/>
          </p:cNvSpPr>
          <p:nvPr>
            <p:ph/>
          </p:nvPr>
        </p:nvSpPr>
        <p:spPr>
          <a:xfrm>
            <a:off x="457200" y="1285920"/>
            <a:ext cx="8257680" cy="2257200"/>
          </a:xfrm>
          <a:prstGeom prst="rect">
            <a:avLst/>
          </a:prstGeom>
          <a:noFill/>
          <a:ln w="0">
            <a:noFill/>
          </a:ln>
        </p:spPr>
        <p:txBody>
          <a:bodyPr lIns="91440" tIns="45720" rIns="91440" bIns="45720" anchor="t">
            <a:noAutofit/>
          </a:bodyPr>
          <a:p>
            <a:pPr marL="343080" indent="-34308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Retrieving Data with ResultSet</a:t>
            </a:r>
            <a:endParaRPr lang="en-US" sz="24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Method: executeQuery() returns a ResultSet.</a:t>
            </a:r>
            <a:endParaRPr lang="en-US" sz="24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Cursor: Initially positioned before the first row.</a:t>
            </a:r>
            <a:endParaRPr lang="en-US" sz="24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Navigation: Use next() to move cursor.</a:t>
            </a:r>
            <a:endParaRPr lang="en-US" sz="24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Extraction: getString(), getInt(), etc.</a:t>
            </a:r>
            <a:endParaRPr lang="en-US" sz="2400" b="0" u="none" strike="noStrike">
              <a:solidFill>
                <a:schemeClr val="dk1"/>
              </a:solidFill>
              <a:effectLst/>
              <a:uFillTx/>
              <a:latin typeface="Calibri"/>
            </a:endParaRPr>
          </a:p>
        </p:txBody>
      </p:sp>
      <p:sp>
        <p:nvSpPr>
          <p:cNvPr id="85" name="Rectangle 3"/>
          <p:cNvSpPr/>
          <p:nvPr/>
        </p:nvSpPr>
        <p:spPr>
          <a:xfrm>
            <a:off x="642960" y="3620160"/>
            <a:ext cx="8143560" cy="316980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2000" b="1" u="none" strike="noStrike">
                <a:solidFill>
                  <a:schemeClr val="dk1"/>
                </a:solidFill>
                <a:effectLst/>
                <a:uFillTx/>
                <a:latin typeface="Courier New"/>
              </a:rPr>
              <a:t>String sql = "SELECT id, name FROM products";</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try (PreparedStatement pstmt = conn.prepareStatement(sql);</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ResultSet rs = pstmt.executeQuery()) {</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while (rs.next()) {</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int id = rs.getInt("id");</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String name = rs.getString("name");</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System.out.println(id + ": " + name);</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a:t>
            </a:r>
            <a:endParaRPr lang="en-CA"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142920" y="274680"/>
            <a:ext cx="8786520" cy="1142640"/>
          </a:xfrm>
          <a:prstGeom prst="rect">
            <a:avLst/>
          </a:prstGeom>
          <a:noFill/>
          <a:ln w="0">
            <a:noFill/>
          </a:ln>
        </p:spPr>
        <p:txBody>
          <a:bodyPr lIns="91440" tIns="45720" rIns="91440" bIns="45720" anchor="ctr">
            <a:normAutofit fontScale="85000" lnSpcReduction="9999"/>
          </a:bodyPr>
          <a:p>
            <a:pPr indent="0" algn="ctr" defTabSz="914400">
              <a:lnSpc>
                <a:spcPct val="100000"/>
              </a:lnSpc>
              <a:buNone/>
            </a:pPr>
            <a:r>
              <a:rPr lang="en-US" sz="4400" b="1" u="none" strike="noStrike">
                <a:solidFill>
                  <a:schemeClr val="dk1"/>
                </a:solidFill>
                <a:effectLst/>
                <a:uFillTx/>
                <a:latin typeface="Calibri"/>
              </a:rPr>
              <a:t>Updating Data (INSERT/UPDATE/DELETE)</a:t>
            </a:r>
            <a:endParaRPr lang="en-US" sz="4400" b="0" u="none" strike="noStrike">
              <a:solidFill>
                <a:schemeClr val="dk1"/>
              </a:solidFill>
              <a:effectLst/>
              <a:uFillTx/>
              <a:latin typeface="Calibri"/>
            </a:endParaRPr>
          </a:p>
        </p:txBody>
      </p:sp>
      <p:sp>
        <p:nvSpPr>
          <p:cNvPr id="87" name="PlaceHolder 2"/>
          <p:cNvSpPr>
            <a:spLocks noGrp="1"/>
          </p:cNvSpPr>
          <p:nvPr>
            <p:ph/>
          </p:nvPr>
        </p:nvSpPr>
        <p:spPr>
          <a:xfrm>
            <a:off x="457200" y="1600200"/>
            <a:ext cx="8229240" cy="1471320"/>
          </a:xfrm>
          <a:prstGeom prst="rect">
            <a:avLst/>
          </a:prstGeom>
          <a:noFill/>
          <a:ln w="0">
            <a:noFill/>
          </a:ln>
        </p:spPr>
        <p:txBody>
          <a:bodyPr lIns="91440" tIns="45720" rIns="91440" bIns="45720" anchor="t">
            <a:noAutofit/>
          </a:bodyPr>
          <a:p>
            <a:pPr marL="343080" indent="-34308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Title:</a:t>
            </a:r>
            <a:r>
              <a:rPr lang="en-US" sz="2400" b="0" u="none" strike="noStrike">
                <a:solidFill>
                  <a:schemeClr val="dk1"/>
                </a:solidFill>
                <a:effectLst/>
                <a:uFillTx/>
                <a:latin typeface="Calibri"/>
              </a:rPr>
              <a:t> Modifying Data</a:t>
            </a:r>
            <a:endParaRPr lang="en-US" sz="24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Method:</a:t>
            </a:r>
            <a:r>
              <a:rPr lang="en-US" sz="2400" b="0" u="none" strike="noStrike">
                <a:solidFill>
                  <a:schemeClr val="dk1"/>
                </a:solidFill>
                <a:effectLst/>
                <a:uFillTx/>
                <a:latin typeface="Calibri"/>
              </a:rPr>
              <a:t> executeUpdate() returns an int (rows affected).</a:t>
            </a:r>
            <a:endParaRPr lang="en-US" sz="24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Operations:</a:t>
            </a:r>
            <a:r>
              <a:rPr lang="en-US" sz="2400" b="0" u="none" strike="noStrike">
                <a:solidFill>
                  <a:schemeClr val="dk1"/>
                </a:solidFill>
                <a:effectLst/>
                <a:uFillTx/>
                <a:latin typeface="Calibri"/>
              </a:rPr>
              <a:t> INSERT, UPDATE, DELETE, CREATE.</a:t>
            </a:r>
            <a:endParaRPr lang="en-US" sz="2400" b="0" u="none" strike="noStrike">
              <a:solidFill>
                <a:schemeClr val="dk1"/>
              </a:solidFill>
              <a:effectLst/>
              <a:uFillTx/>
              <a:latin typeface="Calibri"/>
            </a:endParaRPr>
          </a:p>
        </p:txBody>
      </p:sp>
      <p:sp>
        <p:nvSpPr>
          <p:cNvPr id="88" name="Rectangle 3"/>
          <p:cNvSpPr/>
          <p:nvPr/>
        </p:nvSpPr>
        <p:spPr>
          <a:xfrm>
            <a:off x="142920" y="3714840"/>
            <a:ext cx="8786520" cy="203112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1800" b="1" u="none" strike="noStrike">
                <a:solidFill>
                  <a:schemeClr val="dk1"/>
                </a:solidFill>
                <a:effectLst/>
                <a:uFillTx/>
                <a:latin typeface="Courier New"/>
              </a:rPr>
              <a:t>String sql = "INSERT INTO users (name, email) VALUES (?, ?)";</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try (PreparedStatement pstmt = conn.prepareStatement(sql)) {</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    pstmt.setString(1, "Alice");</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    pstmt.setString(2, "alice@example.com");</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    int rows = pstmt.executeUpdate();</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    System.out.println(rows + " row(s) inserted");</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a:t>
            </a:r>
            <a:endParaRPr lang="en-CA"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0" u="none" strike="noStrike">
                <a:solidFill>
                  <a:schemeClr val="dk1"/>
                </a:solidFill>
                <a:effectLst/>
                <a:uFillTx/>
                <a:latin typeface="Calibri"/>
              </a:rPr>
              <a:t>SQL Injection Attack</a:t>
            </a:r>
            <a:endParaRPr lang="en-US" sz="4400" b="0" u="none" strike="noStrike">
              <a:solidFill>
                <a:schemeClr val="dk1"/>
              </a:solidFill>
              <a:effectLst/>
              <a:uFillTx/>
              <a:latin typeface="Calibri"/>
            </a:endParaRPr>
          </a:p>
        </p:txBody>
      </p:sp>
      <p:sp>
        <p:nvSpPr>
          <p:cNvPr id="90" name="PlaceHolder 2"/>
          <p:cNvSpPr>
            <a:spLocks noGrp="1"/>
          </p:cNvSpPr>
          <p:nvPr>
            <p:ph/>
          </p:nvPr>
        </p:nvSpPr>
        <p:spPr>
          <a:xfrm>
            <a:off x="457200" y="1600200"/>
            <a:ext cx="8229240" cy="4525560"/>
          </a:xfrm>
          <a:prstGeom prst="rect">
            <a:avLst/>
          </a:prstGeom>
          <a:noFill/>
          <a:ln w="0">
            <a:noFill/>
          </a:ln>
        </p:spPr>
        <p:txBody>
          <a:bodyPr lIns="91440" tIns="45720" rIns="91440" bIns="45720" anchor="t">
            <a:normAutofit fontScale="85000" lnSpcReduction="19999"/>
          </a:bodyPr>
          <a:p>
            <a:pPr marL="343080" indent="-343080" algn="l" defTabSz="914400">
              <a:lnSpc>
                <a:spcPct val="100000"/>
              </a:lnSpc>
              <a:spcBef>
                <a:spcPts val="601"/>
              </a:spcBef>
              <a:spcAft>
                <a:spcPts val="601"/>
              </a:spcAft>
              <a:buClr>
                <a:srgbClr val="000000"/>
              </a:buClr>
              <a:buFont typeface="Arial"/>
              <a:buChar char="•"/>
            </a:pPr>
            <a:r>
              <a:rPr lang="en-US" sz="3200" b="0" u="none" strike="noStrike">
                <a:solidFill>
                  <a:schemeClr val="dk1"/>
                </a:solidFill>
                <a:effectLst/>
                <a:uFillTx/>
                <a:latin typeface="Calibri"/>
              </a:rPr>
              <a:t>Security: SQL Injection</a:t>
            </a:r>
            <a:endParaRPr lang="en-US" sz="3200" b="0" u="none" strike="noStrike">
              <a:solidFill>
                <a:schemeClr val="dk1"/>
              </a:solidFill>
              <a:effectLst/>
              <a:uFillTx/>
              <a:latin typeface="Calibri"/>
            </a:endParaRPr>
          </a:p>
          <a:p>
            <a:pPr marL="343080" indent="-343080" algn="l" defTabSz="914400">
              <a:lnSpc>
                <a:spcPct val="100000"/>
              </a:lnSpc>
              <a:spcBef>
                <a:spcPts val="601"/>
              </a:spcBef>
              <a:spcAft>
                <a:spcPts val="601"/>
              </a:spcAft>
              <a:buClr>
                <a:srgbClr val="000000"/>
              </a:buClr>
              <a:buFont typeface="Arial"/>
              <a:buChar char="•"/>
            </a:pPr>
            <a:r>
              <a:rPr lang="en-US" sz="3200" b="0" u="none" strike="noStrike">
                <a:solidFill>
                  <a:schemeClr val="dk1"/>
                </a:solidFill>
                <a:effectLst/>
                <a:uFillTx/>
                <a:latin typeface="Calibri"/>
              </a:rPr>
              <a:t>Vulnerability: Occurs when user input is concatenated into SQL.</a:t>
            </a:r>
            <a:endParaRPr lang="en-US" sz="3200" b="0" u="none" strike="noStrike">
              <a:solidFill>
                <a:schemeClr val="dk1"/>
              </a:solidFill>
              <a:effectLst/>
              <a:uFillTx/>
              <a:latin typeface="Calibri"/>
            </a:endParaRPr>
          </a:p>
          <a:p>
            <a:pPr marL="343080" indent="-343080" algn="l" defTabSz="914400">
              <a:lnSpc>
                <a:spcPct val="100000"/>
              </a:lnSpc>
              <a:spcBef>
                <a:spcPts val="601"/>
              </a:spcBef>
              <a:spcAft>
                <a:spcPts val="601"/>
              </a:spcAft>
              <a:buClr>
                <a:srgbClr val="000000"/>
              </a:buClr>
              <a:buFont typeface="Arial"/>
              <a:buChar char="•"/>
            </a:pPr>
            <a:r>
              <a:rPr lang="en-US" sz="3200" b="0" u="none" strike="noStrike">
                <a:solidFill>
                  <a:schemeClr val="dk1"/>
                </a:solidFill>
                <a:effectLst/>
                <a:uFillTx/>
                <a:latin typeface="Calibri"/>
              </a:rPr>
              <a:t>Attack Example:</a:t>
            </a:r>
            <a:endParaRPr lang="en-US" sz="32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Input: ' OR '1'='1</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SQL: SELECT * FROM users WHERE name = '' OR '1'='1'</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Result: Returns all users (bypasses login).</a:t>
            </a:r>
            <a:endParaRPr lang="en-US" sz="2800" b="0" u="none" strike="noStrike">
              <a:solidFill>
                <a:schemeClr val="dk1"/>
              </a:solidFill>
              <a:effectLst/>
              <a:uFillTx/>
              <a:latin typeface="Calibri"/>
            </a:endParaRPr>
          </a:p>
          <a:p>
            <a:pPr marL="343080" indent="-343080" algn="l" defTabSz="914400">
              <a:lnSpc>
                <a:spcPct val="100000"/>
              </a:lnSpc>
              <a:spcBef>
                <a:spcPts val="601"/>
              </a:spcBef>
              <a:spcAft>
                <a:spcPts val="601"/>
              </a:spcAft>
              <a:buClr>
                <a:srgbClr val="000000"/>
              </a:buClr>
              <a:buFont typeface="Arial"/>
              <a:buChar char="•"/>
            </a:pPr>
            <a:r>
              <a:rPr lang="en-US" sz="3200" b="0" u="none" strike="noStrike">
                <a:solidFill>
                  <a:schemeClr val="dk1"/>
                </a:solidFill>
                <a:effectLst/>
                <a:uFillTx/>
                <a:latin typeface="Calibri"/>
              </a:rPr>
              <a:t>Prevention: Use PreparedStatement.</a:t>
            </a:r>
            <a:endParaRPr lang="en-US" sz="32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Treats input as data, not code.</a:t>
            </a:r>
            <a:endParaRPr lang="en-US" sz="28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800" b="0" u="none" strike="noStrike">
                <a:solidFill>
                  <a:schemeClr val="dk1"/>
                </a:solidFill>
                <a:effectLst/>
                <a:uFillTx/>
                <a:latin typeface="Calibri"/>
              </a:rPr>
              <a:t>Escapes special characters automatically.</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142920"/>
            <a:ext cx="8229240" cy="856800"/>
          </a:xfrm>
          <a:prstGeom prst="rect">
            <a:avLst/>
          </a:prstGeom>
          <a:noFill/>
          <a:ln w="0">
            <a:noFill/>
          </a:ln>
        </p:spPr>
        <p:txBody>
          <a:bodyPr lIns="91440" tIns="45720" rIns="91440" bIns="45720" anchor="ctr">
            <a:normAutofit fontScale="92500" lnSpcReduction="9999"/>
          </a:bodyPr>
          <a:p>
            <a:pPr indent="0" algn="ctr" defTabSz="914400">
              <a:lnSpc>
                <a:spcPct val="100000"/>
              </a:lnSpc>
              <a:buNone/>
            </a:pPr>
            <a:r>
              <a:rPr lang="en-US" sz="6000" b="1" u="none" strike="noStrike">
                <a:solidFill>
                  <a:schemeClr val="dk1"/>
                </a:solidFill>
                <a:effectLst/>
                <a:uFillTx/>
                <a:latin typeface="Calibri"/>
              </a:rPr>
              <a:t>Transactions</a:t>
            </a:r>
            <a:endParaRPr lang="en-US" sz="6000" b="0" u="none" strike="noStrike">
              <a:solidFill>
                <a:schemeClr val="dk1"/>
              </a:solidFill>
              <a:effectLst/>
              <a:uFillTx/>
              <a:latin typeface="Calibri"/>
            </a:endParaRPr>
          </a:p>
        </p:txBody>
      </p:sp>
      <p:sp>
        <p:nvSpPr>
          <p:cNvPr id="92" name="PlaceHolder 2"/>
          <p:cNvSpPr>
            <a:spLocks noGrp="1"/>
          </p:cNvSpPr>
          <p:nvPr>
            <p:ph/>
          </p:nvPr>
        </p:nvSpPr>
        <p:spPr>
          <a:xfrm>
            <a:off x="214200" y="1036440"/>
            <a:ext cx="8715240" cy="4025520"/>
          </a:xfrm>
          <a:prstGeom prst="rect">
            <a:avLst/>
          </a:prstGeom>
          <a:noFill/>
          <a:ln w="0">
            <a:noFill/>
          </a:ln>
        </p:spPr>
        <p:txBody>
          <a:bodyPr lIns="91440" tIns="45720" rIns="91440" bIns="45720" anchor="t">
            <a:noAutofit/>
          </a:bodyPr>
          <a:p>
            <a:pPr marL="343080" indent="-343080" algn="l" defTabSz="914400">
              <a:lnSpc>
                <a:spcPct val="100000"/>
              </a:lnSpc>
              <a:spcBef>
                <a:spcPts val="601"/>
              </a:spcBef>
              <a:buClr>
                <a:srgbClr val="000000"/>
              </a:buClr>
              <a:buFont typeface="Arial"/>
              <a:buChar char="•"/>
            </a:pPr>
            <a:r>
              <a:rPr lang="en-US" sz="2400" b="0" u="none" strike="noStrike">
                <a:solidFill>
                  <a:schemeClr val="dk1"/>
                </a:solidFill>
                <a:effectLst/>
                <a:uFillTx/>
                <a:latin typeface="Calibri"/>
              </a:rPr>
              <a:t>Managing Transactions</a:t>
            </a:r>
            <a:endParaRPr lang="en-US" sz="2400" b="0" u="none" strike="noStrike">
              <a:solidFill>
                <a:schemeClr val="dk1"/>
              </a:solidFill>
              <a:effectLst/>
              <a:uFillTx/>
              <a:latin typeface="Calibri"/>
            </a:endParaRPr>
          </a:p>
          <a:p>
            <a:pPr marL="743040" lvl="1" indent="-285840" algn="l"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Definition:</a:t>
            </a:r>
            <a:r>
              <a:rPr lang="en-US" sz="2400" b="0" u="none" strike="noStrike">
                <a:solidFill>
                  <a:schemeClr val="dk1"/>
                </a:solidFill>
                <a:effectLst/>
                <a:uFillTx/>
                <a:latin typeface="Calibri"/>
              </a:rPr>
              <a:t> A group of SQL operations treated as a single unit.</a:t>
            </a:r>
            <a:endParaRPr lang="en-US" sz="2400" b="0" u="none" strike="noStrike">
              <a:solidFill>
                <a:schemeClr val="dk1"/>
              </a:solidFill>
              <a:effectLst/>
              <a:uFillTx/>
              <a:latin typeface="Calibri"/>
            </a:endParaRPr>
          </a:p>
          <a:p>
            <a:pPr marL="743040" lvl="1" indent="-285840" algn="l"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ACID Properties:</a:t>
            </a:r>
            <a:r>
              <a:rPr lang="en-US" sz="2400" b="0" u="none" strike="noStrike">
                <a:solidFill>
                  <a:schemeClr val="dk1"/>
                </a:solidFill>
                <a:effectLst/>
                <a:uFillTx/>
                <a:latin typeface="Calibri"/>
              </a:rPr>
              <a:t> Atomicity, Consistency, Isolation, Durability.</a:t>
            </a:r>
            <a:endParaRPr lang="en-US" sz="2400" b="0" u="none" strike="noStrike">
              <a:solidFill>
                <a:schemeClr val="dk1"/>
              </a:solidFill>
              <a:effectLst/>
              <a:uFillTx/>
              <a:latin typeface="Calibri"/>
            </a:endParaRPr>
          </a:p>
          <a:p>
            <a:pPr marL="743040" lvl="1" indent="-285840" algn="l"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Control:</a:t>
            </a:r>
            <a:endParaRPr lang="en-US" sz="2400" b="0" u="none" strike="noStrike">
              <a:solidFill>
                <a:schemeClr val="dk1"/>
              </a:solidFill>
              <a:effectLst/>
              <a:uFillTx/>
              <a:latin typeface="Calibri"/>
            </a:endParaRPr>
          </a:p>
          <a:p>
            <a:pPr marL="1143000" lvl="2" indent="-228600" algn="l" defTabSz="914400">
              <a:lnSpc>
                <a:spcPct val="100000"/>
              </a:lnSpc>
              <a:spcBef>
                <a:spcPts val="601"/>
              </a:spcBef>
              <a:buClr>
                <a:srgbClr val="000000"/>
              </a:buClr>
              <a:buFont typeface="Arial"/>
              <a:buChar char="•"/>
            </a:pPr>
            <a:r>
              <a:rPr lang="en-US" sz="2400" b="0" u="none" strike="noStrike">
                <a:solidFill>
                  <a:schemeClr val="dk1"/>
                </a:solidFill>
                <a:effectLst/>
                <a:uFillTx/>
                <a:latin typeface="Calibri"/>
              </a:rPr>
              <a:t>conn.setAutoCommit(false)</a:t>
            </a:r>
            <a:endParaRPr lang="en-US" sz="2400" b="0" u="none" strike="noStrike">
              <a:solidFill>
                <a:schemeClr val="dk1"/>
              </a:solidFill>
              <a:effectLst/>
              <a:uFillTx/>
              <a:latin typeface="Calibri"/>
            </a:endParaRPr>
          </a:p>
          <a:p>
            <a:pPr marL="1143000" lvl="2" indent="-228600" algn="l" defTabSz="914400">
              <a:lnSpc>
                <a:spcPct val="100000"/>
              </a:lnSpc>
              <a:spcBef>
                <a:spcPts val="601"/>
              </a:spcBef>
              <a:buClr>
                <a:srgbClr val="000000"/>
              </a:buClr>
              <a:buFont typeface="Arial"/>
              <a:buChar char="•"/>
            </a:pPr>
            <a:r>
              <a:rPr lang="en-US" sz="2400" b="0" u="none" strike="noStrike">
                <a:solidFill>
                  <a:schemeClr val="dk1"/>
                </a:solidFill>
                <a:effectLst/>
                <a:uFillTx/>
                <a:latin typeface="Calibri"/>
              </a:rPr>
              <a:t>conn.commit() (Save changes)</a:t>
            </a:r>
            <a:endParaRPr lang="en-US" sz="2400" b="0" u="none" strike="noStrike">
              <a:solidFill>
                <a:schemeClr val="dk1"/>
              </a:solidFill>
              <a:effectLst/>
              <a:uFillTx/>
              <a:latin typeface="Calibri"/>
            </a:endParaRPr>
          </a:p>
          <a:p>
            <a:pPr marL="1143000" lvl="2" indent="-228600" algn="l" defTabSz="914400">
              <a:lnSpc>
                <a:spcPct val="100000"/>
              </a:lnSpc>
              <a:spcBef>
                <a:spcPts val="601"/>
              </a:spcBef>
              <a:buClr>
                <a:srgbClr val="000000"/>
              </a:buClr>
              <a:buFont typeface="Arial"/>
              <a:buChar char="•"/>
            </a:pPr>
            <a:r>
              <a:rPr lang="en-US" sz="2400" b="0" u="none" strike="noStrike">
                <a:solidFill>
                  <a:schemeClr val="dk1"/>
                </a:solidFill>
                <a:effectLst/>
                <a:uFillTx/>
                <a:latin typeface="Calibri"/>
              </a:rPr>
              <a:t>conn.rollback() (Undo changes on error)</a:t>
            </a:r>
            <a:endParaRPr lang="en-US" sz="2400" b="0" u="none" strike="noStrike">
              <a:solidFill>
                <a:schemeClr val="dk1"/>
              </a:solidFill>
              <a:effectLst/>
              <a:uFillTx/>
              <a:latin typeface="Calibri"/>
            </a:endParaRPr>
          </a:p>
          <a:p>
            <a:pPr marL="743040" lvl="1" indent="-285840" algn="l" defTabSz="914400">
              <a:lnSpc>
                <a:spcPct val="100000"/>
              </a:lnSpc>
              <a:spcBef>
                <a:spcPts val="601"/>
              </a:spcBef>
              <a:buClr>
                <a:srgbClr val="000000"/>
              </a:buClr>
              <a:buFont typeface="Arial"/>
              <a:buChar char="–"/>
            </a:pPr>
            <a:r>
              <a:rPr lang="en-US" sz="2400" b="1" u="none" strike="noStrike">
                <a:solidFill>
                  <a:schemeClr val="dk1"/>
                </a:solidFill>
                <a:effectLst/>
                <a:uFillTx/>
                <a:latin typeface="Calibri"/>
              </a:rPr>
              <a:t>Use Case:</a:t>
            </a:r>
            <a:r>
              <a:rPr lang="en-US" sz="2400" b="0" u="none" strike="noStrike">
                <a:solidFill>
                  <a:schemeClr val="dk1"/>
                </a:solidFill>
                <a:effectLst/>
                <a:uFillTx/>
                <a:latin typeface="Calibri"/>
              </a:rPr>
              <a:t> Transferring money (Debit A + Credit B must both succeed).</a:t>
            </a:r>
            <a:endParaRPr lang="en-US" sz="2400" b="0" u="none" strike="noStrike">
              <a:solidFill>
                <a:schemeClr val="dk1"/>
              </a:solidFill>
              <a:effectLst/>
              <a:uFillTx/>
              <a:latin typeface="Calibri"/>
            </a:endParaRPr>
          </a:p>
        </p:txBody>
      </p:sp>
      <p:sp>
        <p:nvSpPr>
          <p:cNvPr id="93" name="Rectangle 3"/>
          <p:cNvSpPr/>
          <p:nvPr/>
        </p:nvSpPr>
        <p:spPr>
          <a:xfrm>
            <a:off x="3286080" y="4583520"/>
            <a:ext cx="5714640" cy="224640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2000" b="1" u="none" strike="noStrike">
                <a:solidFill>
                  <a:schemeClr val="dk1"/>
                </a:solidFill>
                <a:effectLst/>
                <a:uFillTx/>
                <a:latin typeface="Courier New"/>
              </a:rPr>
              <a:t>conn.setAutoCommit(false);</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try {</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a:t>
            </a:r>
            <a:r>
              <a:rPr lang="en-US" sz="2000" b="1" u="none" strike="noStrike">
                <a:solidFill>
                  <a:schemeClr val="lt1">
                    <a:lumMod val="50000"/>
                  </a:schemeClr>
                </a:solidFill>
                <a:effectLst/>
                <a:uFillTx/>
                <a:latin typeface="Courier New"/>
              </a:rPr>
              <a:t>// execute updates</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conn.commit();</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catch (SQLException e) {</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    conn.rollback();</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a:t>
            </a:r>
            <a:endParaRPr lang="en-CA"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0" u="none" strike="noStrike">
                <a:solidFill>
                  <a:schemeClr val="dk1"/>
                </a:solidFill>
                <a:effectLst/>
                <a:uFillTx/>
                <a:latin typeface="Calibri"/>
              </a:rPr>
              <a:t>JDBC in Swing Applications</a:t>
            </a:r>
            <a:endParaRPr lang="en-US" sz="4400" b="0" u="none" strike="noStrike">
              <a:solidFill>
                <a:schemeClr val="dk1"/>
              </a:solidFill>
              <a:effectLst/>
              <a:uFillTx/>
              <a:latin typeface="Calibri"/>
            </a:endParaRPr>
          </a:p>
        </p:txBody>
      </p:sp>
      <p:sp>
        <p:nvSpPr>
          <p:cNvPr id="95" name="PlaceHolder 2"/>
          <p:cNvSpPr>
            <a:spLocks noGrp="1"/>
          </p:cNvSpPr>
          <p:nvPr>
            <p:ph/>
          </p:nvPr>
        </p:nvSpPr>
        <p:spPr>
          <a:xfrm>
            <a:off x="457200" y="1600200"/>
            <a:ext cx="8229240" cy="4525560"/>
          </a:xfrm>
          <a:prstGeom prst="rect">
            <a:avLst/>
          </a:prstGeom>
          <a:noFill/>
          <a:ln w="0">
            <a:noFill/>
          </a:ln>
        </p:spPr>
        <p:txBody>
          <a:bodyPr lIns="91440" tIns="45720" rIns="91440" bIns="45720" anchor="t">
            <a:normAutofit/>
          </a:bodyPr>
          <a:p>
            <a:pPr marL="343080" indent="-34308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Integrating Database with GUI</a:t>
            </a:r>
            <a:endParaRPr lang="en-US" sz="24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Problem: Database operations are blocking I/O.</a:t>
            </a:r>
            <a:endParaRPr lang="en-US" sz="24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Rule: NEVER run JDBC code on the Event Dispatch Thread (EDT).</a:t>
            </a:r>
            <a:endParaRPr lang="en-US" sz="24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Result: UI freezes while waiting for DB response.</a:t>
            </a:r>
            <a:endParaRPr lang="en-US" sz="24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Solution: Use SwingWorker.</a:t>
            </a:r>
            <a:endParaRPr lang="en-US" sz="24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doInBackground(): Run JDBC query.</a:t>
            </a:r>
            <a:endParaRPr lang="en-US" sz="2400" b="0" u="none" strike="noStrike">
              <a:solidFill>
                <a:schemeClr val="dk1"/>
              </a:solidFill>
              <a:effectLst/>
              <a:uFillTx/>
              <a:latin typeface="Calibri"/>
            </a:endParaRPr>
          </a:p>
          <a:p>
            <a:pPr marL="743040" lvl="1" indent="-285840" algn="l" defTabSz="914400">
              <a:lnSpc>
                <a:spcPct val="100000"/>
              </a:lnSpc>
              <a:spcBef>
                <a:spcPts val="601"/>
              </a:spcBef>
              <a:spcAft>
                <a:spcPts val="601"/>
              </a:spcAft>
              <a:buClr>
                <a:srgbClr val="000000"/>
              </a:buClr>
              <a:buFont typeface="Arial"/>
              <a:buChar char="–"/>
            </a:pPr>
            <a:r>
              <a:rPr lang="en-US" sz="2400" b="0" u="none" strike="noStrike">
                <a:solidFill>
                  <a:schemeClr val="dk1"/>
                </a:solidFill>
                <a:effectLst/>
                <a:uFillTx/>
                <a:latin typeface="Calibri"/>
              </a:rPr>
              <a:t>done(): Update JTable or JLabel.</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712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1" u="none" strike="noStrike">
                <a:solidFill>
                  <a:schemeClr val="dk1"/>
                </a:solidFill>
                <a:effectLst/>
                <a:uFillTx/>
                <a:latin typeface="Calibri"/>
              </a:rPr>
              <a:t>The DAO Pattern</a:t>
            </a:r>
            <a:endParaRPr lang="en-US" sz="4400" b="0" u="none" strike="noStrike">
              <a:solidFill>
                <a:schemeClr val="dk1"/>
              </a:solidFill>
              <a:effectLst/>
              <a:uFillTx/>
              <a:latin typeface="Calibri"/>
            </a:endParaRPr>
          </a:p>
        </p:txBody>
      </p:sp>
      <p:sp>
        <p:nvSpPr>
          <p:cNvPr id="97" name="PlaceHolder 2"/>
          <p:cNvSpPr>
            <a:spLocks noGrp="1"/>
          </p:cNvSpPr>
          <p:nvPr>
            <p:ph/>
          </p:nvPr>
        </p:nvSpPr>
        <p:spPr>
          <a:xfrm>
            <a:off x="457200" y="1285920"/>
            <a:ext cx="8229240" cy="3685680"/>
          </a:xfrm>
          <a:prstGeom prst="rect">
            <a:avLst/>
          </a:prstGeom>
          <a:noFill/>
          <a:ln w="0">
            <a:noFill/>
          </a:ln>
        </p:spPr>
        <p:txBody>
          <a:bodyPr lIns="91440" tIns="45720" rIns="91440" bIns="45720" anchor="t">
            <a:normAutofit/>
          </a:bodyPr>
          <a:p>
            <a:pPr marL="343080" indent="-34308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Data Access Object (DAO) Pattern</a:t>
            </a:r>
            <a:endParaRPr lang="en-US" sz="24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Problem:</a:t>
            </a:r>
            <a:r>
              <a:rPr lang="en-US" sz="2400" b="0" u="none" strike="noStrike">
                <a:solidFill>
                  <a:schemeClr val="dk1"/>
                </a:solidFill>
                <a:effectLst/>
                <a:uFillTx/>
                <a:latin typeface="Calibri"/>
              </a:rPr>
              <a:t> Mixing SQL code with Swing UI code creates "Spaghetti Code".</a:t>
            </a:r>
            <a:endParaRPr lang="en-US" sz="24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Solution:</a:t>
            </a:r>
            <a:r>
              <a:rPr lang="en-US" sz="2400" b="0" u="none" strike="noStrike">
                <a:solidFill>
                  <a:schemeClr val="dk1"/>
                </a:solidFill>
                <a:effectLst/>
                <a:uFillTx/>
                <a:latin typeface="Calibri"/>
              </a:rPr>
              <a:t> Separate concerns.</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View:</a:t>
            </a:r>
            <a:r>
              <a:rPr lang="en-US" sz="2400" b="0" u="none" strike="noStrike">
                <a:solidFill>
                  <a:schemeClr val="dk1"/>
                </a:solidFill>
                <a:effectLst/>
                <a:uFillTx/>
                <a:latin typeface="Calibri"/>
              </a:rPr>
              <a:t> Swing Components (JFrame).</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Model:</a:t>
            </a:r>
            <a:r>
              <a:rPr lang="en-US" sz="2400" b="0" u="none" strike="noStrike">
                <a:solidFill>
                  <a:schemeClr val="dk1"/>
                </a:solidFill>
                <a:effectLst/>
                <a:uFillTx/>
                <a:latin typeface="Calibri"/>
              </a:rPr>
              <a:t> Data Objects (User class).</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DAO:</a:t>
            </a:r>
            <a:r>
              <a:rPr lang="en-US" sz="2400" b="0" u="none" strike="noStrike">
                <a:solidFill>
                  <a:schemeClr val="dk1"/>
                </a:solidFill>
                <a:effectLst/>
                <a:uFillTx/>
                <a:latin typeface="Calibri"/>
              </a:rPr>
              <a:t> Database Logic (UserDAO class).</a:t>
            </a:r>
            <a:endParaRPr lang="en-US" sz="24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Benefit:</a:t>
            </a:r>
            <a:r>
              <a:rPr lang="en-US" sz="2400" b="0" u="none" strike="noStrike">
                <a:solidFill>
                  <a:schemeClr val="dk1"/>
                </a:solidFill>
                <a:effectLst/>
                <a:uFillTx/>
                <a:latin typeface="Calibri"/>
              </a:rPr>
              <a:t> Easier to test, maintain, and swap databases.</a:t>
            </a:r>
            <a:endParaRPr lang="en-US" sz="2400" b="0" u="none" strike="noStrike">
              <a:solidFill>
                <a:schemeClr val="dk1"/>
              </a:solidFill>
              <a:effectLst/>
              <a:uFillTx/>
              <a:latin typeface="Calibri"/>
            </a:endParaRPr>
          </a:p>
        </p:txBody>
      </p:sp>
      <p:sp>
        <p:nvSpPr>
          <p:cNvPr id="98" name="Rectangle 3"/>
          <p:cNvSpPr/>
          <p:nvPr/>
        </p:nvSpPr>
        <p:spPr>
          <a:xfrm>
            <a:off x="642960" y="5095080"/>
            <a:ext cx="7857720" cy="147708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1800" b="1" u="none" strike="noStrike">
                <a:solidFill>
                  <a:schemeClr val="lt1">
                    <a:lumMod val="50000"/>
                  </a:schemeClr>
                </a:solidFill>
                <a:effectLst/>
                <a:uFillTx/>
                <a:latin typeface="Courier New"/>
              </a:rPr>
              <a:t>// UserDAO.java</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public class UserDAO {</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    public void save(User u) { ... } </a:t>
            </a:r>
            <a:r>
              <a:rPr lang="en-US" sz="1800" b="1" u="none" strike="noStrike">
                <a:solidFill>
                  <a:schemeClr val="lt1">
                    <a:lumMod val="50000"/>
                  </a:schemeClr>
                </a:solidFill>
                <a:effectLst/>
                <a:uFillTx/>
                <a:latin typeface="Courier New"/>
              </a:rPr>
              <a:t>// JDBC code here</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    public List&lt;User&gt; getAll() { ... }</a:t>
            </a:r>
            <a:endParaRPr lang="en-CA"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ourier New"/>
              </a:rPr>
              <a:t>}</a:t>
            </a:r>
            <a:endParaRPr lang="en-CA"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400" b="1" u="none" strike="noStrike">
                <a:solidFill>
                  <a:schemeClr val="dk1"/>
                </a:solidFill>
                <a:effectLst/>
                <a:uFillTx/>
                <a:latin typeface="Calibri"/>
              </a:rPr>
              <a:t>Connection Pooling</a:t>
            </a:r>
            <a:endParaRPr lang="en-US" sz="4400" b="0" u="none" strike="noStrike">
              <a:solidFill>
                <a:schemeClr val="dk1"/>
              </a:solidFill>
              <a:effectLst/>
              <a:uFillTx/>
              <a:latin typeface="Calibri"/>
            </a:endParaRPr>
          </a:p>
        </p:txBody>
      </p:sp>
      <p:sp>
        <p:nvSpPr>
          <p:cNvPr id="100" name="PlaceHolder 2"/>
          <p:cNvSpPr>
            <a:spLocks noGrp="1"/>
          </p:cNvSpPr>
          <p:nvPr>
            <p:ph/>
          </p:nvPr>
        </p:nvSpPr>
        <p:spPr>
          <a:xfrm>
            <a:off x="457200" y="1600200"/>
            <a:ext cx="8186400" cy="2257200"/>
          </a:xfrm>
          <a:prstGeom prst="rect">
            <a:avLst/>
          </a:prstGeom>
          <a:noFill/>
          <a:ln w="0">
            <a:noFill/>
          </a:ln>
        </p:spPr>
        <p:txBody>
          <a:bodyPr lIns="91440" tIns="45720" rIns="91440" bIns="45720" anchor="t">
            <a:normAutofit/>
          </a:bodyPr>
          <a:p>
            <a:pPr marL="343080" indent="-343080" algn="l" defTabSz="914400">
              <a:lnSpc>
                <a:spcPct val="100000"/>
              </a:lnSpc>
              <a:spcBef>
                <a:spcPts val="479"/>
              </a:spcBef>
              <a:buClr>
                <a:srgbClr val="000000"/>
              </a:buClr>
              <a:buFont typeface="Arial"/>
              <a:buChar char="•"/>
            </a:pPr>
            <a:r>
              <a:rPr lang="en-US" sz="2600" b="1" u="none" strike="noStrike">
                <a:solidFill>
                  <a:schemeClr val="dk1"/>
                </a:solidFill>
                <a:effectLst/>
                <a:uFillTx/>
                <a:latin typeface="Calibri"/>
              </a:rPr>
              <a:t>Performance: Connection Pooling</a:t>
            </a:r>
            <a:endParaRPr lang="en-US" sz="26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Problem:</a:t>
            </a:r>
            <a:r>
              <a:rPr lang="en-US" sz="2400" b="0" u="none" strike="noStrike">
                <a:solidFill>
                  <a:schemeClr val="dk1"/>
                </a:solidFill>
                <a:effectLst/>
                <a:uFillTx/>
                <a:latin typeface="Calibri"/>
              </a:rPr>
              <a:t> Creating a new Connection is slow (handshake, authentication).</a:t>
            </a:r>
            <a:endParaRPr lang="en-US" sz="24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Solution:</a:t>
            </a:r>
            <a:r>
              <a:rPr lang="en-US" sz="2400" b="0" u="none" strike="noStrike">
                <a:solidFill>
                  <a:schemeClr val="dk1"/>
                </a:solidFill>
                <a:effectLst/>
                <a:uFillTx/>
                <a:latin typeface="Calibri"/>
              </a:rPr>
              <a:t> Reuse existing connections from a "Pool".</a:t>
            </a:r>
            <a:endParaRPr lang="en-US" sz="2400" b="0" u="none" strike="noStrike">
              <a:solidFill>
                <a:schemeClr val="dk1"/>
              </a:solidFill>
              <a:effectLst/>
              <a:uFillTx/>
              <a:latin typeface="Calibri"/>
            </a:endParaRPr>
          </a:p>
          <a:p>
            <a:pPr marL="343080" indent="-34308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Libraries:</a:t>
            </a:r>
            <a:r>
              <a:rPr lang="en-US" sz="2400" b="0" u="none" strike="noStrike">
                <a:solidFill>
                  <a:schemeClr val="dk1"/>
                </a:solidFill>
                <a:effectLst/>
                <a:uFillTx/>
                <a:latin typeface="Calibri"/>
              </a:rPr>
              <a:t> HikariCP, Apache DBCP.</a:t>
            </a:r>
            <a:endParaRPr lang="en-US" sz="2400" b="0" u="none" strike="noStrike">
              <a:solidFill>
                <a:schemeClr val="dk1"/>
              </a:solidFill>
              <a:effectLst/>
              <a:uFillTx/>
              <a:latin typeface="Calibri"/>
            </a:endParaRPr>
          </a:p>
        </p:txBody>
      </p:sp>
      <p:sp>
        <p:nvSpPr>
          <p:cNvPr id="101" name="Content Placeholder 2"/>
          <p:cNvSpPr/>
          <p:nvPr/>
        </p:nvSpPr>
        <p:spPr>
          <a:xfrm>
            <a:off x="451800" y="5572080"/>
            <a:ext cx="8186400" cy="785520"/>
          </a:xfrm>
          <a:prstGeom prst="rect">
            <a:avLst/>
          </a:prstGeom>
          <a:noFill/>
          <a:ln w="0">
            <a:noFill/>
          </a:ln>
        </p:spPr>
        <p:style>
          <a:lnRef idx="0"/>
          <a:fillRef idx="0"/>
          <a:effectRef idx="0"/>
          <a:fontRef idx="minor"/>
        </p:style>
        <p:txBody>
          <a:bodyPr anchor="t">
            <a:noAutofit/>
          </a:bodyPr>
          <a:p>
            <a:pPr marL="343080" indent="-343080"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Note:</a:t>
            </a:r>
            <a:r>
              <a:rPr lang="en-US" sz="2400" b="0" u="none" strike="noStrike">
                <a:solidFill>
                  <a:schemeClr val="dk1"/>
                </a:solidFill>
                <a:effectLst/>
                <a:uFillTx/>
                <a:latin typeface="Calibri"/>
              </a:rPr>
              <a:t> Essential for high-traffic web apps; optional for simple desktop apps.</a:t>
            </a:r>
            <a:endParaRPr lang="en-CA" sz="2400" b="0" u="none" strike="noStrike">
              <a:solidFill>
                <a:srgbClr val="000000"/>
              </a:solidFill>
              <a:effectLst/>
              <a:uFillTx/>
              <a:latin typeface="Arial"/>
            </a:endParaRPr>
          </a:p>
        </p:txBody>
      </p:sp>
      <p:sp>
        <p:nvSpPr>
          <p:cNvPr id="102" name="Rectangle 4"/>
          <p:cNvSpPr/>
          <p:nvPr/>
        </p:nvSpPr>
        <p:spPr>
          <a:xfrm>
            <a:off x="571320" y="4127760"/>
            <a:ext cx="7929360" cy="1015200"/>
          </a:xfrm>
          <a:prstGeom prst="rect">
            <a:avLst/>
          </a:prstGeom>
          <a:noFill/>
          <a:ln w="0">
            <a:solidFill>
              <a:srgbClr val="4F81BD"/>
            </a:solidFill>
          </a:ln>
        </p:spPr>
        <p:style>
          <a:lnRef idx="0"/>
          <a:fillRef idx="0"/>
          <a:effectRef idx="0"/>
          <a:fontRef idx="minor"/>
        </p:style>
        <p:txBody>
          <a:bodyPr lIns="90000" tIns="45000" rIns="90000" bIns="45000" anchor="t">
            <a:spAutoFit/>
          </a:bodyPr>
          <a:p>
            <a:pPr defTabSz="914400">
              <a:lnSpc>
                <a:spcPct val="100000"/>
              </a:lnSpc>
            </a:pPr>
            <a:r>
              <a:rPr lang="en-US" sz="2000" b="1" u="none" strike="noStrike">
                <a:solidFill>
                  <a:schemeClr val="lt1">
                    <a:lumMod val="50000"/>
                  </a:schemeClr>
                </a:solidFill>
                <a:effectLst/>
                <a:uFillTx/>
                <a:latin typeface="Courier New"/>
              </a:rPr>
              <a:t>// Instead of DriverManager</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DataSource ds = HikariConfig.getDataSource();</a:t>
            </a:r>
            <a:endParaRPr lang="en-CA"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ourier New"/>
              </a:rPr>
              <a:t>try (Connection conn = ds.getConnection()) { ... }</a:t>
            </a:r>
            <a:endParaRPr lang="en-CA"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14292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800" b="1" u="none" strike="noStrike">
                <a:solidFill>
                  <a:schemeClr val="dk1"/>
                </a:solidFill>
                <a:effectLst/>
                <a:uFillTx/>
                <a:latin typeface="Calibri"/>
              </a:rPr>
              <a:t>Common Pitfalls</a:t>
            </a:r>
            <a:endParaRPr lang="en-US" sz="4800" b="0" u="none" strike="noStrike">
              <a:solidFill>
                <a:schemeClr val="dk1"/>
              </a:solidFill>
              <a:effectLst/>
              <a:uFillTx/>
              <a:latin typeface="Calibri"/>
            </a:endParaRPr>
          </a:p>
        </p:txBody>
      </p:sp>
      <p:sp>
        <p:nvSpPr>
          <p:cNvPr id="104" name="PlaceHolder 2"/>
          <p:cNvSpPr>
            <a:spLocks noGrp="1"/>
          </p:cNvSpPr>
          <p:nvPr>
            <p:ph/>
          </p:nvPr>
        </p:nvSpPr>
        <p:spPr>
          <a:xfrm>
            <a:off x="457200" y="1357200"/>
            <a:ext cx="8229240" cy="5071680"/>
          </a:xfrm>
          <a:prstGeom prst="rect">
            <a:avLst/>
          </a:prstGeom>
          <a:noFill/>
          <a:ln w="0">
            <a:noFill/>
          </a:ln>
        </p:spPr>
        <p:txBody>
          <a:bodyPr lIns="91440" tIns="45720" rIns="91440" bIns="45720" anchor="t">
            <a:noAutofit/>
          </a:bodyPr>
          <a:p>
            <a:pPr marL="343080" indent="-34308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Title:</a:t>
            </a:r>
            <a:r>
              <a:rPr lang="en-US" sz="2400" b="0" u="none" strike="noStrike">
                <a:solidFill>
                  <a:schemeClr val="dk1"/>
                </a:solidFill>
                <a:effectLst/>
                <a:uFillTx/>
                <a:latin typeface="Calibri"/>
              </a:rPr>
              <a:t> JDBC Best Practices</a:t>
            </a:r>
            <a:endParaRPr lang="en-US" sz="24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 Do:</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Use PreparedStatement always.</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Use Try-With-Resources for Connection, Statement, ResultSet.</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Handle SQLException specifically.</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Store passwords securely (not in code!).</a:t>
            </a:r>
            <a:endParaRPr lang="en-US" sz="24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1" u="none" strike="noStrike">
                <a:solidFill>
                  <a:schemeClr val="dk1"/>
                </a:solidFill>
                <a:effectLst/>
                <a:uFillTx/>
                <a:latin typeface="Calibri"/>
              </a:rPr>
              <a:t>❌ Don't:</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Hardcode DB credentials in source control.</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Run DB queries on the EDT.</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Keep Connections open longer than necessary.</a:t>
            </a:r>
            <a:endParaRPr lang="en-US" sz="24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Ignore warnings from the database.</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71280"/>
            <a:ext cx="8229240" cy="1142640"/>
          </a:xfrm>
          <a:prstGeom prst="rect">
            <a:avLst/>
          </a:prstGeom>
          <a:noFill/>
          <a:ln w="0">
            <a:noFill/>
          </a:ln>
        </p:spPr>
        <p:txBody>
          <a:bodyPr lIns="91440" tIns="45720" rIns="91440" bIns="45720" anchor="ctr">
            <a:normAutofit/>
          </a:bodyPr>
          <a:p>
            <a:pPr indent="0" algn="ctr" defTabSz="914400">
              <a:lnSpc>
                <a:spcPct val="100000"/>
              </a:lnSpc>
              <a:buNone/>
            </a:pPr>
            <a:r>
              <a:rPr lang="en-US" sz="4800" b="1" u="none" strike="noStrike">
                <a:solidFill>
                  <a:schemeClr val="dk1"/>
                </a:solidFill>
                <a:effectLst/>
                <a:uFillTx/>
                <a:latin typeface="Calibri"/>
              </a:rPr>
              <a:t>Summary &amp; Lab</a:t>
            </a:r>
            <a:endParaRPr lang="en-US" sz="4800" b="0" u="none" strike="noStrike">
              <a:solidFill>
                <a:schemeClr val="dk1"/>
              </a:solidFill>
              <a:effectLst/>
              <a:uFillTx/>
              <a:latin typeface="Calibri"/>
            </a:endParaRPr>
          </a:p>
        </p:txBody>
      </p:sp>
      <p:sp>
        <p:nvSpPr>
          <p:cNvPr id="106" name="PlaceHolder 2"/>
          <p:cNvSpPr>
            <a:spLocks noGrp="1"/>
          </p:cNvSpPr>
          <p:nvPr>
            <p:ph/>
          </p:nvPr>
        </p:nvSpPr>
        <p:spPr>
          <a:xfrm>
            <a:off x="457200" y="1214280"/>
            <a:ext cx="8229240" cy="5357520"/>
          </a:xfrm>
          <a:prstGeom prst="rect">
            <a:avLst/>
          </a:prstGeom>
          <a:noFill/>
          <a:ln w="0">
            <a:noFill/>
          </a:ln>
        </p:spPr>
        <p:txBody>
          <a:bodyPr lIns="91440" tIns="45720" rIns="91440" bIns="45720" anchor="t">
            <a:noAutofit/>
          </a:bodyPr>
          <a:p>
            <a:pPr marL="343080" indent="-343080" algn="l" defTabSz="914400">
              <a:lnSpc>
                <a:spcPct val="100000"/>
              </a:lnSpc>
              <a:buClr>
                <a:srgbClr val="000000"/>
              </a:buClr>
              <a:buFont typeface="Arial"/>
              <a:buChar char="•"/>
            </a:pPr>
            <a:r>
              <a:rPr lang="en-US" sz="2400" b="1" u="none" strike="noStrike">
                <a:solidFill>
                  <a:schemeClr val="dk1"/>
                </a:solidFill>
                <a:effectLst/>
                <a:uFillTx/>
                <a:latin typeface="Calibri"/>
              </a:rPr>
              <a:t>Summary</a:t>
            </a:r>
            <a:r>
              <a:rPr lang="en-US" sz="2400" b="0" u="none" strike="noStrike">
                <a:solidFill>
                  <a:schemeClr val="dk1"/>
                </a:solidFill>
                <a:effectLst/>
                <a:uFillTx/>
                <a:latin typeface="Calibri"/>
              </a:rPr>
              <a:t>:</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JDBC connects Java to SQL databases.</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Use PreparedStatement for security.</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Manage transactions for data integrity.</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Keep DB logic separate from UI (DAO).</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Run DB tasks in background threads.</a:t>
            </a:r>
            <a:endParaRPr lang="en-US" sz="2400" b="0" u="none" strike="noStrike">
              <a:solidFill>
                <a:schemeClr val="dk1"/>
              </a:solidFill>
              <a:effectLst/>
              <a:uFillTx/>
              <a:latin typeface="Calibri"/>
            </a:endParaRPr>
          </a:p>
          <a:p>
            <a:pPr marL="343080" indent="-343080" algn="l" defTabSz="914400">
              <a:lnSpc>
                <a:spcPct val="100000"/>
              </a:lnSpc>
              <a:buClr>
                <a:srgbClr val="000000"/>
              </a:buClr>
              <a:buFont typeface="Arial"/>
              <a:buChar char="•"/>
            </a:pPr>
            <a:r>
              <a:rPr lang="en-US" sz="2400" b="1" u="none" strike="noStrike">
                <a:solidFill>
                  <a:schemeClr val="dk1"/>
                </a:solidFill>
                <a:effectLst/>
                <a:uFillTx/>
                <a:latin typeface="Calibri"/>
              </a:rPr>
              <a:t>Lab Exercise</a:t>
            </a:r>
            <a:r>
              <a:rPr lang="en-US" sz="2400" b="0" u="none" strike="noStrike">
                <a:solidFill>
                  <a:schemeClr val="dk1"/>
                </a:solidFill>
                <a:effectLst/>
                <a:uFillTx/>
                <a:latin typeface="Calibri"/>
              </a:rPr>
              <a:t>:</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Task: Create a "Student Manager" Swing App.</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Database: MySQL/SQLite table students (id, name, grade).</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Features:</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Add Student (INSERT).</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View All Students (SELECT into JTable).</a:t>
            </a:r>
            <a:endParaRPr lang="en-US" sz="2400" b="0" u="none" strike="noStrike">
              <a:solidFill>
                <a:schemeClr val="dk1"/>
              </a:solidFill>
              <a:effectLst/>
              <a:uFillTx/>
              <a:latin typeface="Calibri"/>
            </a:endParaRPr>
          </a:p>
          <a:p>
            <a:pPr marL="743040" lvl="1" indent="-285840" algn="l" defTabSz="914400">
              <a:lnSpc>
                <a:spcPct val="100000"/>
              </a:lnSpc>
              <a:buClr>
                <a:srgbClr val="000000"/>
              </a:buClr>
              <a:buFont typeface="Arial"/>
              <a:buChar char="–"/>
            </a:pPr>
            <a:r>
              <a:rPr lang="en-US" sz="2400" b="0" u="none" strike="noStrike">
                <a:solidFill>
                  <a:schemeClr val="dk1"/>
                </a:solidFill>
                <a:effectLst/>
                <a:uFillTx/>
                <a:latin typeface="Calibri"/>
              </a:rPr>
              <a:t>Delete Student (DELETE).</a:t>
            </a:r>
            <a:endParaRPr lang="en-US" sz="2400" b="0" u="none" strike="noStrike">
              <a:solidFill>
                <a:schemeClr val="dk1"/>
              </a:solidFill>
              <a:effectLst/>
              <a:uFillTx/>
              <a:latin typeface="Calibri"/>
            </a:endParaRPr>
          </a:p>
          <a:p>
            <a:pPr marL="343080" indent="-343080" algn="l" defTabSz="914400">
              <a:lnSpc>
                <a:spcPct val="100000"/>
              </a:lnSpc>
              <a:buClr>
                <a:srgbClr val="000000"/>
              </a:buClr>
              <a:buFont typeface="Arial"/>
              <a:buChar char="•"/>
            </a:pPr>
            <a:r>
              <a:rPr lang="en-US" sz="2400" b="1" u="none" strike="noStrike">
                <a:solidFill>
                  <a:schemeClr val="dk1"/>
                </a:solidFill>
                <a:effectLst/>
                <a:uFillTx/>
                <a:latin typeface="Calibri"/>
              </a:rPr>
              <a:t>Requirement</a:t>
            </a:r>
            <a:r>
              <a:rPr lang="en-US" sz="2400" b="0" u="none" strike="noStrike">
                <a:solidFill>
                  <a:schemeClr val="dk1"/>
                </a:solidFill>
                <a:effectLst/>
                <a:uFillTx/>
                <a:latin typeface="Calibri"/>
              </a:rPr>
              <a:t>: Use DAO pattern and SwingWorker.</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1039</TotalTime>
  <Application>LibreOffice/26.2.1.2$Windows_X86_64 LibreOffice_project/620$Build-2</Application>
  <AppVersion>15.0000</AppVersion>
  <Words>1734</Words>
  <Paragraphs>228</Paragraphs>
  <Company>HP</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2026-02-15T10:58:32Z</dcterms:created>
  <dc:creator>tmik</dc:creator>
  <dc:description/>
  <dc:language>en-CA</dc:language>
  <cp:lastModifiedBy/>
  <dcterms:modified xsi:type="dcterms:W3CDTF">2026-03-30T19:26:22Z</dcterms:modified>
  <cp:revision>323</cp:revision>
  <dc:subject/>
  <dc:title>Introduction to Java and Object-Oriented Programming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14</vt:i4>
  </property>
  <property fmtid="{D5CDD505-2E9C-101B-9397-08002B2CF9AE}" pid="3" name="PresentationFormat">
    <vt:lpwstr>On-screen Show (4:3)</vt:lpwstr>
  </property>
  <property fmtid="{D5CDD505-2E9C-101B-9397-08002B2CF9AE}" pid="4" name="Slides">
    <vt:i4>15</vt:i4>
  </property>
</Properties>
</file>