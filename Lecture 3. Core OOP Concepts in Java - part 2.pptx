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61" r:id="rId9"/>
    <p:sldId id="262" r:id="rId10"/>
    <p:sldId id="270" r:id="rId11"/>
    <p:sldId id="263" r:id="rId12"/>
    <p:sldId id="271" r:id="rId13"/>
    <p:sldId id="264" r:id="rId14"/>
    <p:sldId id="265" r:id="rId15"/>
    <p:sldId id="266" r:id="rId16"/>
    <p:sldId id="275" r:id="rId17"/>
    <p:sldId id="272" r:id="rId18"/>
    <p:sldId id="276" r:id="rId19"/>
    <p:sldId id="273" r:id="rId20"/>
    <p:sldId id="274" r:id="rId21"/>
    <p:sldId id="267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32F8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7994" autoAdjust="0"/>
    <p:restoredTop sz="95157" autoAdjust="0"/>
  </p:normalViewPr>
  <p:slideViewPr>
    <p:cSldViewPr>
      <p:cViewPr varScale="1">
        <p:scale>
          <a:sx n="80" d="100"/>
          <a:sy n="80" d="100"/>
        </p:scale>
        <p:origin x="-1795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B2BA9-4FD0-4DC4-B70B-93231BE247F2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36570-A967-4EBE-9949-A932A1A992F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Requirement: Method name, return type, and parameters must match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List holds references of type 'Shape', but objects can be Circle, Square, etc.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Polymorphic call: draws correct shape based on actual object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sz="1400" dirty="0" smtClean="0"/>
              <a:t>1.  S - Single Responsibility Principle (SRP)</a:t>
            </a:r>
          </a:p>
          <a:p>
            <a:pPr>
              <a:buNone/>
            </a:pPr>
            <a:r>
              <a:rPr lang="en-US" sz="1200" dirty="0" smtClean="0"/>
              <a:t>→ A class should have one reason to change.</a:t>
            </a:r>
          </a:p>
          <a:p>
            <a:pPr>
              <a:buNone/>
            </a:pPr>
            <a:r>
              <a:rPr lang="en-US" sz="1200" dirty="0" smtClean="0"/>
              <a:t>Java: Separate User logic from </a:t>
            </a:r>
            <a:r>
              <a:rPr lang="en-US" sz="1200" dirty="0" err="1" smtClean="0"/>
              <a:t>UserDatabase</a:t>
            </a:r>
            <a:r>
              <a:rPr lang="en-US" sz="1200" dirty="0" smtClean="0"/>
              <a:t> logic.</a:t>
            </a:r>
          </a:p>
          <a:p>
            <a:pPr marL="514350" indent="-514350">
              <a:buNone/>
            </a:pPr>
            <a:r>
              <a:rPr lang="en-US" sz="1400" dirty="0" smtClean="0"/>
              <a:t>2.  O - Open/Closed Principle (OCP)</a:t>
            </a:r>
          </a:p>
          <a:p>
            <a:pPr>
              <a:buNone/>
            </a:pPr>
            <a:r>
              <a:rPr lang="en-US" sz="1200" dirty="0" smtClean="0"/>
              <a:t>→ Open for extension, closed for modification.</a:t>
            </a:r>
          </a:p>
          <a:p>
            <a:pPr>
              <a:buNone/>
            </a:pPr>
            <a:r>
              <a:rPr lang="en-US" sz="1200" dirty="0" smtClean="0"/>
              <a:t>Java: Use polymorphism/interfaces instead of if-else chains.</a:t>
            </a:r>
          </a:p>
          <a:p>
            <a:pPr marL="514350" indent="-514350">
              <a:buNone/>
            </a:pPr>
            <a:r>
              <a:rPr lang="en-US" sz="1400" dirty="0" smtClean="0"/>
              <a:t>3.  L - </a:t>
            </a:r>
            <a:r>
              <a:rPr lang="en-US" sz="1400" dirty="0" err="1" smtClean="0"/>
              <a:t>Liskov</a:t>
            </a:r>
            <a:r>
              <a:rPr lang="en-US" sz="1400" dirty="0" smtClean="0"/>
              <a:t> Substitution Principle (LSP)</a:t>
            </a:r>
          </a:p>
          <a:p>
            <a:pPr>
              <a:buNone/>
            </a:pPr>
            <a:r>
              <a:rPr lang="en-US" sz="1200" dirty="0" smtClean="0"/>
              <a:t>→ Subtypes must be substitutable for base types.</a:t>
            </a:r>
          </a:p>
          <a:p>
            <a:pPr>
              <a:buNone/>
            </a:pPr>
            <a:r>
              <a:rPr lang="en-US" sz="1200" dirty="0" smtClean="0"/>
              <a:t>Java: Don't throw </a:t>
            </a:r>
            <a:r>
              <a:rPr lang="en-US" sz="1200" dirty="0" err="1" smtClean="0"/>
              <a:t>UnsupportedOperationException</a:t>
            </a:r>
            <a:r>
              <a:rPr lang="en-US" sz="1200" dirty="0" smtClean="0"/>
              <a:t> in overridden methods.</a:t>
            </a:r>
          </a:p>
          <a:p>
            <a:pPr marL="514350" indent="-514350">
              <a:buNone/>
            </a:pPr>
            <a:r>
              <a:rPr lang="en-US" sz="1400" dirty="0" smtClean="0"/>
              <a:t>4.  I - Interface Segregation Principle (ISP)</a:t>
            </a:r>
          </a:p>
          <a:p>
            <a:pPr>
              <a:buNone/>
            </a:pPr>
            <a:r>
              <a:rPr lang="en-US" sz="1200" dirty="0" smtClean="0"/>
              <a:t>→ Many specific interfaces are better than one general one.</a:t>
            </a:r>
          </a:p>
          <a:p>
            <a:pPr>
              <a:buNone/>
            </a:pPr>
            <a:r>
              <a:rPr lang="en-US" sz="1200" dirty="0" smtClean="0"/>
              <a:t>Java: Split Worker interface into Workable, Eatable, </a:t>
            </a:r>
            <a:r>
              <a:rPr lang="en-US" sz="1200" dirty="0" err="1" smtClean="0"/>
              <a:t>Sleepable</a:t>
            </a:r>
            <a:r>
              <a:rPr lang="en-US" sz="1200" dirty="0" smtClean="0"/>
              <a:t>.</a:t>
            </a:r>
          </a:p>
          <a:p>
            <a:pPr marL="514350" indent="-514350">
              <a:buNone/>
            </a:pPr>
            <a:r>
              <a:rPr lang="en-US" sz="1400" dirty="0" smtClean="0"/>
              <a:t>5.  D - Dependency Inversion Principle (DIP)</a:t>
            </a:r>
          </a:p>
          <a:p>
            <a:pPr>
              <a:buNone/>
            </a:pPr>
            <a:r>
              <a:rPr lang="en-US" sz="1200" dirty="0" smtClean="0"/>
              <a:t>→ Depend on abstractions, not concretions.</a:t>
            </a:r>
          </a:p>
          <a:p>
            <a:pPr>
              <a:buNone/>
            </a:pPr>
            <a:r>
              <a:rPr lang="en-US" sz="1200" dirty="0" smtClean="0"/>
              <a:t>Java: Inject Logger interface, not </a:t>
            </a:r>
            <a:r>
              <a:rPr lang="en-US" sz="1200" dirty="0" err="1" smtClean="0"/>
              <a:t>FileLogger</a:t>
            </a:r>
            <a:r>
              <a:rPr lang="en-US" sz="1200" dirty="0" smtClean="0"/>
              <a:t> class.</a:t>
            </a:r>
            <a:endParaRPr lang="en-US" sz="14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Easy to add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CryptoPayment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later without changing Checkout.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Instructor Notes: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Show a compile error when trying to instantiate an Abstract Class.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Show the "Diamond Problem" resolution in Java Interfaces (conflicting default methods).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Emphasis: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Stress that List&lt;String&gt; list = new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ArrayList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&lt;&gt;(); is preferred over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ArrayList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&lt;String&gt; list = new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ArrayList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&lt;&gt;(); due to polymorphism.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Timing: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Allocate extra time for the SOLID principles as they are conceptual and often require discussion.</a:t>
            </a: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31D62-7DF2-4DB4-910C-5841F65C3738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refactoring.guru/solid-principles" TargetMode="External"/><Relationship Id="rId2" Type="http://schemas.openxmlformats.org/officeDocument/2006/relationships/hyperlink" Target="https://docs.oracle.com/javase/tutorial/java/concepts/interfac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luwatar/java-design-patterns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28737"/>
            <a:ext cx="7772400" cy="2171714"/>
          </a:xfrm>
        </p:spPr>
        <p:txBody>
          <a:bodyPr>
            <a:noAutofit/>
          </a:bodyPr>
          <a:lstStyle/>
          <a:p>
            <a:r>
              <a:rPr lang="en-US" b="1" dirty="0" smtClean="0"/>
              <a:t>Core OOP Concepts in Java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910" y="3714752"/>
            <a:ext cx="8001056" cy="1428760"/>
          </a:xfrm>
        </p:spPr>
        <p:txBody>
          <a:bodyPr>
            <a:normAutofit/>
          </a:bodyPr>
          <a:lstStyle/>
          <a:p>
            <a:r>
              <a:rPr lang="en-US" sz="3600" i="1" dirty="0" smtClean="0"/>
              <a:t>Polymorphism, Abstraction Mechanisms, and Design Principles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Learning </a:t>
            </a:r>
            <a:r>
              <a:rPr lang="en-US" b="1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58204" cy="4972072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/>
              <a:t>By the end of this session, students will be able to:</a:t>
            </a:r>
          </a:p>
          <a:p>
            <a:r>
              <a:rPr lang="en-US" b="1" dirty="0" smtClean="0"/>
              <a:t>Differentiate</a:t>
            </a:r>
            <a:r>
              <a:rPr lang="en-US" dirty="0" smtClean="0"/>
              <a:t> between Compile-time and Runtime Polymorphism in Java.</a:t>
            </a:r>
          </a:p>
          <a:p>
            <a:r>
              <a:rPr lang="en-US" b="1" dirty="0" smtClean="0"/>
              <a:t>Implement</a:t>
            </a:r>
            <a:r>
              <a:rPr lang="en-US" dirty="0" smtClean="0"/>
              <a:t> Polymorphic behavior using method overriding and dynamic binding.</a:t>
            </a:r>
          </a:p>
          <a:p>
            <a:r>
              <a:rPr lang="en-US" b="1" dirty="0" smtClean="0"/>
              <a:t>Choose</a:t>
            </a:r>
            <a:r>
              <a:rPr lang="en-US" dirty="0" smtClean="0"/>
              <a:t> appropriately between Abstract Classes and Interfaces for design contracts.</a:t>
            </a:r>
          </a:p>
          <a:p>
            <a:r>
              <a:rPr lang="en-US" b="1" dirty="0" smtClean="0"/>
              <a:t>Apply</a:t>
            </a:r>
            <a:r>
              <a:rPr lang="en-US" dirty="0" smtClean="0"/>
              <a:t> Java 8+ interface features (default/static methods).</a:t>
            </a:r>
          </a:p>
          <a:p>
            <a:r>
              <a:rPr lang="en-US" b="1" dirty="0" smtClean="0"/>
              <a:t>Evaluate</a:t>
            </a:r>
            <a:r>
              <a:rPr lang="en-US" dirty="0" smtClean="0"/>
              <a:t> class designs using SOLID principles, cohesion, and coupling metrics.</a:t>
            </a:r>
          </a:p>
          <a:p>
            <a:r>
              <a:rPr lang="en-US" b="1" dirty="0" err="1" smtClean="0"/>
              <a:t>Refactor</a:t>
            </a:r>
            <a:r>
              <a:rPr lang="en-US" dirty="0" smtClean="0"/>
              <a:t> rigid Java code into flexible, maintainable structures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928694"/>
          </a:xfrm>
        </p:spPr>
        <p:txBody>
          <a:bodyPr>
            <a:normAutofit/>
          </a:bodyPr>
          <a:lstStyle/>
          <a:p>
            <a:r>
              <a:rPr lang="en-US" b="1" dirty="0" smtClean="0"/>
              <a:t>Polymorphism </a:t>
            </a:r>
            <a:r>
              <a:rPr lang="en-US" b="1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214422"/>
            <a:ext cx="8572560" cy="528641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/>
              <a:t>Definition:  </a:t>
            </a:r>
            <a:r>
              <a:rPr lang="en-US" sz="2400" dirty="0" smtClean="0"/>
              <a:t>"</a:t>
            </a:r>
            <a:r>
              <a:rPr lang="en-US" sz="2400" dirty="0" smtClean="0"/>
              <a:t>Many forms." The ability of an object to take on many forms. In Java, this allows a </a:t>
            </a:r>
            <a:r>
              <a:rPr lang="en-US" sz="2400" dirty="0" err="1" smtClean="0"/>
              <a:t>superclass</a:t>
            </a:r>
            <a:r>
              <a:rPr lang="en-US" sz="2400" dirty="0" smtClean="0"/>
              <a:t> reference to refer to a subclass object.</a:t>
            </a:r>
          </a:p>
          <a:p>
            <a:pPr>
              <a:buNone/>
            </a:pPr>
            <a:r>
              <a:rPr lang="en-US" sz="2400" b="1" dirty="0" smtClean="0"/>
              <a:t>Two Types in Java:</a:t>
            </a:r>
            <a:endParaRPr lang="en-US" sz="2400" dirty="0" smtClean="0"/>
          </a:p>
          <a:p>
            <a:r>
              <a:rPr lang="en-US" sz="2400" b="1" dirty="0" smtClean="0"/>
              <a:t>Compile-time Polymorphism (Static Binding)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→ Method Overloading.</a:t>
            </a:r>
          </a:p>
          <a:p>
            <a:r>
              <a:rPr lang="en-US" sz="2400" b="1" dirty="0" smtClean="0"/>
              <a:t>Runtime Polymorphism (Dynamic Binding)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→ Method Overriding.</a:t>
            </a:r>
          </a:p>
          <a:p>
            <a:pPr>
              <a:buNone/>
            </a:pPr>
            <a:r>
              <a:rPr lang="en-US" sz="2400" b="1" dirty="0" smtClean="0"/>
              <a:t>Why it Matters:</a:t>
            </a:r>
            <a:endParaRPr lang="en-US" sz="2400" dirty="0" smtClean="0"/>
          </a:p>
          <a:p>
            <a:r>
              <a:rPr lang="en-US" sz="2400" dirty="0" smtClean="0"/>
              <a:t>Enables writing generic code that works with objects of multiple types.</a:t>
            </a:r>
          </a:p>
          <a:p>
            <a:r>
              <a:rPr lang="en-US" sz="2400" dirty="0" smtClean="0"/>
              <a:t>Core foundation for Design Patterns (Strategy, Factory, Command</a:t>
            </a:r>
            <a:r>
              <a:rPr lang="en-US" sz="2400" dirty="0" smtClean="0"/>
              <a:t>).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142852"/>
            <a:ext cx="8572560" cy="1143000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Compile-time Polymorphism (Overloading</a:t>
            </a:r>
            <a:r>
              <a:rPr lang="en-US" sz="3600" b="1" dirty="0" smtClean="0"/>
              <a:t>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 smtClean="0"/>
              <a:t>Definition</a:t>
            </a:r>
            <a:r>
              <a:rPr lang="en-US" sz="2400" b="1" dirty="0" smtClean="0"/>
              <a:t>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Multiple methods in the same class with the same name but different parameters (signature).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 smtClean="0"/>
              <a:t>Resolution: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Decided by the </a:t>
            </a:r>
            <a:r>
              <a:rPr lang="en-US" sz="2400" b="1" dirty="0" smtClean="0"/>
              <a:t>Compiler</a:t>
            </a:r>
            <a:r>
              <a:rPr lang="en-US" sz="2400" dirty="0" smtClean="0"/>
              <a:t> based on reference type and arguments.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-24"/>
            <a:ext cx="8572560" cy="1143000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Compile-time Polymorphism (Overloading</a:t>
            </a:r>
            <a:r>
              <a:rPr lang="en-US" sz="3600" b="1" dirty="0" smtClean="0"/>
              <a:t>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7572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 smtClean="0"/>
              <a:t>Java 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00034" y="1928802"/>
            <a:ext cx="821537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Calculator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en-US" sz="2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400" b="1" dirty="0" err="1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a,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b) {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   return a + b;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sz="2400" i="1" dirty="0" smtClean="0">
                <a:solidFill>
                  <a:schemeClr val="accent3">
                    <a:lumMod val="50000"/>
                  </a:schemeClr>
                </a:solidFill>
              </a:rPr>
              <a:t>(Overloaded</a:t>
            </a:r>
            <a:r>
              <a:rPr lang="en-US" sz="2400" i="1" dirty="0" smtClean="0">
                <a:solidFill>
                  <a:schemeClr val="accent3">
                    <a:lumMod val="50000"/>
                  </a:schemeClr>
                </a:solidFill>
              </a:rPr>
              <a:t>)</a:t>
            </a:r>
            <a:endParaRPr lang="en-US" sz="2400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4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add(double a, double b) {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   return a + b;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sz="2400" i="1" dirty="0" smtClean="0">
                <a:solidFill>
                  <a:schemeClr val="accent3">
                    <a:lumMod val="50000"/>
                  </a:schemeClr>
                </a:solidFill>
              </a:rPr>
              <a:t>Overloaded - different </a:t>
            </a:r>
            <a:r>
              <a:rPr lang="en-US" sz="2400" i="1" dirty="0" smtClean="0">
                <a:solidFill>
                  <a:schemeClr val="accent3">
                    <a:lumMod val="50000"/>
                  </a:schemeClr>
                </a:solidFill>
              </a:rPr>
              <a:t>order</a:t>
            </a:r>
            <a:endParaRPr lang="en-US" sz="2400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4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400" b="1" dirty="0" err="1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a,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b,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c) {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   return a + b + c;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Runtime Polymorphism (Overriding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 smtClean="0"/>
              <a:t>Definition</a:t>
            </a:r>
            <a:r>
              <a:rPr lang="en-US" sz="2400" b="1" dirty="0" smtClean="0"/>
              <a:t>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A subclass provides a specific implementation of a method already defined in its </a:t>
            </a:r>
            <a:r>
              <a:rPr lang="en-US" sz="2400" dirty="0" err="1" smtClean="0"/>
              <a:t>superclass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 smtClean="0"/>
              <a:t>Resolution: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Decided by the </a:t>
            </a:r>
            <a:r>
              <a:rPr lang="en-US" sz="2400" b="1" dirty="0" smtClean="0"/>
              <a:t>JVM</a:t>
            </a:r>
            <a:r>
              <a:rPr lang="en-US" sz="2400" dirty="0" smtClean="0"/>
              <a:t> at runtime based on the actual </a:t>
            </a:r>
            <a:r>
              <a:rPr lang="en-US" sz="2400" b="1" dirty="0" smtClean="0"/>
              <a:t>object type</a:t>
            </a:r>
            <a:r>
              <a:rPr lang="en-US" sz="2400" dirty="0" smtClean="0"/>
              <a:t>, not the reference type.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22"/>
            <a:ext cx="8229600" cy="100012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Runtime Polymorphism (Overriding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61435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 smtClean="0"/>
              <a:t>Java </a:t>
            </a:r>
            <a:r>
              <a:rPr lang="en-US" sz="2800" b="1" dirty="0" smtClean="0"/>
              <a:t>Example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571472" y="1643612"/>
            <a:ext cx="771530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Animal {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sound() { 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("Some sound"); 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}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Dog </a:t>
            </a:r>
            <a:r>
              <a:rPr lang="en-US" sz="20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Animal {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@Override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sound()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("Bark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406" y="5786454"/>
            <a:ext cx="9001156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900" b="1" dirty="0" smtClean="0">
                <a:latin typeface="Courier New" pitchFamily="49" charset="0"/>
                <a:cs typeface="Courier New" pitchFamily="49" charset="0"/>
              </a:rPr>
              <a:t>Animal </a:t>
            </a:r>
            <a:r>
              <a:rPr lang="en-US" sz="1900" b="1" dirty="0" err="1" smtClean="0">
                <a:latin typeface="Courier New" pitchFamily="49" charset="0"/>
                <a:cs typeface="Courier New" pitchFamily="49" charset="0"/>
              </a:rPr>
              <a:t>myPet</a:t>
            </a:r>
            <a:r>
              <a:rPr lang="en-US" sz="1900" b="1" dirty="0" smtClean="0">
                <a:latin typeface="Courier New" pitchFamily="49" charset="0"/>
                <a:cs typeface="Courier New" pitchFamily="49" charset="0"/>
              </a:rPr>
              <a:t> = new Dog(); </a:t>
            </a:r>
            <a:r>
              <a:rPr lang="en-US" sz="19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900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Upcasting</a:t>
            </a:r>
            <a:endParaRPr lang="en-US" sz="1900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900" b="1" dirty="0" err="1" smtClean="0">
                <a:latin typeface="Courier New" pitchFamily="49" charset="0"/>
                <a:cs typeface="Courier New" pitchFamily="49" charset="0"/>
              </a:rPr>
              <a:t>myPet.sound</a:t>
            </a:r>
            <a:r>
              <a:rPr lang="en-US" sz="1900" b="1" dirty="0" smtClean="0">
                <a:latin typeface="Courier New" pitchFamily="49" charset="0"/>
                <a:cs typeface="Courier New" pitchFamily="49" charset="0"/>
              </a:rPr>
              <a:t>(); </a:t>
            </a:r>
            <a:r>
              <a:rPr lang="en-US" sz="19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Output: "Bark" (Dynamic Method Dispatch)</a:t>
            </a:r>
            <a:endParaRPr lang="en-US" sz="1900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 flipV="1">
            <a:off x="0" y="5572139"/>
            <a:ext cx="9144000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928694"/>
          </a:xfrm>
        </p:spPr>
        <p:txBody>
          <a:bodyPr>
            <a:normAutofit/>
          </a:bodyPr>
          <a:lstStyle/>
          <a:p>
            <a:r>
              <a:rPr lang="en-US" b="1" dirty="0" smtClean="0"/>
              <a:t>Polymorphism in </a:t>
            </a:r>
            <a:r>
              <a:rPr lang="en-US" b="1" dirty="0" smtClean="0"/>
              <a:t>Collections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7"/>
            <a:ext cx="8229600" cy="1857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/>
              <a:t>Real-world Application: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Java Collections rely heavily on polymorphism to store heterogeneous objects.</a:t>
            </a:r>
          </a:p>
          <a:p>
            <a:pPr>
              <a:buNone/>
            </a:pPr>
            <a:endParaRPr lang="en-US" sz="1100" dirty="0" smtClean="0"/>
          </a:p>
          <a:p>
            <a:pPr>
              <a:buNone/>
            </a:pPr>
            <a:r>
              <a:rPr lang="en-US" sz="2400" b="1" dirty="0" smtClean="0"/>
              <a:t>Example:</a:t>
            </a:r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00034" y="2928934"/>
            <a:ext cx="8429684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objects 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can be Circle, Square, etc.</a:t>
            </a:r>
          </a:p>
          <a:p>
            <a:pPr>
              <a:spcAft>
                <a:spcPts val="600"/>
              </a:spcAft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List&lt;Shape&gt; shapes = new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ArrayList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&lt;&gt;();</a:t>
            </a:r>
          </a:p>
          <a:p>
            <a:pPr>
              <a:spcAft>
                <a:spcPts val="600"/>
              </a:spcAft>
            </a:pP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shapes.add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(new Circle());</a:t>
            </a:r>
          </a:p>
          <a:p>
            <a:pPr>
              <a:spcAft>
                <a:spcPts val="600"/>
              </a:spcAft>
            </a:pP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shapes.add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(new Square());</a:t>
            </a:r>
          </a:p>
          <a:p>
            <a:pPr>
              <a:spcAft>
                <a:spcPts val="600"/>
              </a:spcAft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(Shape s : shapes)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Polymorphic call: 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draws shape 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based on actual object</a:t>
            </a:r>
          </a:p>
          <a:p>
            <a:pPr>
              <a:spcAft>
                <a:spcPts val="600"/>
              </a:spcAft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s.draw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(); </a:t>
            </a:r>
          </a:p>
          <a:p>
            <a:pPr>
              <a:spcAft>
                <a:spcPts val="600"/>
              </a:spcAft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265" name="Rectangle 1"/>
          <p:cNvSpPr>
            <a:spLocks noChangeArrowheads="1"/>
          </p:cNvSpPr>
          <p:nvPr/>
        </p:nvSpPr>
        <p:spPr bwMode="auto">
          <a:xfrm>
            <a:off x="500034" y="5750004"/>
            <a:ext cx="8215370" cy="92333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1D1D1F"/>
                </a:solidFill>
                <a:effectLst/>
                <a:cs typeface="Arial" pitchFamily="34" charset="0"/>
              </a:rPr>
              <a:t>Benefit: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1D1D1F"/>
                </a:solidFill>
                <a:effectLst/>
                <a:cs typeface="Arial" pitchFamily="34" charset="0"/>
              </a:rPr>
              <a:t>Code is open for extension (add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15CED"/>
                </a:solidFill>
                <a:effectLst/>
                <a:cs typeface="Arial" pitchFamily="34" charset="0"/>
              </a:rPr>
              <a:t>Triangle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1D1D1F"/>
                </a:solidFill>
                <a:effectLst/>
                <a:cs typeface="Arial" pitchFamily="34" charset="0"/>
              </a:rPr>
              <a:t> later) without modification.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1D1D1F"/>
                </a:solidFill>
                <a:effectLst/>
                <a:cs typeface="Arial" pitchFamily="34" charset="0"/>
              </a:rPr>
              <a:t>Eliminates excessive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15CED"/>
                </a:solidFill>
                <a:effectLst/>
                <a:cs typeface="Arial" pitchFamily="34" charset="0"/>
              </a:rPr>
              <a:t>if-else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1D1D1F"/>
                </a:solidFill>
                <a:effectLst/>
                <a:cs typeface="Arial" pitchFamily="34" charset="0"/>
              </a:rPr>
              <a:t> or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15CED"/>
                </a:solidFill>
                <a:effectLst/>
                <a:cs typeface="Arial" pitchFamily="34" charset="0"/>
              </a:rPr>
              <a:t>switch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1D1D1F"/>
                </a:solidFill>
                <a:effectLst/>
                <a:cs typeface="Arial" pitchFamily="34" charset="0"/>
              </a:rPr>
              <a:t> statements based on type.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928694"/>
          </a:xfrm>
        </p:spPr>
        <p:txBody>
          <a:bodyPr>
            <a:normAutofit/>
          </a:bodyPr>
          <a:lstStyle/>
          <a:p>
            <a:r>
              <a:rPr lang="en-US" b="1" dirty="0" smtClean="0"/>
              <a:t>Abstract Classes in </a:t>
            </a:r>
            <a:r>
              <a:rPr lang="en-US" b="1" dirty="0" smtClean="0"/>
              <a:t>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5007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/>
              <a:t>Definition</a:t>
            </a:r>
            <a:r>
              <a:rPr lang="en-US" sz="2400" b="1" dirty="0" smtClean="0"/>
              <a:t>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A class declared with the abstract keyword. It cannot be instantiated directly.</a:t>
            </a:r>
          </a:p>
          <a:p>
            <a:pPr>
              <a:buNone/>
            </a:pPr>
            <a:r>
              <a:rPr lang="en-US" sz="2400" b="1" dirty="0" smtClean="0"/>
              <a:t>Purpose:</a:t>
            </a:r>
            <a:endParaRPr lang="en-US" sz="2400" dirty="0" smtClean="0"/>
          </a:p>
          <a:p>
            <a:r>
              <a:rPr lang="en-US" sz="2400" dirty="0" smtClean="0"/>
              <a:t>To provide a common template for subclasses.</a:t>
            </a:r>
          </a:p>
          <a:p>
            <a:r>
              <a:rPr lang="en-US" sz="2400" dirty="0" smtClean="0"/>
              <a:t>To enforce certain methods must be implemented by subclasses.</a:t>
            </a:r>
          </a:p>
          <a:p>
            <a:pPr>
              <a:buNone/>
            </a:pPr>
            <a:r>
              <a:rPr lang="en-US" sz="2400" b="1" dirty="0" smtClean="0"/>
              <a:t>Key Features:</a:t>
            </a:r>
            <a:endParaRPr lang="en-US" sz="2400" dirty="0" smtClean="0"/>
          </a:p>
          <a:p>
            <a:r>
              <a:rPr lang="en-US" sz="2400" dirty="0" smtClean="0"/>
              <a:t>Can have both abstract (no body) and concrete (with body) methods.</a:t>
            </a:r>
          </a:p>
          <a:p>
            <a:r>
              <a:rPr lang="en-US" sz="2400" dirty="0" smtClean="0"/>
              <a:t>Can have state (instance variables).</a:t>
            </a:r>
          </a:p>
          <a:p>
            <a:r>
              <a:rPr lang="en-US" sz="2400" dirty="0" smtClean="0"/>
              <a:t>Can have constructors (called by subclasses via super).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928694"/>
          </a:xfrm>
        </p:spPr>
        <p:txBody>
          <a:bodyPr>
            <a:normAutofit/>
          </a:bodyPr>
          <a:lstStyle/>
          <a:p>
            <a:r>
              <a:rPr lang="en-US" b="1" dirty="0" smtClean="0"/>
              <a:t>Abstract Classes in </a:t>
            </a:r>
            <a:r>
              <a:rPr lang="en-US" b="1" dirty="0" smtClean="0"/>
              <a:t>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285860"/>
            <a:ext cx="8715436" cy="53578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abstract class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Employee {</a:t>
            </a: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String name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;    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Employee(String name)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this.name = name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}   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Concrete method</a:t>
            </a: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void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work() {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("Working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...");</a:t>
            </a: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}    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8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Abstract method (must be implemented by subclass)</a:t>
            </a:r>
            <a:endParaRPr lang="en-US" sz="2000" b="1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abstract double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calculateSalary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762"/>
            <a:ext cx="8229600" cy="868346"/>
          </a:xfrm>
        </p:spPr>
        <p:txBody>
          <a:bodyPr>
            <a:normAutofit/>
          </a:bodyPr>
          <a:lstStyle/>
          <a:p>
            <a:r>
              <a:rPr lang="en-US" b="1" dirty="0" smtClean="0"/>
              <a:t>Interfaces in </a:t>
            </a:r>
            <a:r>
              <a:rPr lang="en-US" b="1" dirty="0" smtClean="0"/>
              <a:t>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358246" cy="5072098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 smtClean="0"/>
              <a:t>Definition</a:t>
            </a:r>
            <a:r>
              <a:rPr lang="en-US" sz="2400" b="1" dirty="0" smtClean="0"/>
              <a:t>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A reference type that can contain only constants, method signatures, default methods, static methods, and nested types.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endParaRPr lang="en-US" sz="2400" b="1" dirty="0" smtClean="0"/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 smtClean="0"/>
              <a:t>Purpose</a:t>
            </a:r>
            <a:r>
              <a:rPr lang="en-US" sz="2400" b="1" dirty="0" smtClean="0"/>
              <a:t>:</a:t>
            </a:r>
            <a:endParaRPr lang="en-US" sz="24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To define a contract or capability (e.g., Comparable, </a:t>
            </a:r>
            <a:r>
              <a:rPr lang="en-US" sz="2400" dirty="0" err="1" smtClean="0"/>
              <a:t>Runnable</a:t>
            </a:r>
            <a:r>
              <a:rPr lang="en-US" sz="2400" dirty="0" smtClean="0"/>
              <a:t>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To support multiple inheritance of type.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endParaRPr lang="en-US" sz="2400" b="1" dirty="0" smtClean="0"/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 smtClean="0"/>
              <a:t>Java </a:t>
            </a:r>
            <a:r>
              <a:rPr lang="en-US" sz="2400" b="1" dirty="0" smtClean="0"/>
              <a:t>8+ Enhancements:</a:t>
            </a:r>
            <a:endParaRPr lang="en-US" sz="24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/>
              <a:t>default methods:</a:t>
            </a:r>
            <a:r>
              <a:rPr lang="en-US" sz="2400" dirty="0" smtClean="0"/>
              <a:t> Provide implementation within the interface.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/>
              <a:t>static methods:</a:t>
            </a:r>
            <a:r>
              <a:rPr lang="en-US" sz="2400" dirty="0" smtClean="0"/>
              <a:t> Utility methods related to the interface.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762"/>
            <a:ext cx="8229600" cy="868346"/>
          </a:xfrm>
        </p:spPr>
        <p:txBody>
          <a:bodyPr>
            <a:normAutofit/>
          </a:bodyPr>
          <a:lstStyle/>
          <a:p>
            <a:r>
              <a:rPr lang="en-US" b="1" dirty="0" smtClean="0"/>
              <a:t>Interfaces in </a:t>
            </a:r>
            <a:r>
              <a:rPr lang="en-US" b="1" dirty="0" smtClean="0"/>
              <a:t>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358246" cy="64294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 smtClean="0"/>
              <a:t>Java Example</a:t>
            </a:r>
            <a:r>
              <a:rPr lang="en-US" sz="2800" b="1" dirty="0" smtClean="0"/>
              <a:t>: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571472" y="2000240"/>
            <a:ext cx="814393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interface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Flyable {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void fly(); </a:t>
            </a:r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Abstract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default void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land() { </a:t>
            </a:r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Default method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("Landing...");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static </a:t>
            </a:r>
            <a:r>
              <a:rPr lang="en-US" sz="2000" b="1" dirty="0" err="1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20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isAirborne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() { </a:t>
            </a:r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Static method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return true;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142852"/>
            <a:ext cx="8858312" cy="928694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Abstract Class vs. Interface (Decision Matrix</a:t>
            </a:r>
            <a:r>
              <a:rPr lang="en-US" sz="3600" b="1" dirty="0" smtClean="0"/>
              <a:t>)</a:t>
            </a:r>
            <a:endParaRPr lang="en-US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85720" y="1071546"/>
          <a:ext cx="8572560" cy="3949500"/>
        </p:xfrm>
        <a:graphic>
          <a:graphicData uri="http://schemas.openxmlformats.org/drawingml/2006/table">
            <a:tbl>
              <a:tblPr/>
              <a:tblGrid>
                <a:gridCol w="1857388"/>
                <a:gridCol w="3511286"/>
                <a:gridCol w="3203886"/>
              </a:tblGrid>
              <a:tr h="5817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Abstract Class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Interface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817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Relationship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"Is-A" (Inheritance)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"Can-Do" (Capability)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7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Inheritance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Single (`extends`)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Multiple (`implements`)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7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State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Can have instance variables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Only `public static final` constants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7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Constructors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7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Method Types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Abstract + Concrete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Abstract + Default + Static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7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Access Modifiers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Any (`private`, `protected`, etc.)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Mostly `public` (methods)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76195" y="5186375"/>
            <a:ext cx="857256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Design Guideline:</a:t>
            </a:r>
            <a:endParaRPr lang="en-US" sz="20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/>
              <a:t>Use </a:t>
            </a:r>
            <a:r>
              <a:rPr lang="en-US" sz="2000" b="1" dirty="0" smtClean="0"/>
              <a:t>Abstract Class</a:t>
            </a:r>
            <a:r>
              <a:rPr lang="en-US" sz="2000" dirty="0" smtClean="0"/>
              <a:t> if you need to share code or state among closely related classes.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/>
              <a:t>Use </a:t>
            </a:r>
            <a:r>
              <a:rPr lang="en-US" sz="2000" b="1" dirty="0" smtClean="0"/>
              <a:t>Interface</a:t>
            </a:r>
            <a:r>
              <a:rPr lang="en-US" sz="2000" dirty="0" smtClean="0"/>
              <a:t> if you expect unrelated classes to implement your contract, or need multiple inheritance of type.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Sound Class Design Principles (SOLID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071546"/>
            <a:ext cx="8686832" cy="5054617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 smtClean="0"/>
              <a:t>Overview </a:t>
            </a:r>
            <a:r>
              <a:rPr lang="en-US" sz="2400" b="1" dirty="0" smtClean="0"/>
              <a:t>of SOLID in Java: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1.  S </a:t>
            </a:r>
            <a:r>
              <a:rPr lang="en-US" sz="2400" dirty="0" smtClean="0"/>
              <a:t>- Single Responsibility Principle (SRP)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	→ </a:t>
            </a:r>
            <a:r>
              <a:rPr lang="en-US" sz="2400" dirty="0" smtClean="0"/>
              <a:t>A class should have one reason to change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2.  O </a:t>
            </a:r>
            <a:r>
              <a:rPr lang="en-US" sz="2400" dirty="0" smtClean="0"/>
              <a:t>- Open/Closed Principle (OCP)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	→ </a:t>
            </a:r>
            <a:r>
              <a:rPr lang="en-US" sz="2400" dirty="0" smtClean="0"/>
              <a:t>Open for extension, closed for modification.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3.  L </a:t>
            </a:r>
            <a:r>
              <a:rPr lang="en-US" sz="2400" dirty="0" smtClean="0"/>
              <a:t>- </a:t>
            </a:r>
            <a:r>
              <a:rPr lang="en-US" sz="2400" dirty="0" err="1" smtClean="0"/>
              <a:t>Liskov</a:t>
            </a:r>
            <a:r>
              <a:rPr lang="en-US" sz="2400" dirty="0" smtClean="0"/>
              <a:t> Substitution Principle (LSP)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	→ </a:t>
            </a:r>
            <a:r>
              <a:rPr lang="en-US" sz="2400" dirty="0" smtClean="0"/>
              <a:t>Subtypes must be substitutable for base types.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4.  I </a:t>
            </a:r>
            <a:r>
              <a:rPr lang="en-US" sz="2400" dirty="0" smtClean="0"/>
              <a:t>- Interface Segregation Principle (ISP)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	→ </a:t>
            </a:r>
            <a:r>
              <a:rPr lang="en-US" sz="2400" dirty="0" smtClean="0"/>
              <a:t>Many specific interfaces are better than one general one.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5.  D </a:t>
            </a:r>
            <a:r>
              <a:rPr lang="en-US" sz="2400" dirty="0" smtClean="0"/>
              <a:t>- Dependency Inversion Principle (DIP)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	→ </a:t>
            </a:r>
            <a:r>
              <a:rPr lang="en-US" sz="2400" dirty="0" smtClean="0"/>
              <a:t>Depend on abstractions, not concretions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Cohesion and </a:t>
            </a:r>
            <a:r>
              <a:rPr lang="en-US" b="1" dirty="0" smtClean="0"/>
              <a:t>Coupling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 smtClean="0"/>
              <a:t>Cohesion </a:t>
            </a:r>
            <a:r>
              <a:rPr lang="en-US" sz="2400" b="1" dirty="0" smtClean="0"/>
              <a:t>(Internal Strength):</a:t>
            </a:r>
            <a:endParaRPr lang="en-US" sz="24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/>
              <a:t>High Cohesion:</a:t>
            </a:r>
            <a:r>
              <a:rPr lang="en-US" sz="2400" dirty="0" smtClean="0"/>
              <a:t> Class methods and fields are strongly related.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/>
              <a:t>Low Cohesion:</a:t>
            </a:r>
            <a:r>
              <a:rPr lang="en-US" sz="2400" dirty="0" smtClean="0"/>
              <a:t> Class does unrelated tasks (God Class).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/>
              <a:t>Goal:</a:t>
            </a:r>
            <a:r>
              <a:rPr lang="en-US" sz="2400" dirty="0" smtClean="0"/>
              <a:t> Maximize Cohesion</a:t>
            </a:r>
            <a:r>
              <a:rPr lang="en-US" sz="2400" dirty="0" smtClean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 smtClean="0"/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 smtClean="0"/>
              <a:t>Coupling (External Dependency):</a:t>
            </a:r>
            <a:endParaRPr lang="en-US" sz="24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/>
              <a:t>Low Coupling:</a:t>
            </a:r>
            <a:r>
              <a:rPr lang="en-US" sz="2400" dirty="0" smtClean="0"/>
              <a:t> Classes are independent; changes in one don't affect others.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/>
              <a:t>High Coupling:</a:t>
            </a:r>
            <a:r>
              <a:rPr lang="en-US" sz="2400" dirty="0" smtClean="0"/>
              <a:t> Classes are tightly intertwined.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/>
              <a:t>Goal:</a:t>
            </a:r>
            <a:r>
              <a:rPr lang="en-US" sz="2400" dirty="0" smtClean="0"/>
              <a:t> Minimize Coupling.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b="1" dirty="0" smtClean="0"/>
              <a:t>Cohesion and </a:t>
            </a:r>
            <a:r>
              <a:rPr lang="en-US" b="1" dirty="0" smtClean="0"/>
              <a:t>Coupling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85886"/>
            <a:ext cx="8229600" cy="614354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 smtClean="0"/>
              <a:t>Java Example (Reducing Coupling</a:t>
            </a:r>
            <a:r>
              <a:rPr lang="en-US" sz="2400" b="1" dirty="0" smtClean="0"/>
              <a:t>):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2910" y="2285992"/>
            <a:ext cx="800105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❌ High Coupling</a:t>
            </a:r>
          </a:p>
          <a:p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OrderService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MySQLDatabase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db = new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MySQLDatabase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(); 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✅ Low Coupling (DIP)</a:t>
            </a:r>
          </a:p>
          <a:p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OrderService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Database db; 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Depends on abstraction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OrderService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(Database db)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{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Injection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 err="1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.db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= db; 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}</a:t>
            </a:r>
            <a:endParaRPr lang="en-US" b="1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b="1" dirty="0" smtClean="0"/>
              <a:t>Composition Over </a:t>
            </a:r>
            <a:r>
              <a:rPr lang="en-US" b="1" dirty="0" smtClean="0"/>
              <a:t>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546243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 smtClean="0"/>
              <a:t>The </a:t>
            </a:r>
            <a:r>
              <a:rPr lang="en-US" sz="2400" b="1" dirty="0" smtClean="0"/>
              <a:t>Problem with Inheritance:</a:t>
            </a:r>
            <a:endParaRPr lang="en-US" sz="24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Breaks encapsulation (parent changes break child).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Rigid hierarchy (cannot change at runtime).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Java limits you to single class inheritance</a:t>
            </a:r>
            <a:r>
              <a:rPr lang="en-US" sz="2400" dirty="0" smtClean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 smtClean="0"/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 smtClean="0"/>
              <a:t>The Composition Solution:</a:t>
            </a:r>
            <a:endParaRPr lang="en-US" sz="24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"Has-A" relationship.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Delegate behavior to helper objects.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More flexible and testable.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b="1" dirty="0" smtClean="0"/>
              <a:t>Composition Over </a:t>
            </a:r>
            <a:r>
              <a:rPr lang="en-US" b="1" dirty="0" smtClean="0"/>
              <a:t>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357298"/>
            <a:ext cx="8229600" cy="596873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 smtClean="0"/>
              <a:t>Java Example: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642910" y="2214554"/>
            <a:ext cx="814393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❌ Inheritance Abuse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Stack 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Vector { ... } </a:t>
            </a:r>
          </a:p>
          <a:p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✅ Composition</a:t>
            </a:r>
          </a:p>
          <a:p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Stack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List&lt;Object&gt; elements = new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ArrayList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&lt;&gt;();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void push(Object o) {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elements.add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(o); }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Object pop() { ... }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5786" y="5262575"/>
            <a:ext cx="77153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Rule of Thumb:</a:t>
            </a:r>
            <a:r>
              <a:rPr lang="en-US" sz="2400" dirty="0" smtClean="0"/>
              <a:t>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Favor </a:t>
            </a:r>
            <a:r>
              <a:rPr lang="en-US" sz="2400" dirty="0" smtClean="0"/>
              <a:t>composition when code reuse is needed without an "Is-A" relationship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142852"/>
            <a:ext cx="8858312" cy="85725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Integrated Case Study: Payment </a:t>
            </a:r>
            <a:r>
              <a:rPr lang="en-US" b="1" dirty="0" smtClean="0"/>
              <a:t>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71504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100" dirty="0" smtClean="0"/>
          </a:p>
          <a:p>
            <a:pPr>
              <a:buNone/>
            </a:pPr>
            <a:r>
              <a:rPr lang="en-US" sz="2400" b="1" dirty="0" smtClean="0"/>
              <a:t>1. Interface (Contract):</a:t>
            </a:r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800074" y="1643050"/>
            <a:ext cx="78438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interface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PaymentProvider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pay(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amount);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00034" y="2571744"/>
            <a:ext cx="8229600" cy="5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400" b="1" dirty="0" smtClean="0"/>
              <a:t>2. Concrete Implementations (Polymorphism):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5786" y="3071810"/>
            <a:ext cx="82153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PayPal 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implements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PaymentProvider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{ ... }</a:t>
            </a:r>
          </a:p>
          <a:p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CreditCard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implements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PaymentProvider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{ ... }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 flipH="1">
            <a:off x="571472" y="1116721"/>
            <a:ext cx="4714908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00034" y="3714752"/>
            <a:ext cx="8229600" cy="5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400" b="1" dirty="0" smtClean="0"/>
              <a:t>3. </a:t>
            </a:r>
            <a:r>
              <a:rPr lang="en-US" sz="2400" b="1" dirty="0" smtClean="0"/>
              <a:t>Concrete Implementations (Polymorphism):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5786" y="4214818"/>
            <a:ext cx="821537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Checkout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PaymentProvider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provider; //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Abstraction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Checkout(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PaymentProvider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provider)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b="1" dirty="0" err="1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.provider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= provider; 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Injected dependency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void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completeOrder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amount)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provider.pay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(amount); 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Polymorphic call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272118" y="889758"/>
            <a:ext cx="3800476" cy="50006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Refactoring to Sound Design</a:t>
            </a:r>
            <a:endParaRPr kumimoji="0" lang="en-US" sz="1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928694"/>
          </a:xfrm>
        </p:spPr>
        <p:txBody>
          <a:bodyPr>
            <a:normAutofit/>
          </a:bodyPr>
          <a:lstStyle/>
          <a:p>
            <a:r>
              <a:rPr lang="en-US" b="1" dirty="0" smtClean="0"/>
              <a:t>Common Anti-Patterns to </a:t>
            </a:r>
            <a:r>
              <a:rPr lang="en-US" b="1" dirty="0" smtClean="0"/>
              <a:t>Avoid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071546"/>
            <a:ext cx="8572560" cy="5054617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🚫 </a:t>
            </a:r>
            <a:r>
              <a:rPr lang="en-US" sz="2400" b="1" dirty="0" smtClean="0"/>
              <a:t>The God Object: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A class that controls too much of the system (violates SRP).</a:t>
            </a:r>
            <a:br>
              <a:rPr lang="en-US" sz="2400" dirty="0" smtClean="0"/>
            </a:br>
            <a:r>
              <a:rPr lang="en-US" sz="2400" i="1" dirty="0" smtClean="0"/>
              <a:t>Fix:</a:t>
            </a:r>
            <a:r>
              <a:rPr lang="en-US" sz="2400" dirty="0" smtClean="0"/>
              <a:t> Extract responsibilities into separate classes.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🚫 </a:t>
            </a:r>
            <a:r>
              <a:rPr lang="en-US" sz="2400" b="1" dirty="0" smtClean="0"/>
              <a:t>Flag Arguments: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public void create(</a:t>
            </a:r>
            <a:r>
              <a:rPr lang="en-US" sz="2400" dirty="0" err="1" smtClean="0"/>
              <a:t>boolean</a:t>
            </a:r>
            <a:r>
              <a:rPr lang="en-US" sz="2400" dirty="0" smtClean="0"/>
              <a:t> </a:t>
            </a:r>
            <a:r>
              <a:rPr lang="en-US" sz="2400" dirty="0" err="1" smtClean="0"/>
              <a:t>isMember</a:t>
            </a:r>
            <a:r>
              <a:rPr lang="en-US" sz="2400" dirty="0" smtClean="0"/>
              <a:t>)</a:t>
            </a:r>
            <a:br>
              <a:rPr lang="en-US" sz="2400" dirty="0" smtClean="0"/>
            </a:br>
            <a:r>
              <a:rPr lang="en-US" sz="2400" i="1" dirty="0" smtClean="0"/>
              <a:t>Fix:</a:t>
            </a:r>
            <a:r>
              <a:rPr lang="en-US" sz="2400" dirty="0" smtClean="0"/>
              <a:t> Split into </a:t>
            </a:r>
            <a:r>
              <a:rPr lang="en-US" sz="2400" dirty="0" err="1" smtClean="0"/>
              <a:t>createMember</a:t>
            </a:r>
            <a:r>
              <a:rPr lang="en-US" sz="2400" dirty="0" smtClean="0"/>
              <a:t>() and </a:t>
            </a:r>
            <a:r>
              <a:rPr lang="en-US" sz="2400" dirty="0" err="1" smtClean="0"/>
              <a:t>createGuest</a:t>
            </a:r>
            <a:r>
              <a:rPr lang="en-US" sz="2400" dirty="0" smtClean="0"/>
              <a:t>().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🚫 </a:t>
            </a:r>
            <a:r>
              <a:rPr lang="en-US" sz="2400" b="1" dirty="0" smtClean="0"/>
              <a:t>Primitive Obsession: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Using String for phone numbers or emails everywhere.</a:t>
            </a:r>
            <a:br>
              <a:rPr lang="en-US" sz="2400" dirty="0" smtClean="0"/>
            </a:br>
            <a:r>
              <a:rPr lang="en-US" sz="2400" i="1" dirty="0" smtClean="0"/>
              <a:t>Fix:</a:t>
            </a:r>
            <a:r>
              <a:rPr lang="en-US" sz="2400" dirty="0" smtClean="0"/>
              <a:t> Create value objects (class </a:t>
            </a:r>
            <a:r>
              <a:rPr lang="en-US" sz="2400" dirty="0" err="1" smtClean="0"/>
              <a:t>PhoneNumber</a:t>
            </a:r>
            <a:r>
              <a:rPr lang="en-US" sz="2400" dirty="0" smtClean="0"/>
              <a:t>, class Email).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🚫 </a:t>
            </a:r>
            <a:r>
              <a:rPr lang="en-US" sz="2400" b="1" dirty="0" smtClean="0"/>
              <a:t>Switch Statements on Types: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if (</a:t>
            </a:r>
            <a:r>
              <a:rPr lang="en-US" sz="2400" dirty="0" err="1" smtClean="0"/>
              <a:t>obj</a:t>
            </a:r>
            <a:r>
              <a:rPr lang="en-US" sz="2400" dirty="0" smtClean="0"/>
              <a:t> </a:t>
            </a:r>
            <a:r>
              <a:rPr lang="en-US" sz="2400" dirty="0" err="1" smtClean="0"/>
              <a:t>instanceof</a:t>
            </a:r>
            <a:r>
              <a:rPr lang="en-US" sz="2400" dirty="0" smtClean="0"/>
              <a:t> Dog) ... else if (</a:t>
            </a:r>
            <a:r>
              <a:rPr lang="en-US" sz="2400" dirty="0" err="1" smtClean="0"/>
              <a:t>obj</a:t>
            </a:r>
            <a:r>
              <a:rPr lang="en-US" sz="2400" dirty="0" smtClean="0"/>
              <a:t> </a:t>
            </a:r>
            <a:r>
              <a:rPr lang="en-US" sz="2400" dirty="0" err="1" smtClean="0"/>
              <a:t>instanceof</a:t>
            </a:r>
            <a:r>
              <a:rPr lang="en-US" sz="2400" dirty="0" smtClean="0"/>
              <a:t> Cat)</a:t>
            </a:r>
            <a:br>
              <a:rPr lang="en-US" sz="2400" dirty="0" smtClean="0"/>
            </a:br>
            <a:r>
              <a:rPr lang="en-US" sz="2400" i="1" dirty="0" smtClean="0"/>
              <a:t>Fix:</a:t>
            </a:r>
            <a:r>
              <a:rPr lang="en-US" sz="2400" dirty="0" smtClean="0"/>
              <a:t> Use polymorphism (</a:t>
            </a:r>
            <a:r>
              <a:rPr lang="en-US" sz="2400" dirty="0" err="1" smtClean="0"/>
              <a:t>obj.speak</a:t>
            </a:r>
            <a:r>
              <a:rPr lang="en-US" sz="2400" dirty="0" smtClean="0"/>
              <a:t>()).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Summary &amp; Key </a:t>
            </a:r>
            <a:r>
              <a:rPr lang="en-US" b="1" dirty="0" smtClean="0"/>
              <a:t>Takeaways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🔹 </a:t>
            </a:r>
            <a:r>
              <a:rPr lang="en-US" sz="2400" b="1" dirty="0" smtClean="0"/>
              <a:t>Polymorphism</a:t>
            </a:r>
            <a:r>
              <a:rPr lang="en-US" sz="2400" dirty="0" smtClean="0"/>
              <a:t> allows flexible code via Overloading (compile-time) and Overriding (runtime</a:t>
            </a:r>
            <a:r>
              <a:rPr lang="en-US" sz="2400" dirty="0" smtClean="0"/>
              <a:t>).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🔹 </a:t>
            </a:r>
            <a:r>
              <a:rPr lang="en-US" sz="2400" b="1" dirty="0" smtClean="0"/>
              <a:t>Abstract Classes</a:t>
            </a:r>
            <a:r>
              <a:rPr lang="en-US" sz="2400" dirty="0" smtClean="0"/>
              <a:t> share code/state; </a:t>
            </a:r>
            <a:r>
              <a:rPr lang="en-US" sz="2400" b="1" dirty="0" smtClean="0"/>
              <a:t>Interfaces</a:t>
            </a:r>
            <a:r>
              <a:rPr lang="en-US" sz="2400" dirty="0" smtClean="0"/>
              <a:t> define contracts/capabilities</a:t>
            </a:r>
            <a:r>
              <a:rPr lang="en-US" sz="2400" dirty="0" smtClean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🔹 </a:t>
            </a:r>
            <a:r>
              <a:rPr lang="en-US" sz="2400" b="1" dirty="0" smtClean="0"/>
              <a:t>SOLID Principles</a:t>
            </a:r>
            <a:r>
              <a:rPr lang="en-US" sz="2400" dirty="0" smtClean="0"/>
              <a:t> guide maintainable Java </a:t>
            </a:r>
            <a:r>
              <a:rPr lang="en-US" sz="2400" dirty="0" smtClean="0"/>
              <a:t>architecture</a:t>
            </a:r>
            <a:endParaRPr lang="en-US" sz="2400" dirty="0" smtClean="0"/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🔹 </a:t>
            </a:r>
            <a:r>
              <a:rPr lang="en-US" sz="2400" b="1" dirty="0" smtClean="0"/>
              <a:t>Low Coupling &amp; High Cohesion</a:t>
            </a:r>
            <a:r>
              <a:rPr lang="en-US" sz="2400" dirty="0" smtClean="0"/>
              <a:t> are metrics of good design</a:t>
            </a:r>
            <a:r>
              <a:rPr lang="en-US" sz="2400" dirty="0" smtClean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🔹 </a:t>
            </a:r>
            <a:r>
              <a:rPr lang="en-US" sz="2400" b="1" dirty="0" smtClean="0"/>
              <a:t>Composition</a:t>
            </a:r>
            <a:r>
              <a:rPr lang="en-US" sz="2400" dirty="0" smtClean="0"/>
              <a:t> is often safer and more flexible than Inheritance</a:t>
            </a:r>
            <a:r>
              <a:rPr lang="en-US" sz="2400" dirty="0" smtClean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🔹 </a:t>
            </a:r>
            <a:r>
              <a:rPr lang="en-US" sz="2400" b="1" dirty="0" smtClean="0"/>
              <a:t>Program to Interfaces:</a:t>
            </a:r>
            <a:r>
              <a:rPr lang="en-US" sz="2400" dirty="0" smtClean="0"/>
              <a:t> Always declare variables using the most abstract type possible (List </a:t>
            </a:r>
            <a:r>
              <a:rPr lang="en-US" sz="2400" dirty="0" err="1" smtClean="0"/>
              <a:t>vs</a:t>
            </a:r>
            <a:r>
              <a:rPr lang="en-US" sz="2400" dirty="0" smtClean="0"/>
              <a:t> </a:t>
            </a:r>
            <a:r>
              <a:rPr lang="en-US" sz="2400" dirty="0" err="1" smtClean="0"/>
              <a:t>ArrayList</a:t>
            </a:r>
            <a:r>
              <a:rPr lang="en-US" sz="2400" dirty="0" smtClean="0"/>
              <a:t>).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Practice </a:t>
            </a:r>
            <a:r>
              <a:rPr lang="en-US" b="1" dirty="0" smtClean="0"/>
              <a:t>Exercises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072098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/>
              <a:t>Polymorphism </a:t>
            </a:r>
            <a:r>
              <a:rPr lang="en-US" sz="2400" b="1" dirty="0" smtClean="0"/>
              <a:t>Challenge: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Create a Shape hierarchy. Write a method </a:t>
            </a:r>
            <a:r>
              <a:rPr lang="en-US" sz="2400" dirty="0" err="1" smtClean="0"/>
              <a:t>printArea</a:t>
            </a:r>
            <a:r>
              <a:rPr lang="en-US" sz="2400" dirty="0" smtClean="0"/>
              <a:t>(Shape s) that works for any subclass without </a:t>
            </a:r>
            <a:r>
              <a:rPr lang="en-US" sz="2400" dirty="0" err="1" smtClean="0"/>
              <a:t>instanceof</a:t>
            </a:r>
            <a:r>
              <a:rPr lang="en-US" sz="2400" dirty="0" smtClean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/>
              <a:t>Interface Refactoring: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Identify a class with multiple responsibilities. Extract an interface and implement Dependency Injection.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/>
              <a:t>Abstract vs. Interface: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Design a Vehicle system. Decide which parts go into an Abstract Class (e.g., </a:t>
            </a:r>
            <a:r>
              <a:rPr lang="en-US" sz="2400" dirty="0" err="1" smtClean="0"/>
              <a:t>engineStatus</a:t>
            </a:r>
            <a:r>
              <a:rPr lang="en-US" sz="2400" dirty="0" smtClean="0"/>
              <a:t>) vs. Interface (e.g., Flyable).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/>
              <a:t>SOLID Audit: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Take a previous project assignment. Identify one violation of the Single Responsibility Principle and </a:t>
            </a:r>
            <a:r>
              <a:rPr lang="en-US" sz="2400" dirty="0" err="1" smtClean="0"/>
              <a:t>refactor</a:t>
            </a:r>
            <a:r>
              <a:rPr lang="en-US" sz="2400" dirty="0" smtClean="0"/>
              <a:t> it</a:t>
            </a:r>
            <a:r>
              <a:rPr lang="en-US" sz="2400" dirty="0" smtClean="0"/>
              <a:t>.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0"/>
            <a:ext cx="8715436" cy="1071546"/>
          </a:xfrm>
        </p:spPr>
        <p:txBody>
          <a:bodyPr>
            <a:normAutofit/>
          </a:bodyPr>
          <a:lstStyle/>
          <a:p>
            <a:r>
              <a:rPr lang="en-US" b="1" dirty="0" smtClean="0"/>
              <a:t>Further Reading &amp; </a:t>
            </a:r>
            <a:r>
              <a:rPr lang="en-US" b="1" dirty="0" smtClean="0"/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42928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 smtClean="0"/>
              <a:t>📚 </a:t>
            </a:r>
            <a:r>
              <a:rPr lang="en-US" b="1" dirty="0" smtClean="0"/>
              <a:t>Books:</a:t>
            </a:r>
            <a:endParaRPr lang="en-US" dirty="0" smtClean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i="1" dirty="0" smtClean="0"/>
              <a:t>Effective Java</a:t>
            </a:r>
            <a:r>
              <a:rPr lang="en-US" dirty="0" smtClean="0"/>
              <a:t> — Joshua Bloch (Items 1-10 cover OOP basics)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i="1" dirty="0" smtClean="0"/>
              <a:t>Head First Design Patterns</a:t>
            </a:r>
            <a:r>
              <a:rPr lang="en-US" dirty="0" smtClean="0"/>
              <a:t> — Freeman &amp; Freeman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i="1" dirty="0" smtClean="0"/>
              <a:t>Clean Architecture</a:t>
            </a:r>
            <a:r>
              <a:rPr lang="en-US" dirty="0" smtClean="0"/>
              <a:t> — Robert C. </a:t>
            </a:r>
            <a:r>
              <a:rPr lang="en-US" dirty="0" smtClean="0"/>
              <a:t>Martin	</a:t>
            </a:r>
            <a:endParaRPr lang="en-US" dirty="0" smtClean="0"/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 smtClean="0"/>
              <a:t>🌐 </a:t>
            </a:r>
            <a:r>
              <a:rPr lang="en-US" b="1" dirty="0" smtClean="0"/>
              <a:t>Online:</a:t>
            </a:r>
            <a:endParaRPr lang="en-US" dirty="0" smtClean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hlinkClick r:id="rId2"/>
              </a:rPr>
              <a:t>Oracle Java Interfaces Tutorial</a:t>
            </a:r>
            <a:endParaRPr lang="en-US" dirty="0" smtClean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err="1" smtClean="0">
                <a:hlinkClick r:id="rId3"/>
              </a:rPr>
              <a:t>Refactoring.guru</a:t>
            </a:r>
            <a:r>
              <a:rPr lang="en-US" dirty="0" smtClean="0">
                <a:hlinkClick r:id="rId3"/>
              </a:rPr>
              <a:t> — SOLID Principles</a:t>
            </a:r>
            <a:endParaRPr lang="en-US" dirty="0" smtClean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hlinkClick r:id="rId4"/>
              </a:rPr>
              <a:t>Java Design Patterns (</a:t>
            </a:r>
            <a:r>
              <a:rPr lang="en-US" dirty="0" err="1" smtClean="0">
                <a:hlinkClick r:id="rId4"/>
              </a:rPr>
              <a:t>GitHub</a:t>
            </a:r>
            <a:r>
              <a:rPr lang="en-US" dirty="0" smtClean="0">
                <a:hlinkClick r:id="rId4"/>
              </a:rPr>
              <a:t>)</a:t>
            </a:r>
            <a:endParaRPr lang="en-US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142852"/>
            <a:ext cx="8572560" cy="1071570"/>
          </a:xfrm>
        </p:spPr>
        <p:txBody>
          <a:bodyPr>
            <a:normAutofit/>
          </a:bodyPr>
          <a:lstStyle/>
          <a:p>
            <a:r>
              <a:rPr lang="en-US" b="1" dirty="0" smtClean="0"/>
              <a:t>Q&amp;A + </a:t>
            </a:r>
            <a:r>
              <a:rPr lang="en-US" b="1" dirty="0" smtClean="0"/>
              <a:t>Discussion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357298"/>
            <a:ext cx="8429684" cy="476886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❓ </a:t>
            </a:r>
            <a:r>
              <a:rPr lang="en-US" sz="2400" b="1" dirty="0" smtClean="0"/>
              <a:t>Question:</a:t>
            </a:r>
            <a:r>
              <a:rPr lang="en-US" sz="2400" dirty="0" smtClean="0"/>
              <a:t> Can an interface have a constructor</a:t>
            </a:r>
            <a:r>
              <a:rPr lang="en-US" sz="2400" dirty="0" smtClean="0"/>
              <a:t>?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❓ </a:t>
            </a:r>
            <a:r>
              <a:rPr lang="en-US" sz="2400" b="1" dirty="0" smtClean="0"/>
              <a:t>Question:</a:t>
            </a:r>
            <a:r>
              <a:rPr lang="en-US" sz="2400" dirty="0" smtClean="0"/>
              <a:t> What happens if a class implements two interfaces with the same default method</a:t>
            </a:r>
            <a:r>
              <a:rPr lang="en-US" sz="2400" dirty="0" smtClean="0"/>
              <a:t>?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❓ </a:t>
            </a:r>
            <a:r>
              <a:rPr lang="en-US" sz="2400" b="1" dirty="0" smtClean="0"/>
              <a:t>Question:</a:t>
            </a:r>
            <a:r>
              <a:rPr lang="en-US" sz="2400" dirty="0" smtClean="0"/>
              <a:t> How does Polymorphism impact performance in Java (dynamic dispatch</a:t>
            </a:r>
            <a:r>
              <a:rPr lang="en-US" sz="2400" dirty="0" smtClean="0"/>
              <a:t>)?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❓ </a:t>
            </a:r>
            <a:r>
              <a:rPr lang="en-US" sz="2400" b="1" dirty="0" smtClean="0"/>
              <a:t>Question:</a:t>
            </a:r>
            <a:r>
              <a:rPr lang="en-US" sz="2400" dirty="0" smtClean="0"/>
              <a:t> When is it okay to break the </a:t>
            </a:r>
            <a:r>
              <a:rPr lang="en-US" sz="2400" dirty="0" err="1" smtClean="0"/>
              <a:t>Liskov</a:t>
            </a:r>
            <a:r>
              <a:rPr lang="en-US" sz="2400" dirty="0" smtClean="0"/>
              <a:t> Substitution Principle?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endParaRPr lang="en-US" sz="2400" dirty="0" smtClean="0"/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/>
              <a:t>💬 </a:t>
            </a:r>
            <a:r>
              <a:rPr lang="en-US" sz="2400" b="1" dirty="0" smtClean="0"/>
              <a:t>Discussion:</a:t>
            </a:r>
            <a:r>
              <a:rPr lang="en-US" sz="2400" dirty="0" smtClean="0"/>
              <a:t> Share an example of a "God Class" you encountered in legacy code. How would you break it down?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1406</Words>
  <Application>Microsoft Office PowerPoint</Application>
  <PresentationFormat>On-screen Show (4:3)</PresentationFormat>
  <Paragraphs>281</Paragraphs>
  <Slides>24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Core OOP Concepts in Java</vt:lpstr>
      <vt:lpstr>Learning Objectives</vt:lpstr>
      <vt:lpstr>Polymorphism Overview</vt:lpstr>
      <vt:lpstr>Compile-time Polymorphism (Overloading)</vt:lpstr>
      <vt:lpstr>Compile-time Polymorphism (Overloading)</vt:lpstr>
      <vt:lpstr>Runtime Polymorphism (Overriding)</vt:lpstr>
      <vt:lpstr>Runtime Polymorphism (Overriding)</vt:lpstr>
      <vt:lpstr>Polymorphism in Collections</vt:lpstr>
      <vt:lpstr>Abstract Classes in Java</vt:lpstr>
      <vt:lpstr>Abstract Classes in Java</vt:lpstr>
      <vt:lpstr>Interfaces in Java</vt:lpstr>
      <vt:lpstr>Interfaces in Java</vt:lpstr>
      <vt:lpstr>Abstract Class vs. Interface (Decision Matrix)</vt:lpstr>
      <vt:lpstr>Sound Class Design Principles (SOLID)</vt:lpstr>
      <vt:lpstr>Cohesion and Coupling</vt:lpstr>
      <vt:lpstr>Cohesion and Coupling</vt:lpstr>
      <vt:lpstr>Composition Over Inheritance</vt:lpstr>
      <vt:lpstr>Composition Over Inheritance</vt:lpstr>
      <vt:lpstr>Integrated Case Study: Payment System</vt:lpstr>
      <vt:lpstr>Common Anti-Patterns to Avoid</vt:lpstr>
      <vt:lpstr>Summary &amp; Key Takeaways</vt:lpstr>
      <vt:lpstr>Practice Exercises</vt:lpstr>
      <vt:lpstr>Further Reading &amp; Resources</vt:lpstr>
      <vt:lpstr>Q&amp;A + Discussion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 and Object-Oriented Programming </dc:title>
  <dc:creator>tmik</dc:creator>
  <cp:lastModifiedBy>tmik</cp:lastModifiedBy>
  <cp:revision>132</cp:revision>
  <dcterms:created xsi:type="dcterms:W3CDTF">2026-02-15T10:58:32Z</dcterms:created>
  <dcterms:modified xsi:type="dcterms:W3CDTF">2026-02-23T16:50:41Z</dcterms:modified>
</cp:coreProperties>
</file>