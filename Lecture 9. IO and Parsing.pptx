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32F8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7994" autoAdjust="0"/>
    <p:restoredTop sz="88741" autoAdjust="0"/>
  </p:normalViewPr>
  <p:slideViewPr>
    <p:cSldViewPr>
      <p:cViewPr>
        <p:scale>
          <a:sx n="66" d="100"/>
          <a:sy n="66" d="100"/>
        </p:scale>
        <p:origin x="-2203" y="-2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B2BA9-4FD0-4DC4-B70B-93231BE247F2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36570-A967-4EBE-9949-A932A1A992F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"An application that cannot save data is just a calculator. Today we learn how to make your Swing apps persistent by reading and writing files, and how to interpret data formats like CSV or JSON."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 Suggestion: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Comparison table: File (Old, limited) vs. Path (New, robust).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"Java has two ways to handle files. File is old but still used in Swing. Path is the modern standard. You will often convert between them."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 Suggestion: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Diagram showing two pipelines: one carrying s (Bytes), one carrying text characters (Chars).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"This is a common bug source. If you read a text file using a Byte Stream, special characters (like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emojis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or accented letters) may get corrupted. Always use Readers/Writers for text."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 Suggestion: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Code snippet highlighting the simplicity of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Files.readString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vs. the loop in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BufferedReader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"If you are on Java 11+,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Files.readString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the easiest way. For older versions or large files,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BufferedReader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more memory efficient because it reads line-by-line."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 Suggestion: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Diagram showing the flow: Open -&gt; Use -&gt; Exception? -&gt; Auto Close.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"This connects back to our Exception Handling module. Never manually close streams in a finally block anymore. Use this syntax. It's cleaner and safer."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Visual Suggestion:</a:t>
            </a:r>
          </a:p>
          <a:p>
            <a:r>
              <a:rPr lang="en-US" dirty="0" smtClean="0"/>
              <a:t>Icon of a Java Object turning into a binary file cabinet.</a:t>
            </a:r>
          </a:p>
          <a:p>
            <a:r>
              <a:rPr lang="en-US" dirty="0" smtClean="0"/>
              <a:t>Speaker Notes:</a:t>
            </a:r>
          </a:p>
          <a:p>
            <a:r>
              <a:rPr lang="en-US" dirty="0" smtClean="0"/>
              <a:t>"Serialization is a quick way to save the state of your app. However, it's Java-specific. You can't easily read a serialized Java file from Python or C#."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 Suggestion: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Code snippet highlighting transient and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serialVersionUID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"Always generate a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serialVersionUID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If you add a field to your class later without updating this ID, your old saved files might become unreadable."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Visual Suggestion:</a:t>
            </a:r>
            <a:endParaRPr lang="en-US" dirty="0" smtClean="0"/>
          </a:p>
          <a:p>
            <a:r>
              <a:rPr lang="en-US" dirty="0" smtClean="0"/>
              <a:t>Flowchart: Text File -&gt; Parser -&gt; Java Object (List/Map).</a:t>
            </a:r>
          </a:p>
          <a:p>
            <a:r>
              <a:rPr lang="en-US" b="1" dirty="0" smtClean="0"/>
              <a:t>Speaker Notes:</a:t>
            </a:r>
            <a:r>
              <a:rPr lang="en-US" dirty="0" smtClean="0"/>
              <a:t> "Serialization saves Java objects as Java bytes. Parsing reads standard text formats that other programs can understand. Parsing is better for data exchange."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Visual Suggestion:</a:t>
            </a:r>
          </a:p>
          <a:p>
            <a:r>
              <a:rPr lang="en-US" dirty="0" smtClean="0"/>
              <a:t>Screenshot of a CSV file opened in Excel vs. Notepad.</a:t>
            </a:r>
          </a:p>
          <a:p>
            <a:r>
              <a:rPr lang="en-US" dirty="0" smtClean="0"/>
              <a:t>Speaker Notes:</a:t>
            </a:r>
          </a:p>
          <a:p>
            <a:r>
              <a:rPr lang="en-US" dirty="0" smtClean="0"/>
              <a:t>"For simple labs, split works. In production, use a library like </a:t>
            </a:r>
            <a:r>
              <a:rPr lang="en-US" dirty="0" err="1" smtClean="0"/>
              <a:t>OpenCSV</a:t>
            </a:r>
            <a:r>
              <a:rPr lang="en-US" dirty="0" smtClean="0"/>
              <a:t>. Parsing CSV manually is error-prone because of edge cases like commas inside quotes."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 Suggestion: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Side-by-side: Java Class structure vs. JSON structure showing the mapping.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Speaker Notes: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"JSON is the lingua franca of the web. If your Swing app needs to talk to a web API, you will use JSON. Libraries like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Gson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make this trivial."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Visual Suggestion:</a:t>
            </a:r>
          </a:p>
          <a:p>
            <a:r>
              <a:rPr lang="en-US" dirty="0" smtClean="0"/>
              <a:t>Screenshot of the standard Windows/Mac File Open dialog triggered by Java.</a:t>
            </a:r>
          </a:p>
          <a:p>
            <a:r>
              <a:rPr lang="en-US" dirty="0" smtClean="0"/>
              <a:t>Speaker Notes:</a:t>
            </a:r>
          </a:p>
          <a:p>
            <a:r>
              <a:rPr lang="en-US" dirty="0" smtClean="0"/>
              <a:t>"Never hardcode file paths in a GUI app. Let the user choose where to save/load. </a:t>
            </a:r>
            <a:r>
              <a:rPr lang="en-US" dirty="0" err="1" smtClean="0"/>
              <a:t>JFileChooser</a:t>
            </a:r>
            <a:r>
              <a:rPr lang="en-US" dirty="0" smtClean="0"/>
              <a:t> handles the OS-specific dialog for you."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Visual Suggestion:</a:t>
            </a:r>
          </a:p>
          <a:p>
            <a:r>
              <a:rPr lang="en-US" dirty="0" smtClean="0"/>
              <a:t>List of common Files methods with icons (Copy, Move, Delete).</a:t>
            </a:r>
          </a:p>
          <a:p>
            <a:r>
              <a:rPr lang="en-US" dirty="0" smtClean="0"/>
              <a:t>Speaker Notes:</a:t>
            </a:r>
          </a:p>
          <a:p>
            <a:r>
              <a:rPr lang="en-US" dirty="0" smtClean="0"/>
              <a:t>"If you start a new project today, use </a:t>
            </a:r>
            <a:r>
              <a:rPr lang="en-US" dirty="0" err="1" smtClean="0"/>
              <a:t>java.nio.file</a:t>
            </a:r>
            <a:r>
              <a:rPr lang="en-US" dirty="0" smtClean="0"/>
              <a:t>. It's more robust than </a:t>
            </a:r>
            <a:r>
              <a:rPr lang="en-US" dirty="0" err="1" smtClean="0"/>
              <a:t>java.io.File</a:t>
            </a:r>
            <a:r>
              <a:rPr lang="en-US" dirty="0" smtClean="0"/>
              <a:t>. For example, </a:t>
            </a:r>
            <a:r>
              <a:rPr lang="en-US" dirty="0" err="1" smtClean="0"/>
              <a:t>Files.move</a:t>
            </a:r>
            <a:r>
              <a:rPr lang="en-US" dirty="0" smtClean="0"/>
              <a:t> is atomic, whereas </a:t>
            </a:r>
            <a:r>
              <a:rPr lang="en-US" dirty="0" err="1" smtClean="0"/>
              <a:t>File.renameTo</a:t>
            </a:r>
            <a:r>
              <a:rPr lang="en-US" dirty="0" smtClean="0"/>
              <a:t> is not guaranteed to be."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Speaker Notes:</a:t>
            </a:r>
          </a:p>
          <a:p>
            <a:pPr>
              <a:buNone/>
            </a:pPr>
            <a:r>
              <a:rPr lang="en-US" dirty="0" smtClean="0"/>
              <a:t>"This lab ties everything together: Swing UI, Event Handling, Exceptions, and I/O. A functional app must be able to remember data between sessions."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31D62-7DF2-4DB4-910C-5841F65C3738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8596" y="1185848"/>
            <a:ext cx="8358246" cy="2171714"/>
          </a:xfrm>
        </p:spPr>
        <p:txBody>
          <a:bodyPr>
            <a:noAutofit/>
          </a:bodyPr>
          <a:lstStyle/>
          <a:p>
            <a:r>
              <a:rPr lang="en-US" sz="4800" b="1" dirty="0" err="1" smtClean="0"/>
              <a:t>Input/Output</a:t>
            </a:r>
            <a:r>
              <a:rPr lang="en-US" sz="4800" b="1" dirty="0" smtClean="0"/>
              <a:t> (I/O) and Parsing</a:t>
            </a: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28596" y="2928934"/>
            <a:ext cx="8358246" cy="2171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3600" i="1" dirty="0" smtClean="0"/>
              <a:t>File Handling, Serialization, and Data Processing</a:t>
            </a:r>
            <a:endParaRPr kumimoji="0" lang="en-US" sz="36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Learning </a:t>
            </a:r>
            <a:r>
              <a:rPr lang="en-US" b="1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What </a:t>
            </a:r>
            <a:r>
              <a:rPr lang="en-US" dirty="0" smtClean="0"/>
              <a:t>We Will Learn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Understand the difference between </a:t>
            </a:r>
            <a:r>
              <a:rPr lang="en-US" b="1" dirty="0" smtClean="0"/>
              <a:t>Byte</a:t>
            </a:r>
            <a:r>
              <a:rPr lang="en-US" dirty="0" smtClean="0"/>
              <a:t> and </a:t>
            </a:r>
            <a:r>
              <a:rPr lang="en-US" b="1" dirty="0" smtClean="0"/>
              <a:t>Character</a:t>
            </a:r>
            <a:r>
              <a:rPr lang="en-US" dirty="0" smtClean="0"/>
              <a:t> streams.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Read and write text files using java.io and java.nio.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Use </a:t>
            </a:r>
            <a:r>
              <a:rPr lang="en-US" b="1" dirty="0" smtClean="0"/>
              <a:t>Try-With-Resources</a:t>
            </a:r>
            <a:r>
              <a:rPr lang="en-US" dirty="0" smtClean="0"/>
              <a:t> for safe stream handling.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Understand </a:t>
            </a:r>
            <a:r>
              <a:rPr lang="en-US" b="1" dirty="0" smtClean="0"/>
              <a:t>Object Serialization</a:t>
            </a:r>
            <a:r>
              <a:rPr lang="en-US" dirty="0" smtClean="0"/>
              <a:t> (saving state).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Parse structured data (CSV, JSON).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Integrate File Choosers into </a:t>
            </a:r>
            <a:r>
              <a:rPr lang="en-US" b="1" dirty="0" smtClean="0"/>
              <a:t>Swing</a:t>
            </a:r>
            <a:r>
              <a:rPr lang="en-US" dirty="0" smtClean="0"/>
              <a:t> applications.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Handle </a:t>
            </a:r>
            <a:r>
              <a:rPr lang="en-US" dirty="0" err="1" smtClean="0"/>
              <a:t>IOException</a:t>
            </a:r>
            <a:r>
              <a:rPr lang="en-US" dirty="0" smtClean="0"/>
              <a:t> properly.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928694"/>
          </a:xfrm>
        </p:spPr>
        <p:txBody>
          <a:bodyPr>
            <a:normAutofit/>
          </a:bodyPr>
          <a:lstStyle/>
          <a:p>
            <a:r>
              <a:rPr lang="en-US" b="1" dirty="0" smtClean="0"/>
              <a:t>The File Class vs. </a:t>
            </a:r>
            <a:r>
              <a:rPr lang="en-US" b="1" dirty="0" smtClean="0"/>
              <a:t>Path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1"/>
            <a:ext cx="8229600" cy="4286280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Representing </a:t>
            </a:r>
            <a:r>
              <a:rPr lang="en-US" sz="2400" b="1" dirty="0" smtClean="0"/>
              <a:t>Files</a:t>
            </a:r>
          </a:p>
          <a:p>
            <a:pPr lvl="1"/>
            <a:r>
              <a:rPr lang="en-US" sz="2400" b="1" dirty="0" err="1" smtClean="0"/>
              <a:t>java.io.File</a:t>
            </a:r>
            <a:r>
              <a:rPr lang="en-US" sz="2400" dirty="0" smtClean="0"/>
              <a:t> (Legacy):</a:t>
            </a:r>
          </a:p>
          <a:p>
            <a:pPr lvl="2"/>
            <a:r>
              <a:rPr lang="en-US" sz="2200" i="1" dirty="0" smtClean="0"/>
              <a:t>Represents a file or directory pathname.</a:t>
            </a:r>
          </a:p>
          <a:p>
            <a:pPr lvl="2"/>
            <a:r>
              <a:rPr lang="en-US" sz="2200" i="1" dirty="0" smtClean="0"/>
              <a:t>Limited functionality.</a:t>
            </a:r>
          </a:p>
          <a:p>
            <a:pPr lvl="2"/>
            <a:r>
              <a:rPr lang="en-US" sz="2200" i="1" dirty="0" smtClean="0"/>
              <a:t>Used heavily in older Swing components.</a:t>
            </a:r>
          </a:p>
          <a:p>
            <a:pPr lvl="1"/>
            <a:r>
              <a:rPr lang="en-US" sz="2400" b="1" dirty="0" err="1" smtClean="0"/>
              <a:t>java.nio.file.Path</a:t>
            </a:r>
            <a:r>
              <a:rPr lang="en-US" sz="2400" dirty="0" smtClean="0"/>
              <a:t> (Modern - Java 7+):</a:t>
            </a:r>
          </a:p>
          <a:p>
            <a:pPr lvl="2"/>
            <a:r>
              <a:rPr lang="en-US" sz="2200" i="1" dirty="0" smtClean="0"/>
              <a:t>Represents a path in the file system.</a:t>
            </a:r>
          </a:p>
          <a:p>
            <a:pPr lvl="2"/>
            <a:r>
              <a:rPr lang="en-US" sz="2200" i="1" dirty="0" smtClean="0"/>
              <a:t>Richer API (copy, move, delete, attributes).</a:t>
            </a:r>
          </a:p>
          <a:p>
            <a:pPr lvl="2"/>
            <a:r>
              <a:rPr lang="en-US" sz="2200" i="1" dirty="0" smtClean="0"/>
              <a:t>Used with the Files utility class.</a:t>
            </a:r>
          </a:p>
          <a:p>
            <a:pPr lvl="1"/>
            <a:r>
              <a:rPr lang="en-US" sz="2400" b="1" dirty="0" smtClean="0"/>
              <a:t>Conversion:</a:t>
            </a:r>
            <a:r>
              <a:rPr lang="en-US" sz="2400" dirty="0" smtClean="0"/>
              <a:t> </a:t>
            </a:r>
            <a:r>
              <a:rPr lang="en-US" sz="2400" dirty="0" err="1" smtClean="0"/>
              <a:t>file.toPath</a:t>
            </a:r>
            <a:r>
              <a:rPr lang="en-US" sz="2400" dirty="0" smtClean="0"/>
              <a:t>() or </a:t>
            </a:r>
            <a:r>
              <a:rPr lang="en-US" sz="2400" dirty="0" err="1" smtClean="0"/>
              <a:t>path.toFile</a:t>
            </a:r>
            <a:r>
              <a:rPr lang="en-US" sz="2400" dirty="0" smtClean="0"/>
              <a:t>()</a:t>
            </a:r>
            <a:endParaRPr lang="en-US" sz="24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642910" y="5214950"/>
            <a:ext cx="7858180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Legacy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File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oldFile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= new File("data.txt");</a:t>
            </a:r>
          </a:p>
          <a:p>
            <a:endParaRPr lang="en-US" b="1" dirty="0" smtClean="0">
              <a:solidFill>
                <a:schemeClr val="bg1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Modern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Path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newPath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Paths.get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("data.txt");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8"/>
          </a:xfrm>
        </p:spPr>
        <p:txBody>
          <a:bodyPr>
            <a:normAutofit/>
          </a:bodyPr>
          <a:lstStyle/>
          <a:p>
            <a:r>
              <a:rPr lang="en-US" b="1" dirty="0" smtClean="0"/>
              <a:t>Byte vs. Character </a:t>
            </a:r>
            <a:r>
              <a:rPr lang="en-US" b="1" dirty="0" smtClean="0"/>
              <a:t>Streams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929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500" b="1" dirty="0" smtClean="0"/>
              <a:t>Stream </a:t>
            </a:r>
            <a:r>
              <a:rPr lang="en-US" sz="2500" b="1" dirty="0" smtClean="0"/>
              <a:t>Hierarchy</a:t>
            </a:r>
          </a:p>
          <a:p>
            <a:pPr lvl="1">
              <a:spcAft>
                <a:spcPts val="600"/>
              </a:spcAft>
            </a:pPr>
            <a:r>
              <a:rPr lang="en-US" sz="2500" b="1" dirty="0" smtClean="0"/>
              <a:t>Byte Streams (</a:t>
            </a:r>
            <a:r>
              <a:rPr lang="en-US" sz="2500" b="1" dirty="0" err="1" smtClean="0"/>
              <a:t>InputStream</a:t>
            </a:r>
            <a:r>
              <a:rPr lang="en-US" sz="2500" b="1" dirty="0" smtClean="0"/>
              <a:t> / </a:t>
            </a:r>
            <a:r>
              <a:rPr lang="en-US" sz="2500" b="1" dirty="0" err="1" smtClean="0"/>
              <a:t>OutputStream</a:t>
            </a:r>
            <a:r>
              <a:rPr lang="en-US" sz="2500" b="1" dirty="0" smtClean="0"/>
              <a:t>):</a:t>
            </a:r>
            <a:endParaRPr lang="en-US" sz="2500" dirty="0" smtClean="0"/>
          </a:p>
          <a:p>
            <a:pPr lvl="2">
              <a:spcAft>
                <a:spcPts val="600"/>
              </a:spcAft>
            </a:pPr>
            <a:r>
              <a:rPr lang="en-US" sz="2500" dirty="0" smtClean="0"/>
              <a:t>Handle binary data (images, audio, compiled code).</a:t>
            </a:r>
          </a:p>
          <a:p>
            <a:pPr lvl="2">
              <a:spcAft>
                <a:spcPts val="600"/>
              </a:spcAft>
            </a:pPr>
            <a:r>
              <a:rPr lang="en-US" sz="2500" dirty="0" smtClean="0"/>
              <a:t>Classes: </a:t>
            </a:r>
            <a:r>
              <a:rPr lang="en-US" sz="2500" dirty="0" err="1" smtClean="0"/>
              <a:t>FileInputStream</a:t>
            </a:r>
            <a:r>
              <a:rPr lang="en-US" sz="2500" dirty="0" smtClean="0"/>
              <a:t>, </a:t>
            </a:r>
            <a:r>
              <a:rPr lang="en-US" sz="2500" dirty="0" err="1" smtClean="0"/>
              <a:t>FileOutputStream</a:t>
            </a:r>
            <a:r>
              <a:rPr lang="en-US" sz="2500" dirty="0" smtClean="0"/>
              <a:t>.</a:t>
            </a:r>
          </a:p>
          <a:p>
            <a:pPr lvl="1">
              <a:spcAft>
                <a:spcPts val="600"/>
              </a:spcAft>
            </a:pPr>
            <a:r>
              <a:rPr lang="en-US" sz="2500" b="1" dirty="0" smtClean="0"/>
              <a:t>Character Streams (Reader / Writer):</a:t>
            </a:r>
            <a:endParaRPr lang="en-US" sz="2500" dirty="0" smtClean="0"/>
          </a:p>
          <a:p>
            <a:pPr lvl="2">
              <a:spcAft>
                <a:spcPts val="600"/>
              </a:spcAft>
            </a:pPr>
            <a:r>
              <a:rPr lang="en-US" sz="2500" dirty="0" smtClean="0"/>
              <a:t>Handle text data (handles encoding like UTF-8).</a:t>
            </a:r>
          </a:p>
          <a:p>
            <a:pPr lvl="2">
              <a:spcAft>
                <a:spcPts val="600"/>
              </a:spcAft>
            </a:pPr>
            <a:r>
              <a:rPr lang="en-US" sz="2500" dirty="0" smtClean="0"/>
              <a:t>Classes: </a:t>
            </a:r>
            <a:r>
              <a:rPr lang="en-US" sz="2500" dirty="0" err="1" smtClean="0"/>
              <a:t>FileReader</a:t>
            </a:r>
            <a:r>
              <a:rPr lang="en-US" sz="2500" dirty="0" smtClean="0"/>
              <a:t>, </a:t>
            </a:r>
            <a:r>
              <a:rPr lang="en-US" sz="2500" dirty="0" err="1" smtClean="0"/>
              <a:t>FileWriter</a:t>
            </a:r>
            <a:r>
              <a:rPr lang="en-US" sz="2500" dirty="0" smtClean="0"/>
              <a:t>, </a:t>
            </a:r>
            <a:r>
              <a:rPr lang="en-US" sz="2500" dirty="0" err="1" smtClean="0"/>
              <a:t>BufferedReader</a:t>
            </a:r>
            <a:r>
              <a:rPr lang="en-US" sz="2500" dirty="0" smtClean="0"/>
              <a:t>.</a:t>
            </a:r>
          </a:p>
          <a:p>
            <a:pPr lvl="1">
              <a:spcAft>
                <a:spcPts val="600"/>
              </a:spcAft>
            </a:pPr>
            <a:r>
              <a:rPr lang="en-US" sz="2500" b="1" dirty="0" smtClean="0"/>
              <a:t>Rule:</a:t>
            </a:r>
            <a:r>
              <a:rPr lang="en-US" sz="2500" dirty="0" smtClean="0"/>
              <a:t> Use </a:t>
            </a:r>
            <a:r>
              <a:rPr lang="en-US" sz="2500" b="1" dirty="0" smtClean="0"/>
              <a:t>Character Streams</a:t>
            </a:r>
            <a:r>
              <a:rPr lang="en-US" sz="2500" dirty="0" smtClean="0"/>
              <a:t> for text files to avoid encoding issues.</a:t>
            </a:r>
          </a:p>
          <a:p>
            <a:pPr>
              <a:spcAft>
                <a:spcPts val="600"/>
              </a:spcAft>
            </a:pP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Reading Text </a:t>
            </a:r>
            <a:r>
              <a:rPr lang="en-US" b="1" dirty="0" smtClean="0"/>
              <a:t>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107157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Reading </a:t>
            </a:r>
            <a:r>
              <a:rPr lang="en-US" sz="2400" b="1" dirty="0" smtClean="0"/>
              <a:t>Data</a:t>
            </a:r>
          </a:p>
          <a:p>
            <a:pPr lvl="1"/>
            <a:r>
              <a:rPr lang="en-US" sz="2400" b="1" dirty="0" smtClean="0"/>
              <a:t>Modern Approach (java.nio):</a:t>
            </a:r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28596" y="3643314"/>
            <a:ext cx="8229600" cy="6429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b="1" dirty="0" smtClean="0"/>
              <a:t>Traditional Approach (java.io</a:t>
            </a:r>
            <a:r>
              <a:rPr lang="en-US" sz="2400" b="1" dirty="0" smtClean="0"/>
              <a:t>)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57224" y="2357430"/>
            <a:ext cx="7500990" cy="9233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Path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path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Paths.get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("config.txt");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String content =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Files.readString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(path); </a:t>
            </a: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Java 11+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List&lt;String&gt; lines =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Files.readAllLines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(path);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7224" y="4357694"/>
            <a:ext cx="7500990" cy="107721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try (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(new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FileReader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("file.txt"))) {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String line =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br.readLine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28596" y="5857892"/>
            <a:ext cx="8229600" cy="6429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b="1" dirty="0" smtClean="0"/>
              <a:t>Note:</a:t>
            </a:r>
            <a:r>
              <a:rPr lang="en-US" sz="2400" dirty="0" smtClean="0"/>
              <a:t> </a:t>
            </a:r>
            <a:r>
              <a:rPr lang="en-US" sz="2400" dirty="0" err="1" smtClean="0"/>
              <a:t>IOException</a:t>
            </a:r>
            <a:r>
              <a:rPr lang="en-US" sz="2400" dirty="0" smtClean="0"/>
              <a:t> is a </a:t>
            </a:r>
            <a:r>
              <a:rPr lang="en-US" sz="2400" b="1" dirty="0" smtClean="0"/>
              <a:t>Checked Exception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939784"/>
          </a:xfrm>
        </p:spPr>
        <p:txBody>
          <a:bodyPr>
            <a:normAutofit/>
          </a:bodyPr>
          <a:lstStyle/>
          <a:p>
            <a:r>
              <a:rPr lang="en-US" b="1" dirty="0" smtClean="0"/>
              <a:t>Try-With-Resources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3500462"/>
          </a:xfrm>
        </p:spPr>
        <p:txBody>
          <a:bodyPr>
            <a:noAutofit/>
          </a:bodyPr>
          <a:lstStyle/>
          <a:p>
            <a:r>
              <a:rPr lang="en-US" sz="2400" dirty="0" smtClean="0"/>
              <a:t>Managing </a:t>
            </a:r>
            <a:r>
              <a:rPr lang="en-US" sz="2400" dirty="0" smtClean="0"/>
              <a:t>Resources Safely</a:t>
            </a:r>
          </a:p>
          <a:p>
            <a:r>
              <a:rPr lang="en-US" sz="2400" b="1" dirty="0" smtClean="0"/>
              <a:t>Problem:</a:t>
            </a:r>
            <a:r>
              <a:rPr lang="en-US" sz="2400" dirty="0" smtClean="0"/>
              <a:t> Streams must be closed (close()) to free system resources.</a:t>
            </a:r>
          </a:p>
          <a:p>
            <a:r>
              <a:rPr lang="en-US" sz="2400" b="1" dirty="0" smtClean="0"/>
              <a:t>Risk:</a:t>
            </a:r>
            <a:r>
              <a:rPr lang="en-US" sz="2400" dirty="0" smtClean="0"/>
              <a:t> If an exception occurs, close() might never run.</a:t>
            </a:r>
          </a:p>
          <a:p>
            <a:r>
              <a:rPr lang="en-US" sz="2400" b="1" dirty="0" smtClean="0"/>
              <a:t>Solution:</a:t>
            </a:r>
            <a:r>
              <a:rPr lang="en-US" sz="2400" dirty="0" smtClean="0"/>
              <a:t> Try-With-Resources (Java 7+).</a:t>
            </a:r>
          </a:p>
          <a:p>
            <a:pPr lvl="1"/>
            <a:r>
              <a:rPr lang="en-US" sz="2400" dirty="0" smtClean="0"/>
              <a:t>Automatically closes resources implementing </a:t>
            </a:r>
            <a:r>
              <a:rPr lang="en-US" sz="2400" dirty="0" err="1" smtClean="0"/>
              <a:t>AutoCloseable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 smtClean="0"/>
              <a:t>Eliminates need for finally block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642910" y="4683823"/>
            <a:ext cx="8001056" cy="20313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Automatic closing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try 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FileWriter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writer = new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FileWriter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("out.txt"))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writer.write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("Hello");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 catch 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IOException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e)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e.printStackTrace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b="1" dirty="0" err="1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writer.close</a:t>
            </a: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() called automatically here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928694"/>
          </a:xfrm>
        </p:spPr>
        <p:txBody>
          <a:bodyPr>
            <a:normAutofit/>
          </a:bodyPr>
          <a:lstStyle/>
          <a:p>
            <a:r>
              <a:rPr lang="en-US" b="1" dirty="0" smtClean="0"/>
              <a:t>Object </a:t>
            </a:r>
            <a:r>
              <a:rPr lang="en-US" b="1" dirty="0" smtClean="0"/>
              <a:t>Serialization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982" y="1214422"/>
            <a:ext cx="8786874" cy="2428892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Saving </a:t>
            </a:r>
            <a:r>
              <a:rPr lang="en-US" sz="2400" b="1" dirty="0" smtClean="0"/>
              <a:t>Objects to Disk</a:t>
            </a:r>
          </a:p>
          <a:p>
            <a:pPr lvl="1"/>
            <a:r>
              <a:rPr lang="en-US" sz="2400" b="1" dirty="0" smtClean="0"/>
              <a:t>Serialization:</a:t>
            </a:r>
            <a:r>
              <a:rPr lang="en-US" sz="2400" dirty="0" smtClean="0"/>
              <a:t> Converting an object into a byte stream to save it.</a:t>
            </a:r>
          </a:p>
          <a:p>
            <a:pPr lvl="1"/>
            <a:r>
              <a:rPr lang="en-US" sz="2400" b="1" dirty="0" smtClean="0"/>
              <a:t>Requirement:</a:t>
            </a:r>
            <a:r>
              <a:rPr lang="en-US" sz="2400" dirty="0" smtClean="0"/>
              <a:t> Class must implement </a:t>
            </a:r>
            <a:r>
              <a:rPr lang="en-US" sz="2400" dirty="0" err="1" smtClean="0"/>
              <a:t>Serializable</a:t>
            </a:r>
            <a:r>
              <a:rPr lang="en-US" sz="2400" dirty="0" smtClean="0"/>
              <a:t> interface.</a:t>
            </a:r>
          </a:p>
          <a:p>
            <a:pPr lvl="2"/>
            <a:r>
              <a:rPr lang="en-US" dirty="0" smtClean="0"/>
              <a:t>Marker interface (no methods).</a:t>
            </a:r>
          </a:p>
          <a:p>
            <a:pPr lvl="1"/>
            <a:r>
              <a:rPr lang="en-US" sz="2400" b="1" dirty="0" smtClean="0"/>
              <a:t>Classes:</a:t>
            </a:r>
            <a:r>
              <a:rPr lang="en-US" sz="2400" dirty="0" smtClean="0"/>
              <a:t> </a:t>
            </a:r>
            <a:r>
              <a:rPr lang="en-US" sz="2400" dirty="0" err="1" smtClean="0"/>
              <a:t>ObjectOutputStream</a:t>
            </a:r>
            <a:r>
              <a:rPr lang="en-US" sz="2400" dirty="0" smtClean="0"/>
              <a:t>, </a:t>
            </a:r>
            <a:r>
              <a:rPr lang="en-US" sz="2400" dirty="0" err="1" smtClean="0"/>
              <a:t>ObjectInputStream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500034" y="3643314"/>
            <a:ext cx="8286808" cy="31393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Saving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try 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ObjectOutputStream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oos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ObjectOutputStream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(new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FileOutputStream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("user.ser")))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oos.writeObject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myUserObject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b="1" dirty="0" smtClean="0">
              <a:solidFill>
                <a:schemeClr val="bg1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Loading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try 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ObjectInputStream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ois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ObjectInputStream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(new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FileInputStream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("user.ser")))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User u = (User)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ois.readObject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22"/>
            <a:ext cx="8229600" cy="857248"/>
          </a:xfrm>
        </p:spPr>
        <p:txBody>
          <a:bodyPr>
            <a:normAutofit/>
          </a:bodyPr>
          <a:lstStyle/>
          <a:p>
            <a:r>
              <a:rPr lang="en-US" b="1" dirty="0" smtClean="0"/>
              <a:t>Serialization Best </a:t>
            </a:r>
            <a:r>
              <a:rPr lang="en-US" b="1" dirty="0" smtClean="0"/>
              <a:t>Practices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4000528"/>
          </a:xfrm>
        </p:spPr>
        <p:txBody>
          <a:bodyPr>
            <a:normAutofit/>
          </a:bodyPr>
          <a:lstStyle/>
          <a:p>
            <a:r>
              <a:rPr lang="en-US" sz="2200" b="1" dirty="0" smtClean="0"/>
              <a:t>Serialization </a:t>
            </a:r>
            <a:r>
              <a:rPr lang="en-US" sz="2200" b="1" dirty="0" smtClean="0"/>
              <a:t>Risks &amp; Controls</a:t>
            </a:r>
          </a:p>
          <a:p>
            <a:pPr lvl="1"/>
            <a:r>
              <a:rPr lang="en-US" sz="2200" b="1" dirty="0" err="1" smtClean="0"/>
              <a:t>serialVersionUID</a:t>
            </a:r>
            <a:r>
              <a:rPr lang="en-US" sz="2200" dirty="0" smtClean="0"/>
              <a:t>:</a:t>
            </a:r>
            <a:endParaRPr lang="en-US" sz="2200" dirty="0" smtClean="0"/>
          </a:p>
          <a:p>
            <a:pPr lvl="2"/>
            <a:r>
              <a:rPr lang="en-US" sz="2200" dirty="0" smtClean="0"/>
              <a:t>Unique ID for versioning.</a:t>
            </a:r>
          </a:p>
          <a:p>
            <a:pPr lvl="2"/>
            <a:r>
              <a:rPr lang="en-US" sz="2200" dirty="0" smtClean="0"/>
              <a:t>If class changes but ID matches, </a:t>
            </a:r>
            <a:r>
              <a:rPr lang="en-US" sz="2200" dirty="0" err="1" smtClean="0"/>
              <a:t>deserialization</a:t>
            </a:r>
            <a:r>
              <a:rPr lang="en-US" sz="2200" dirty="0" smtClean="0"/>
              <a:t> succeeds.</a:t>
            </a:r>
          </a:p>
          <a:p>
            <a:pPr lvl="2"/>
            <a:r>
              <a:rPr lang="en-US" sz="2200" dirty="0" smtClean="0"/>
              <a:t>If ID mismatches, </a:t>
            </a:r>
            <a:r>
              <a:rPr lang="en-US" sz="2200" dirty="0" err="1" smtClean="0"/>
              <a:t>InvalidClassException</a:t>
            </a:r>
            <a:r>
              <a:rPr lang="en-US" sz="2200" dirty="0" smtClean="0"/>
              <a:t> occurs.</a:t>
            </a:r>
          </a:p>
          <a:p>
            <a:pPr lvl="1"/>
            <a:r>
              <a:rPr lang="en-US" sz="2200" b="1" dirty="0" smtClean="0"/>
              <a:t>transient</a:t>
            </a:r>
            <a:r>
              <a:rPr lang="en-US" sz="2200" dirty="0" smtClean="0"/>
              <a:t> Keyword:</a:t>
            </a:r>
          </a:p>
          <a:p>
            <a:pPr lvl="2"/>
            <a:r>
              <a:rPr lang="en-US" sz="2200" dirty="0" smtClean="0"/>
              <a:t>Marks fields that should not be saved (e.g., passwords, temporary caches).</a:t>
            </a:r>
          </a:p>
          <a:p>
            <a:pPr lvl="2"/>
            <a:r>
              <a:rPr lang="en-US" sz="2200" dirty="0" smtClean="0"/>
              <a:t>Security: Never </a:t>
            </a:r>
            <a:r>
              <a:rPr lang="en-US" sz="2200" dirty="0" err="1" smtClean="0"/>
              <a:t>deserialize</a:t>
            </a:r>
            <a:r>
              <a:rPr lang="en-US" sz="2200" dirty="0" smtClean="0"/>
              <a:t> </a:t>
            </a:r>
            <a:r>
              <a:rPr lang="en-US" sz="2200" dirty="0" err="1" smtClean="0"/>
              <a:t>untrusted</a:t>
            </a:r>
            <a:r>
              <a:rPr lang="en-US" sz="2200" dirty="0" smtClean="0"/>
              <a:t> data (security vulnerability).</a:t>
            </a:r>
            <a:endParaRPr lang="en-US" sz="2200" dirty="0"/>
          </a:p>
        </p:txBody>
      </p:sp>
      <p:sp>
        <p:nvSpPr>
          <p:cNvPr id="4" name="Rectangle 3"/>
          <p:cNvSpPr/>
          <p:nvPr/>
        </p:nvSpPr>
        <p:spPr>
          <a:xfrm>
            <a:off x="857224" y="5214950"/>
            <a:ext cx="8143932" cy="132343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public class User implements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Serializable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private static final long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serialVersionUID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= 1L;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private transient String password; </a:t>
            </a:r>
            <a:r>
              <a:rPr lang="en-US" sz="2000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Not saved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Introduction to </a:t>
            </a:r>
            <a:r>
              <a:rPr lang="en-US" b="1" dirty="0" smtClean="0"/>
              <a:t>Parsing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214974"/>
          </a:xfrm>
        </p:spPr>
        <p:txBody>
          <a:bodyPr>
            <a:noAutofit/>
          </a:bodyPr>
          <a:lstStyle/>
          <a:p>
            <a:r>
              <a:rPr lang="en-US" sz="2400" dirty="0" smtClean="0"/>
              <a:t>What </a:t>
            </a:r>
            <a:r>
              <a:rPr lang="en-US" sz="2400" dirty="0" smtClean="0"/>
              <a:t>is Parsing?</a:t>
            </a:r>
          </a:p>
          <a:p>
            <a:pPr lvl="1"/>
            <a:r>
              <a:rPr lang="en-US" sz="2400" b="1" dirty="0" smtClean="0"/>
              <a:t>Definition:</a:t>
            </a:r>
            <a:r>
              <a:rPr lang="en-US" sz="2400" dirty="0" smtClean="0"/>
              <a:t> Analyzing a string of symbols to extract structured data.</a:t>
            </a:r>
          </a:p>
          <a:p>
            <a:pPr lvl="1"/>
            <a:r>
              <a:rPr lang="en-US" sz="2400" b="1" dirty="0" smtClean="0"/>
              <a:t>Input:</a:t>
            </a:r>
            <a:r>
              <a:rPr lang="en-US" sz="2400" dirty="0" smtClean="0"/>
              <a:t> Raw text (CSV, JSON, XML, Log files).</a:t>
            </a:r>
          </a:p>
          <a:p>
            <a:pPr lvl="1"/>
            <a:r>
              <a:rPr lang="en-US" sz="2400" b="1" dirty="0" smtClean="0"/>
              <a:t>Output:</a:t>
            </a:r>
            <a:r>
              <a:rPr lang="en-US" sz="2400" dirty="0" smtClean="0"/>
              <a:t> Java Objects / Collections.</a:t>
            </a:r>
          </a:p>
          <a:p>
            <a:pPr lvl="1"/>
            <a:r>
              <a:rPr lang="en-US" sz="2400" b="1" dirty="0" smtClean="0"/>
              <a:t>Why?</a:t>
            </a:r>
            <a:r>
              <a:rPr lang="en-US" sz="2400" dirty="0" smtClean="0"/>
              <a:t> Files are often stored in standard formats for interoperability.</a:t>
            </a:r>
          </a:p>
          <a:p>
            <a:pPr lvl="1"/>
            <a:r>
              <a:rPr lang="en-US" sz="2400" b="1" dirty="0" smtClean="0"/>
              <a:t>Common Formats:</a:t>
            </a:r>
            <a:endParaRPr lang="en-US" sz="2400" dirty="0" smtClean="0"/>
          </a:p>
          <a:p>
            <a:pPr lvl="2"/>
            <a:r>
              <a:rPr lang="en-US" b="1" dirty="0" smtClean="0"/>
              <a:t>CSV:</a:t>
            </a:r>
            <a:r>
              <a:rPr lang="en-US" dirty="0" smtClean="0"/>
              <a:t> Comma Separated Values (Simple).</a:t>
            </a:r>
          </a:p>
          <a:p>
            <a:pPr lvl="2"/>
            <a:r>
              <a:rPr lang="en-US" b="1" dirty="0" smtClean="0"/>
              <a:t>JSON:</a:t>
            </a:r>
            <a:r>
              <a:rPr lang="en-US" dirty="0" smtClean="0"/>
              <a:t> JavaScript Object Notation (Web standard).</a:t>
            </a:r>
          </a:p>
          <a:p>
            <a:pPr lvl="2"/>
            <a:r>
              <a:rPr lang="en-US" b="1" dirty="0" smtClean="0"/>
              <a:t>XML:</a:t>
            </a:r>
            <a:r>
              <a:rPr lang="en-US" dirty="0" smtClean="0"/>
              <a:t> Extensible Markup Language (Legacy/</a:t>
            </a:r>
            <a:r>
              <a:rPr lang="en-US" dirty="0" err="1" smtClean="0"/>
              <a:t>Config</a:t>
            </a:r>
            <a:r>
              <a:rPr lang="en-US" dirty="0" smtClean="0"/>
              <a:t>).</a:t>
            </a:r>
            <a:endParaRPr lang="en-US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868346"/>
          </a:xfrm>
        </p:spPr>
        <p:txBody>
          <a:bodyPr>
            <a:normAutofit/>
          </a:bodyPr>
          <a:lstStyle/>
          <a:p>
            <a:r>
              <a:rPr lang="en-US" b="1" dirty="0" smtClean="0"/>
              <a:t>Parsing </a:t>
            </a:r>
            <a:r>
              <a:rPr lang="en-US" b="1" dirty="0" smtClean="0"/>
              <a:t>CSV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5"/>
            <a:ext cx="8229600" cy="2000263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Handling </a:t>
            </a:r>
            <a:r>
              <a:rPr lang="en-US" sz="2400" b="1" dirty="0" smtClean="0"/>
              <a:t>CSV Files</a:t>
            </a:r>
          </a:p>
          <a:p>
            <a:pPr lvl="1"/>
            <a:r>
              <a:rPr lang="en-US" sz="2400" b="1" dirty="0" smtClean="0"/>
              <a:t>Simple Approach:</a:t>
            </a:r>
            <a:r>
              <a:rPr lang="en-US" sz="2400" dirty="0" smtClean="0"/>
              <a:t> </a:t>
            </a:r>
            <a:r>
              <a:rPr lang="en-US" sz="2400" dirty="0" err="1" smtClean="0"/>
              <a:t>String.split</a:t>
            </a:r>
            <a:r>
              <a:rPr lang="en-US" sz="2400" dirty="0" smtClean="0"/>
              <a:t>(",").</a:t>
            </a:r>
          </a:p>
          <a:p>
            <a:pPr lvl="2"/>
            <a:r>
              <a:rPr lang="en-US" dirty="0" smtClean="0"/>
              <a:t>Risky if data contains commas.</a:t>
            </a:r>
          </a:p>
          <a:p>
            <a:pPr lvl="1"/>
            <a:r>
              <a:rPr lang="en-US" sz="2400" b="1" dirty="0" smtClean="0"/>
              <a:t>Better Approach:</a:t>
            </a:r>
            <a:r>
              <a:rPr lang="en-US" sz="2400" dirty="0" smtClean="0"/>
              <a:t> Scanner or Libraries (</a:t>
            </a:r>
            <a:r>
              <a:rPr lang="en-US" sz="2400" dirty="0" err="1" smtClean="0"/>
              <a:t>OpenCSV</a:t>
            </a:r>
            <a:r>
              <a:rPr lang="en-US" sz="2400" dirty="0" smtClean="0"/>
              <a:t>).</a:t>
            </a:r>
          </a:p>
          <a:p>
            <a:endParaRPr lang="en-US" sz="2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28596" y="6000768"/>
            <a:ext cx="8229600" cy="57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b="1" dirty="0" smtClean="0"/>
              <a:t>Challenge</a:t>
            </a:r>
            <a:r>
              <a:rPr lang="en-US" sz="2400" b="1" dirty="0" smtClean="0"/>
              <a:t>:</a:t>
            </a:r>
            <a:r>
              <a:rPr lang="en-US" sz="2400" dirty="0" smtClean="0"/>
              <a:t> Handling quoted fields (e.g., "Doe, John").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2976" y="3286124"/>
            <a:ext cx="7429552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List&lt;String&gt; users = new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ArrayList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&lt;&gt;();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try (Scanner sc = new Scanner(new File("users.csv")))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while 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sc.hasNextLine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())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String[] data =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sc.nextLine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().split(",");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users.add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(data[0]); </a:t>
            </a: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Get first column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000132"/>
          </a:xfrm>
        </p:spPr>
        <p:txBody>
          <a:bodyPr>
            <a:normAutofit/>
          </a:bodyPr>
          <a:lstStyle/>
          <a:p>
            <a:r>
              <a:rPr lang="en-US" b="1" dirty="0" smtClean="0"/>
              <a:t>Parsing </a:t>
            </a:r>
            <a:r>
              <a:rPr lang="en-US" b="1" dirty="0" smtClean="0"/>
              <a:t>JSON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5"/>
            <a:ext cx="8229600" cy="321471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 smtClean="0"/>
              <a:t>Handling </a:t>
            </a:r>
            <a:r>
              <a:rPr lang="en-US" sz="2400" dirty="0" smtClean="0"/>
              <a:t>JSON Data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2400" b="1" dirty="0" smtClean="0"/>
              <a:t>Standard:</a:t>
            </a:r>
            <a:r>
              <a:rPr lang="en-US" sz="2400" dirty="0" smtClean="0"/>
              <a:t> Lightweight data-interchange format.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2400" b="1" dirty="0" smtClean="0"/>
              <a:t>Java Support:</a:t>
            </a:r>
            <a:r>
              <a:rPr lang="en-US" sz="2400" dirty="0" smtClean="0"/>
              <a:t> No built-in parser in JDK (until recently).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2400" b="1" dirty="0" smtClean="0"/>
              <a:t>Libraries:</a:t>
            </a:r>
            <a:endParaRPr lang="en-US" sz="2400" dirty="0" smtClean="0"/>
          </a:p>
          <a:p>
            <a:pPr lvl="2">
              <a:spcBef>
                <a:spcPts val="0"/>
              </a:spcBef>
              <a:spcAft>
                <a:spcPts val="600"/>
              </a:spcAft>
            </a:pPr>
            <a:r>
              <a:rPr lang="en-US" b="1" dirty="0" err="1" smtClean="0"/>
              <a:t>Gson</a:t>
            </a:r>
            <a:r>
              <a:rPr lang="en-US" dirty="0" smtClean="0"/>
              <a:t> (Google).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r>
              <a:rPr lang="en-US" b="1" dirty="0" smtClean="0"/>
              <a:t>Jackson</a:t>
            </a:r>
            <a:r>
              <a:rPr lang="en-US" dirty="0" smtClean="0"/>
              <a:t> (Industry Standard).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r>
              <a:rPr lang="en-US" b="1" dirty="0" err="1" smtClean="0"/>
              <a:t>org.json</a:t>
            </a:r>
            <a:r>
              <a:rPr lang="en-US" dirty="0" smtClean="0"/>
              <a:t> (Simple</a:t>
            </a:r>
            <a:r>
              <a:rPr lang="en-US" dirty="0" smtClean="0"/>
              <a:t>).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42910" y="4572008"/>
            <a:ext cx="7929618" cy="132343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Using </a:t>
            </a:r>
            <a:r>
              <a:rPr lang="en-US" sz="2000" b="1" dirty="0" err="1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Gson</a:t>
            </a:r>
            <a:endParaRPr lang="en-US" sz="2000" b="1" dirty="0" smtClean="0">
              <a:solidFill>
                <a:schemeClr val="bg1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Gson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gson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Gson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User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user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gson.fromJson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jsonString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User.class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json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gson.toJson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(user);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I/O in Swing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042981"/>
          </a:xfrm>
        </p:spPr>
        <p:txBody>
          <a:bodyPr>
            <a:noAutofit/>
          </a:bodyPr>
          <a:lstStyle/>
          <a:p>
            <a:r>
              <a:rPr lang="en-US" sz="2400" dirty="0" smtClean="0"/>
              <a:t>File </a:t>
            </a:r>
            <a:r>
              <a:rPr lang="en-US" sz="2400" dirty="0" smtClean="0"/>
              <a:t>Choosers in GUI</a:t>
            </a:r>
          </a:p>
          <a:p>
            <a:r>
              <a:rPr lang="en-US" sz="2400" dirty="0" err="1" smtClean="0"/>
              <a:t>JFileChooser</a:t>
            </a:r>
            <a:r>
              <a:rPr lang="en-US" sz="2400" dirty="0" smtClean="0"/>
              <a:t>: Standard dialog for opening/saving files.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857224" y="2786058"/>
            <a:ext cx="7143800" cy="17543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JFileChooser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fc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JFileChooser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returnVal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fc.showOpenDialog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(frame);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returnVal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==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JFileChooser.APPROVE_OPTION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File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file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fc.getSelectedFile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Process file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28596" y="4857760"/>
            <a:ext cx="8229600" cy="5715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b="1" dirty="0" smtClean="0"/>
              <a:t>Filters:</a:t>
            </a:r>
            <a:r>
              <a:rPr lang="en-US" sz="2400" dirty="0" smtClean="0"/>
              <a:t> Restrict visible files (e.g., *.txt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7224" y="5500702"/>
            <a:ext cx="7143800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fc.setFileFilter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(new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FileNameExtensionFilter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("Text Files", "txt"));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NIO.2 </a:t>
            </a:r>
            <a:r>
              <a:rPr lang="en-US" b="1" dirty="0" smtClean="0"/>
              <a:t>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471873"/>
          </a:xfrm>
        </p:spPr>
        <p:txBody>
          <a:bodyPr>
            <a:noAutofit/>
          </a:bodyPr>
          <a:lstStyle/>
          <a:p>
            <a:r>
              <a:rPr lang="en-US" sz="2400" dirty="0" smtClean="0"/>
              <a:t>Modern </a:t>
            </a:r>
            <a:r>
              <a:rPr lang="en-US" sz="2400" dirty="0" smtClean="0"/>
              <a:t>NIO.2 (</a:t>
            </a:r>
            <a:r>
              <a:rPr lang="en-US" sz="2400" dirty="0" err="1" smtClean="0"/>
              <a:t>java.nio.file</a:t>
            </a:r>
            <a:r>
              <a:rPr lang="en-US" sz="2400" dirty="0" smtClean="0"/>
              <a:t>)</a:t>
            </a:r>
          </a:p>
          <a:p>
            <a:pPr lvl="1"/>
            <a:r>
              <a:rPr lang="en-US" sz="2400" b="1" dirty="0" smtClean="0"/>
              <a:t>Files Utility Class:</a:t>
            </a:r>
            <a:r>
              <a:rPr lang="en-US" sz="2400" dirty="0" smtClean="0"/>
              <a:t> Static methods for file operations.</a:t>
            </a:r>
          </a:p>
          <a:p>
            <a:pPr lvl="1"/>
            <a:r>
              <a:rPr lang="en-US" sz="2400" b="1" dirty="0" smtClean="0"/>
              <a:t>Common Operations:</a:t>
            </a:r>
            <a:endParaRPr lang="en-US" sz="2400" dirty="0" smtClean="0"/>
          </a:p>
          <a:p>
            <a:pPr lvl="2"/>
            <a:r>
              <a:rPr lang="en-US" dirty="0" err="1" smtClean="0"/>
              <a:t>Files.copy</a:t>
            </a:r>
            <a:r>
              <a:rPr lang="en-US" dirty="0" smtClean="0"/>
              <a:t>(), </a:t>
            </a:r>
            <a:r>
              <a:rPr lang="en-US" dirty="0" err="1" smtClean="0"/>
              <a:t>Files.move</a:t>
            </a:r>
            <a:r>
              <a:rPr lang="en-US" dirty="0" smtClean="0"/>
              <a:t>(), </a:t>
            </a:r>
            <a:r>
              <a:rPr lang="en-US" dirty="0" err="1" smtClean="0"/>
              <a:t>Files.delete</a:t>
            </a:r>
            <a:r>
              <a:rPr lang="en-US" dirty="0" smtClean="0"/>
              <a:t>().</a:t>
            </a:r>
          </a:p>
          <a:p>
            <a:pPr lvl="2"/>
            <a:r>
              <a:rPr lang="en-US" dirty="0" err="1" smtClean="0"/>
              <a:t>Files.exists</a:t>
            </a:r>
            <a:r>
              <a:rPr lang="en-US" dirty="0" smtClean="0"/>
              <a:t>(), </a:t>
            </a:r>
            <a:r>
              <a:rPr lang="en-US" dirty="0" err="1" smtClean="0"/>
              <a:t>Files.isRegularFile</a:t>
            </a:r>
            <a:r>
              <a:rPr lang="en-US" dirty="0" smtClean="0"/>
              <a:t>().</a:t>
            </a:r>
          </a:p>
          <a:p>
            <a:pPr lvl="1"/>
            <a:r>
              <a:rPr lang="en-US" sz="2400" b="1" dirty="0" smtClean="0"/>
              <a:t>Walking Trees:</a:t>
            </a:r>
            <a:r>
              <a:rPr lang="en-US" sz="2400" dirty="0" smtClean="0"/>
              <a:t> </a:t>
            </a:r>
            <a:r>
              <a:rPr lang="en-US" sz="2400" dirty="0" err="1" smtClean="0"/>
              <a:t>Files.walk</a:t>
            </a:r>
            <a:r>
              <a:rPr lang="en-US" sz="2400" dirty="0" smtClean="0"/>
              <a:t>(Path) to traverse directories.</a:t>
            </a:r>
          </a:p>
          <a:p>
            <a:pPr lvl="1"/>
            <a:r>
              <a:rPr lang="en-US" sz="2400" b="1" dirty="0" smtClean="0"/>
              <a:t>Benefits:</a:t>
            </a:r>
            <a:r>
              <a:rPr lang="en-US" sz="2400" dirty="0" smtClean="0"/>
              <a:t> Better exception handling, symbolic link support, atomic moves.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857224" y="5286388"/>
            <a:ext cx="7786742" cy="132343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Files.exists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(path)) {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Files.copy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(path,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Paths.get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("backup.txt"),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StandardCopyOption.REPLACE_EXISTING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Real-World Context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3116"/>
            <a:ext cx="8229600" cy="3983047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Serialization </a:t>
            </a:r>
            <a:r>
              <a:rPr lang="en-US" sz="2400" dirty="0" smtClean="0"/>
              <a:t>is rarely used for data exchange (too Java-specific), but JSON/CSV is standard for sharing data.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NIO.2 is the modern standard, but Swing still relies heavily on </a:t>
            </a:r>
            <a:r>
              <a:rPr lang="en-US" sz="2400" dirty="0" err="1" smtClean="0"/>
              <a:t>java.io.File</a:t>
            </a:r>
            <a:r>
              <a:rPr lang="en-US" sz="2400" dirty="0" smtClean="0"/>
              <a:t> objects for </a:t>
            </a:r>
            <a:r>
              <a:rPr lang="en-US" sz="2400" dirty="0" err="1" smtClean="0"/>
              <a:t>JFileChooser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000132"/>
          </a:xfrm>
        </p:spPr>
        <p:txBody>
          <a:bodyPr>
            <a:normAutofit/>
          </a:bodyPr>
          <a:lstStyle/>
          <a:p>
            <a:r>
              <a:rPr lang="en-US" sz="4800" b="1" dirty="0" smtClean="0"/>
              <a:t>Summary &amp; </a:t>
            </a:r>
            <a:r>
              <a:rPr lang="en-US" sz="4800" b="1" dirty="0" smtClean="0"/>
              <a:t>Lab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29222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Summary</a:t>
            </a:r>
            <a:r>
              <a:rPr lang="en-US" sz="2400" dirty="0" smtClean="0"/>
              <a:t>:</a:t>
            </a:r>
          </a:p>
          <a:p>
            <a:pPr lvl="1"/>
            <a:r>
              <a:rPr lang="en-US" sz="2400" dirty="0" smtClean="0"/>
              <a:t>Use Character Streams for text, Byte Streams for binary.</a:t>
            </a:r>
          </a:p>
          <a:p>
            <a:pPr lvl="1"/>
            <a:r>
              <a:rPr lang="en-US" sz="2400" dirty="0" smtClean="0"/>
              <a:t>Always use Try-With-Resources.</a:t>
            </a:r>
          </a:p>
          <a:p>
            <a:pPr lvl="1"/>
            <a:r>
              <a:rPr lang="en-US" sz="2400" dirty="0" smtClean="0"/>
              <a:t>Serialization saves Java objects; Parsing reads standard formats.</a:t>
            </a:r>
          </a:p>
          <a:p>
            <a:pPr lvl="1"/>
            <a:r>
              <a:rPr lang="en-US" sz="2400" dirty="0" smtClean="0"/>
              <a:t>Use </a:t>
            </a:r>
            <a:r>
              <a:rPr lang="en-US" sz="2400" dirty="0" err="1" smtClean="0"/>
              <a:t>JFileChooser</a:t>
            </a:r>
            <a:r>
              <a:rPr lang="en-US" sz="2400" dirty="0" smtClean="0"/>
              <a:t> for GUI interactions.</a:t>
            </a:r>
          </a:p>
          <a:p>
            <a:r>
              <a:rPr lang="en-US" sz="2400" b="1" dirty="0" smtClean="0"/>
              <a:t>Lab Exercise</a:t>
            </a:r>
            <a:r>
              <a:rPr lang="en-US" sz="2400" dirty="0" smtClean="0"/>
              <a:t>:</a:t>
            </a:r>
          </a:p>
          <a:p>
            <a:pPr lvl="1"/>
            <a:r>
              <a:rPr lang="en-US" sz="2400" dirty="0" smtClean="0"/>
              <a:t>Add a "Save" and "Load" menu to your Swing App.</a:t>
            </a:r>
          </a:p>
          <a:p>
            <a:pPr lvl="1"/>
            <a:r>
              <a:rPr lang="en-US" sz="2400" dirty="0" smtClean="0"/>
              <a:t>Save: Serialize the current state (e.g., form data) to a .</a:t>
            </a:r>
            <a:r>
              <a:rPr lang="en-US" sz="2400" dirty="0" err="1" smtClean="0"/>
              <a:t>dat</a:t>
            </a:r>
            <a:r>
              <a:rPr lang="en-US" sz="2400" dirty="0" smtClean="0"/>
              <a:t> file OR export to .</a:t>
            </a:r>
            <a:r>
              <a:rPr lang="en-US" sz="2400" dirty="0" err="1" smtClean="0"/>
              <a:t>csv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 smtClean="0"/>
              <a:t>Load: Read the file and populate the form fields.</a:t>
            </a:r>
          </a:p>
          <a:p>
            <a:pPr lvl="1"/>
            <a:r>
              <a:rPr lang="en-US" sz="2400" dirty="0" smtClean="0"/>
              <a:t>Use </a:t>
            </a:r>
            <a:r>
              <a:rPr lang="en-US" sz="2400" dirty="0" err="1" smtClean="0"/>
              <a:t>JFileChooser</a:t>
            </a:r>
            <a:r>
              <a:rPr lang="en-US" sz="2400" dirty="0" smtClean="0"/>
              <a:t> to select the file location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</TotalTime>
  <Words>1668</Words>
  <Application>Microsoft Office PowerPoint</Application>
  <PresentationFormat>On-screen Show (4:3)</PresentationFormat>
  <Paragraphs>213</Paragraphs>
  <Slides>15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Input/Output (I/O) and Parsing</vt:lpstr>
      <vt:lpstr>Learning Objectives</vt:lpstr>
      <vt:lpstr>The File Class vs. Path</vt:lpstr>
      <vt:lpstr>Byte vs. Character Streams</vt:lpstr>
      <vt:lpstr>Reading Text Files</vt:lpstr>
      <vt:lpstr>Try-With-Resources</vt:lpstr>
      <vt:lpstr>Object Serialization</vt:lpstr>
      <vt:lpstr>Serialization Best Practices</vt:lpstr>
      <vt:lpstr>Introduction to Parsing</vt:lpstr>
      <vt:lpstr>Parsing CSV</vt:lpstr>
      <vt:lpstr>Parsing JSON</vt:lpstr>
      <vt:lpstr>I/O in Swing</vt:lpstr>
      <vt:lpstr>NIO.2 Features</vt:lpstr>
      <vt:lpstr>Real-World Context</vt:lpstr>
      <vt:lpstr>Summary &amp; Lab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 and Object-Oriented Programming </dc:title>
  <dc:creator>tmik</dc:creator>
  <cp:lastModifiedBy>tmik</cp:lastModifiedBy>
  <cp:revision>337</cp:revision>
  <dcterms:created xsi:type="dcterms:W3CDTF">2026-02-15T10:58:32Z</dcterms:created>
  <dcterms:modified xsi:type="dcterms:W3CDTF">2026-03-12T16:44:31Z</dcterms:modified>
</cp:coreProperties>
</file>